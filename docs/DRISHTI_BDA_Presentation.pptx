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15b2bdf-a2ce-0855-24d5-8ac72cb8711b}">
          <p14:sldIdLst>
            <p14:sldId id="256"/>
            <p14:sldId id="257"/>
            <p14:sldId id="258"/>
            <p14:sldId id="259"/>
          </p14:sldIdLst>
        </p14:section>
        <p14:section name="Solution" id="{d4b2497f-7f38-61f5-67af-5032aefdfda6}">
          <p14:sldIdLst>
            <p14:sldId id="260"/>
          </p14:sldIdLst>
        </p14:section>
        <p14:section name="Design" id="{e1e6847c-a220-aab1-9ebd-cc627461e4cf}">
          <p14:sldIdLst>
            <p14:sldId id="261"/>
            <p14:sldId id="262"/>
          </p14:sldIdLst>
        </p14:section>
        <p14:section name="Big Data" id="{ea36bff4-3a88-31c6-b184-f09826013702}">
          <p14:sldIdLst>
            <p14:sldId id="263"/>
            <p14:sldId id="264"/>
          </p14:sldIdLst>
        </p14:section>
        <p14:section name="Analytics" id="{0ca834b7-e857-db26-9478-6fcb0c6c7ea3}">
          <p14:sldIdLst>
            <p14:sldId id="265"/>
          </p14:sldIdLst>
        </p14:section>
        <p14:section name="Demo" id="{db769320-abf4-1b8b-dc54-44a1439e6d35}">
          <p14:sldIdLst>
            <p14:sldId id="266"/>
            <p14:sldId id="267"/>
            <p14:sldId id="268"/>
            <p14:sldId id="269"/>
          </p14:sldIdLst>
        </p14:section>
        <p14:section name="Implementation" id="{243425e3-d081-0e2b-8b6b-054fae554828}">
          <p14:sldIdLst>
            <p14:sldId id="270"/>
          </p14:sldIdLst>
        </p14:section>
        <p14:section name="Results" id="{1171cc2a-4f7a-39a4-e6a2-b60f3b5dce82}">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5211E"/>
                </a:solidFill>
                <a:latin typeface="Calibri"/>
              </a:defRPr>
            </a:pPr>
            <a:r>
              <a:rPr sz="1600" b="0" i="0" u="none" strike="noStrike">
                <a:solidFill>
                  <a:srgbClr val="15211E"/>
                </a:solidFill>
                <a:latin typeface="Calibri"/>
              </a:rPr>
              <a:t>Events by hazard type (2000-2026)</a:t>
            </a:r>
          </a:p>
        </c:rich>
      </c:tx>
      <c:layout/>
      <c:overlay val="0"/>
    </c:title>
    <c:autoTitleDeleted val="0"/>
    <c:plotArea>
      <c:layout/>
      <c:barChart>
        <c:barDir val="bar"/>
        <c:grouping val="clustered"/>
        <c:varyColors val="0"/>
        <c:ser>
          <c:idx val="0"/>
          <c:order val="0"/>
          <c:tx>
            <c:strRef>
              <c:f>Sheet1!$B$1</c:f>
              <c:strCache>
                <c:ptCount val="1"/>
                <c:pt idx="0">
                  <c:v>Events</c:v>
                </c:pt>
              </c:strCache>
            </c:strRef>
          </c:tx>
          <c:spPr>
            <a:solidFill>
              <a:srgbClr val="0B5C7A"/>
            </a:solidFill>
            <a:effectLst/>
          </c:spPr>
          <c:invertIfNegative val="0"/>
          <c:dLbls>
            <c:numFmt formatCode="#,##0" sourceLinked="0"/>
            <c:txPr>
              <a:bodyPr/>
              <a:lstStyle/>
              <a:p>
                <a:pPr>
                  <a:defRPr b="0" i="0" strike="noStrike" sz="1200" u="none">
                    <a:solidFill>
                      <a:srgbClr val="15211E"/>
                    </a:solidFill>
                    <a:latin typeface="Calibri"/>
                  </a:defRPr>
                </a:pPr>
              </a:p>
            </c:txPr>
            <c:showLegendKey val="0"/>
            <c:showVal val="1"/>
            <c:showCatName val="0"/>
            <c:showSerName val="0"/>
            <c:showPercent val="0"/>
            <c:showBubbleSize val="0"/>
            <c:showLeaderLines val="0"/>
          </c:dLbls>
          <c:cat>
            <c:multiLvlStrRef>
              <c:f>Sheet1!$A$2:$A$6</c:f>
              <c:multiLvlStrCache>
                <c:ptCount val="5"/>
                <c:lvl>
                  <c:pt idx="0">
                    <c:v>Flood</c:v>
                  </c:pt>
                  <c:pt idx="1">
                    <c:v>Flash Flood</c:v>
                  </c:pt>
                  <c:pt idx="2">
                    <c:v>Landslide</c:v>
                  </c:pt>
                  <c:pt idx="3">
                    <c:v>Cyclone</c:v>
                  </c:pt>
                  <c:pt idx="4">
                    <c:v>Storm Surge</c:v>
                  </c:pt>
                </c:lvl>
              </c:multiLvlStrCache>
            </c:multiLvlStrRef>
          </c:cat>
          <c:val>
            <c:numRef>
              <c:f>Sheet1!$B$2:$B$6</c:f>
              <c:numCache>
                <c:formatCode>General</c:formatCode>
                <c:ptCount val="5"/>
                <c:pt idx="0">
                  <c:v>510</c:v>
                </c:pt>
                <c:pt idx="1">
                  <c:v>179</c:v>
                </c:pt>
                <c:pt idx="2">
                  <c:v>120</c:v>
                </c:pt>
                <c:pt idx="3">
                  <c:v>49</c:v>
                </c:pt>
                <c:pt idx="4">
                  <c:v>42</c:v>
                </c:pt>
              </c:numCache>
            </c:numRef>
          </c:val>
        </c:ser>
        <c:dLbls>
          <c:numFmt formatCode="#,##0" sourceLinked="0"/>
          <c:txPr>
            <a:bodyPr/>
            <a:lstStyle/>
            <a:p>
              <a:pPr>
                <a:defRPr b="0" i="0" strike="noStrike" sz="1200" u="none">
                  <a:solidFill>
                    <a:srgbClr val="15211E"/>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F5D58"/>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CBD2C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F5D5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5211E"/>
                </a:solidFill>
                <a:latin typeface="Calibri"/>
              </a:defRPr>
            </a:pPr>
            <a:r>
              <a:rPr sz="1600" b="0" i="0" u="none" strike="noStrike">
                <a:solidFill>
                  <a:srgbClr val="15211E"/>
                </a:solidFill>
                <a:latin typeface="Calibri"/>
              </a:rPr>
              <a:t>Seasonality: events by month</a:t>
            </a:r>
          </a:p>
        </c:rich>
      </c:tx>
      <c:layout/>
      <c:overlay val="0"/>
    </c:title>
    <c:autoTitleDeleted val="0"/>
    <c:plotArea>
      <c:layout/>
      <c:barChart>
        <c:barDir val="col"/>
        <c:grouping val="clustered"/>
        <c:varyColors val="0"/>
        <c:ser>
          <c:idx val="0"/>
          <c:order val="0"/>
          <c:tx>
            <c:strRef>
              <c:f>Sheet1!$B$1</c:f>
              <c:strCache>
                <c:ptCount val="1"/>
                <c:pt idx="0">
                  <c:v>Events</c:v>
                </c:pt>
              </c:strCache>
            </c:strRef>
          </c:tx>
          <c:spPr>
            <a:solidFill>
              <a:srgbClr val="6D5BA8"/>
            </a:solidFill>
            <a:effectLst/>
          </c:spPr>
          <c:invertIfNegative val="0"/>
          <c:dLbls>
            <c:numFmt formatCode="#,##0" sourceLinked="0"/>
            <c:txPr>
              <a:bodyPr/>
              <a:lstStyle/>
              <a:p>
                <a:pPr>
                  <a:defRPr b="0" i="0" strike="noStrike" sz="1200" u="none">
                    <a:solidFill>
                      <a:srgbClr val="15211E"/>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59</c:v>
                </c:pt>
                <c:pt idx="1">
                  <c:v>40</c:v>
                </c:pt>
                <c:pt idx="2">
                  <c:v>46</c:v>
                </c:pt>
                <c:pt idx="3">
                  <c:v>46</c:v>
                </c:pt>
                <c:pt idx="4">
                  <c:v>82</c:v>
                </c:pt>
                <c:pt idx="5">
                  <c:v>103</c:v>
                </c:pt>
                <c:pt idx="6">
                  <c:v>121</c:v>
                </c:pt>
                <c:pt idx="7">
                  <c:v>122</c:v>
                </c:pt>
                <c:pt idx="8">
                  <c:v>112</c:v>
                </c:pt>
                <c:pt idx="9">
                  <c:v>68</c:v>
                </c:pt>
                <c:pt idx="10">
                  <c:v>58</c:v>
                </c:pt>
                <c:pt idx="11">
                  <c:v>43</c:v>
                </c:pt>
              </c:numCache>
            </c:numRef>
          </c:val>
        </c:ser>
        <c:dLbls>
          <c:numFmt formatCode="#,##0" sourceLinked="0"/>
          <c:txPr>
            <a:bodyPr/>
            <a:lstStyle/>
            <a:p>
              <a:pPr>
                <a:defRPr b="0" i="0" strike="noStrike" sz="1200" u="none">
                  <a:solidFill>
                    <a:srgbClr val="15211E"/>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F5D5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CBD2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F5D5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DRISHTI means "vision / sight" in Hindi - the system gives authorities the ability to SEE disaster risk early. Full form: Disaster Risk Intelligence &amp; Situational Hazard Tracking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Floods, cyclones and extreme rainfall are among the most frequent and destructive natural disasters. A few hours of delay in noticing a rising river changes the outcome of the response. The problem is not lack of data - it is lack of an integrated, analysable view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drawbacks. The synopsis problem statement: there is no centralised, interactive, analytics-oriented disaster-intelligence platform that combines MongoDB storage and aggregation with map-based visualisation.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one-to-one to the synopsis objectives. Every one is demonstrable in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application, running on a MongoDB with 3.6 million records. Left: key capabilities. Right: the Situation page: summary sentence, network at a glance, world risk map and live alert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Data enters, is validated and stored as documents in MongoDB, aggregation pipelines compute risk and anomalies inside the database, Express exposes REST APIs and React renders the map and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are the collections named in the synopsis chapter 6.2. The rest support analytics: baselines, risk history, alerts and reports. Three sensor collections are MongoDB time-series collections.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measured on the running system on a single laptop. Be clear the readings are synthetic, as allowed by the synopsis, so we could demonstrate volume. Aggregation timings come from the Pipeline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MongoDB feature used in the code, not a claim. Time-series collections for sensor data, the aggregation framework for analytics, window functions for rate of change, 2dsphere for geo queries, statistical accumulators for baselines, flexible schema for varied sensors.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blends three normalised signals. Level percentage: how close the river is to its danger level. Rain z-score: how unusual the last six hours of rain are for this gauge. Rise rate: how fast the river is climbing. Severity bands map score to colours. An anomaly is flagged on statistical outliers independent of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hover a gauge for the tooltip, toggle heatmap, filter by severity or continent, risk zones coloured by worst gauge inside them. Pulsing rings mark CRITICAL and HIGH gauges.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alert and the drill-down shows the reasoning: how close to danger level, how fast rising, how unusual the rainfall is. The hydrograph shows rainfall hyetograph inverted above the river level with warning and danger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computed on the fly by aggregation pipelines. Switch between hourly, daily and monthly granularity; the system reports how long the aggregation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Lab exposes the exact aggregation pipelines and lets the audience run them against live data with timing. Reports are generated from the same results and stored in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the six synopsis modules onto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a single $facet aggregation over the disaster_events collection. The data is synthetic, but the pipeline is the same one that would run on a real catalogue. Point out the monsoon-season peak July to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was delivered versus the synopsis expected outcomes. Right: natural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live link on the projector, or fall back to localhost:5055 if the network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4F5D58"/>
                </a:solidFill>
                <a:latin typeface="Calibri" pitchFamily="34" charset="0"/>
                <a:ea typeface="Calibri" pitchFamily="34" charset="-122"/>
                <a:cs typeface="Calibri" pitchFamily="34" charset="-120"/>
              </a:rPr>
              <a:t>DRISHTI  ·  BIS701 Big Data Analytics  ·  Dept. of ISE, BIT</a:t>
            </a:r>
            <a:endParaRPr lang="en-US" sz="10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1F3E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indows.tailb18f6e.ts.net:8443" TargetMode="Externa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rk"/>
          <p:cNvSpPr/>
          <p:nvPr/>
        </p:nvSpPr>
        <p:spPr>
          <a:xfrm>
            <a:off x="8412480" y="1097280"/>
            <a:ext cx="3291840" cy="3291840"/>
          </a:xfrm>
          <a:prstGeom prst="rect">
            <a:avLst/>
          </a:prstGeom>
          <a:solidFill>
            <a:srgbClr val="15211E"/>
          </a:solidFill>
          <a:ln w="12700">
            <a:solidFill>
              <a:srgbClr val="15211E"/>
            </a:solidFill>
            <a:prstDash val="solid"/>
          </a:ln>
        </p:spPr>
      </p:sp>
      <p:sp>
        <p:nvSpPr>
          <p:cNvPr id="3" name="staff-fill-outer"/>
          <p:cNvSpPr/>
          <p:nvPr/>
        </p:nvSpPr>
        <p:spPr>
          <a:xfrm>
            <a:off x="9144000" y="1600200"/>
            <a:ext cx="1051560" cy="2286000"/>
          </a:xfrm>
          <a:prstGeom prst="rect">
            <a:avLst/>
          </a:prstGeom>
          <a:solidFill>
            <a:srgbClr val="F1F3EF"/>
          </a:solidFill>
          <a:ln w="12700">
            <a:solidFill>
              <a:srgbClr val="F1F3EF"/>
            </a:solidFill>
            <a:prstDash val="solid"/>
          </a:ln>
        </p:spPr>
      </p:sp>
      <p:sp>
        <p:nvSpPr>
          <p:cNvPr id="4" name="staff-void"/>
          <p:cNvSpPr/>
          <p:nvPr/>
        </p:nvSpPr>
        <p:spPr>
          <a:xfrm>
            <a:off x="9235440" y="1691640"/>
            <a:ext cx="868680" cy="914400"/>
          </a:xfrm>
          <a:prstGeom prst="rect">
            <a:avLst/>
          </a:prstGeom>
          <a:solidFill>
            <a:srgbClr val="15211E"/>
          </a:solidFill>
          <a:ln w="12700">
            <a:solidFill>
              <a:srgbClr val="15211E"/>
            </a:solidFill>
            <a:prstDash val="solid"/>
          </a:ln>
        </p:spPr>
      </p:sp>
      <p:sp>
        <p:nvSpPr>
          <p:cNvPr id="5" name="tick"/>
          <p:cNvSpPr/>
          <p:nvPr/>
        </p:nvSpPr>
        <p:spPr>
          <a:xfrm>
            <a:off x="10195560" y="1691640"/>
            <a:ext cx="457200" cy="36576"/>
          </a:xfrm>
          <a:prstGeom prst="rect">
            <a:avLst/>
          </a:prstGeom>
          <a:solidFill>
            <a:srgbClr val="F1F3EF"/>
          </a:solidFill>
          <a:ln w="12700">
            <a:solidFill>
              <a:srgbClr val="F1F3EF"/>
            </a:solidFill>
            <a:prstDash val="solid"/>
          </a:ln>
        </p:spPr>
      </p:sp>
      <p:sp>
        <p:nvSpPr>
          <p:cNvPr id="6" name="tick"/>
          <p:cNvSpPr/>
          <p:nvPr/>
        </p:nvSpPr>
        <p:spPr>
          <a:xfrm>
            <a:off x="10195560" y="2011680"/>
            <a:ext cx="274320" cy="36576"/>
          </a:xfrm>
          <a:prstGeom prst="rect">
            <a:avLst/>
          </a:prstGeom>
          <a:solidFill>
            <a:srgbClr val="F1F3EF"/>
          </a:solidFill>
          <a:ln w="12700">
            <a:solidFill>
              <a:srgbClr val="F1F3EF"/>
            </a:solidFill>
            <a:prstDash val="solid"/>
          </a:ln>
        </p:spPr>
      </p:sp>
      <p:sp>
        <p:nvSpPr>
          <p:cNvPr id="7" name="tick"/>
          <p:cNvSpPr/>
          <p:nvPr/>
        </p:nvSpPr>
        <p:spPr>
          <a:xfrm>
            <a:off x="10195560" y="2331720"/>
            <a:ext cx="457200" cy="36576"/>
          </a:xfrm>
          <a:prstGeom prst="rect">
            <a:avLst/>
          </a:prstGeom>
          <a:solidFill>
            <a:srgbClr val="F1F3EF"/>
          </a:solidFill>
          <a:ln w="12700">
            <a:solidFill>
              <a:srgbClr val="F1F3EF"/>
            </a:solidFill>
            <a:prstDash val="solid"/>
          </a:ln>
        </p:spPr>
      </p:sp>
      <p:sp>
        <p:nvSpPr>
          <p:cNvPr id="8" name="tick"/>
          <p:cNvSpPr/>
          <p:nvPr/>
        </p:nvSpPr>
        <p:spPr>
          <a:xfrm>
            <a:off x="10195560" y="2651760"/>
            <a:ext cx="274320" cy="36576"/>
          </a:xfrm>
          <a:prstGeom prst="rect">
            <a:avLst/>
          </a:prstGeom>
          <a:solidFill>
            <a:srgbClr val="F1F3EF"/>
          </a:solidFill>
          <a:ln w="12700">
            <a:solidFill>
              <a:srgbClr val="F1F3EF"/>
            </a:solidFill>
            <a:prstDash val="solid"/>
          </a:ln>
        </p:spPr>
      </p:sp>
      <p:sp>
        <p:nvSpPr>
          <p:cNvPr id="9" name="tick"/>
          <p:cNvSpPr/>
          <p:nvPr/>
        </p:nvSpPr>
        <p:spPr>
          <a:xfrm>
            <a:off x="10195560" y="2971800"/>
            <a:ext cx="457200" cy="36576"/>
          </a:xfrm>
          <a:prstGeom prst="rect">
            <a:avLst/>
          </a:prstGeom>
          <a:solidFill>
            <a:srgbClr val="F1F3EF"/>
          </a:solidFill>
          <a:ln w="12700">
            <a:solidFill>
              <a:srgbClr val="F1F3EF"/>
            </a:solidFill>
            <a:prstDash val="solid"/>
          </a:ln>
        </p:spPr>
      </p:sp>
      <p:sp>
        <p:nvSpPr>
          <p:cNvPr id="10" name="tick"/>
          <p:cNvSpPr/>
          <p:nvPr/>
        </p:nvSpPr>
        <p:spPr>
          <a:xfrm>
            <a:off x="10195560" y="3291840"/>
            <a:ext cx="274320" cy="36576"/>
          </a:xfrm>
          <a:prstGeom prst="rect">
            <a:avLst/>
          </a:prstGeom>
          <a:solidFill>
            <a:srgbClr val="F1F3EF"/>
          </a:solidFill>
          <a:ln w="12700">
            <a:solidFill>
              <a:srgbClr val="F1F3EF"/>
            </a:solidFill>
            <a:prstDash val="solid"/>
          </a:ln>
        </p:spPr>
      </p:sp>
      <p:sp>
        <p:nvSpPr>
          <p:cNvPr id="11" name="tick"/>
          <p:cNvSpPr/>
          <p:nvPr/>
        </p:nvSpPr>
        <p:spPr>
          <a:xfrm>
            <a:off x="10195560" y="3611880"/>
            <a:ext cx="457200" cy="36576"/>
          </a:xfrm>
          <a:prstGeom prst="rect">
            <a:avLst/>
          </a:prstGeom>
          <a:solidFill>
            <a:srgbClr val="F1F3EF"/>
          </a:solidFill>
          <a:ln w="12700">
            <a:solidFill>
              <a:srgbClr val="F1F3EF"/>
            </a:solidFill>
            <a:prstDash val="solid"/>
          </a:ln>
        </p:spPr>
      </p:sp>
      <p:sp>
        <p:nvSpPr>
          <p:cNvPr id="12" name="waterline"/>
          <p:cNvSpPr/>
          <p:nvPr/>
        </p:nvSpPr>
        <p:spPr>
          <a:xfrm>
            <a:off x="8686800" y="2606040"/>
            <a:ext cx="2743200" cy="82296"/>
          </a:xfrm>
          <a:prstGeom prst="rect">
            <a:avLst/>
          </a:prstGeom>
          <a:solidFill>
            <a:srgbClr val="D1561F"/>
          </a:solidFill>
          <a:ln w="12700">
            <a:solidFill>
              <a:srgbClr val="D1561F"/>
            </a:solidFill>
            <a:prstDash val="solid"/>
          </a:ln>
        </p:spPr>
      </p:sp>
      <p:sp>
        <p:nvSpPr>
          <p:cNvPr id="13" name="limit"/>
          <p:cNvSpPr/>
          <p:nvPr/>
        </p:nvSpPr>
        <p:spPr>
          <a:xfrm>
            <a:off x="10972800" y="1371600"/>
            <a:ext cx="274320" cy="274320"/>
          </a:xfrm>
          <a:prstGeom prst="rect">
            <a:avLst/>
          </a:prstGeom>
          <a:solidFill>
            <a:srgbClr val="A3102E"/>
          </a:solidFill>
          <a:ln w="12700">
            <a:solidFill>
              <a:srgbClr val="A3102E"/>
            </a:solidFill>
            <a:prstDash val="solid"/>
          </a:ln>
        </p:spPr>
      </p:sp>
      <p:sp>
        <p:nvSpPr>
          <p:cNvPr id="14" name="Text 12"/>
          <p:cNvSpPr txBox="1"/>
          <p:nvPr/>
        </p:nvSpPr>
        <p:spPr>
          <a:xfrm>
            <a:off x="640080" y="640080"/>
            <a:ext cx="7315200" cy="365760"/>
          </a:xfrm>
          <a:prstGeom prst="rect">
            <a:avLst/>
          </a:prstGeom>
          <a:noFill/>
          <a:ln/>
        </p:spPr>
        <p:txBody>
          <a:bodyPr wrap="square" lIns="0" tIns="0" rIns="0" bIns="0" rtlCol="0" anchor="ctr"/>
          <a:lstStyle/>
          <a:p>
            <a:pPr indent="0" marL="0">
              <a:buNone/>
            </a:pPr>
            <a:r>
              <a:rPr lang="en-US" sz="1400" b="1" spc="300" kern="0" dirty="0">
                <a:solidFill>
                  <a:srgbClr val="0B5C7A"/>
                </a:solidFill>
                <a:latin typeface="Calibri" pitchFamily="34" charset="0"/>
                <a:ea typeface="Calibri" pitchFamily="34" charset="-122"/>
                <a:cs typeface="Calibri" pitchFamily="34" charset="-120"/>
              </a:rPr>
              <a:t>BIG DATA ANALYTICS (BIS701)  ·  PROJECT PRESENTATION</a:t>
            </a:r>
            <a:endParaRPr lang="en-US" sz="1400" dirty="0"/>
          </a:p>
        </p:txBody>
      </p:sp>
      <p:sp>
        <p:nvSpPr>
          <p:cNvPr id="15" name="Text 13"/>
          <p:cNvSpPr txBox="1"/>
          <p:nvPr/>
        </p:nvSpPr>
        <p:spPr>
          <a:xfrm>
            <a:off x="640080" y="1188720"/>
            <a:ext cx="7772400" cy="1097280"/>
          </a:xfrm>
          <a:prstGeom prst="rect">
            <a:avLst/>
          </a:prstGeom>
          <a:noFill/>
          <a:ln/>
        </p:spPr>
        <p:txBody>
          <a:bodyPr wrap="square" lIns="0" tIns="0" rIns="0" bIns="0" rtlCol="0" anchor="ctr"/>
          <a:lstStyle/>
          <a:p>
            <a:pPr indent="0" marL="0">
              <a:buNone/>
            </a:pPr>
            <a:r>
              <a:rPr lang="en-US" sz="7200" b="1" dirty="0">
                <a:solidFill>
                  <a:srgbClr val="15211E"/>
                </a:solidFill>
                <a:latin typeface="Cambria" pitchFamily="34" charset="0"/>
                <a:ea typeface="Cambria" pitchFamily="34" charset="-122"/>
                <a:cs typeface="Cambria" pitchFamily="34" charset="-120"/>
              </a:rPr>
              <a:t>DRISHTI</a:t>
            </a:r>
            <a:pPr indent="0" marL="0">
              <a:buNone/>
            </a:pPr>
            <a:r>
              <a:rPr lang="en-US" sz="4000" dirty="0">
                <a:solidFill>
                  <a:srgbClr val="0B5C7A"/>
                </a:solidFill>
                <a:latin typeface="Nirmala UI" pitchFamily="34" charset="0"/>
                <a:ea typeface="Nirmala UI" pitchFamily="34" charset="-122"/>
                <a:cs typeface="Nirmala UI" pitchFamily="34" charset="-120"/>
              </a:rPr>
              <a:t>  दृष्टि</a:t>
            </a:r>
            <a:endParaRPr lang="en-US" sz="7200" dirty="0"/>
          </a:p>
        </p:txBody>
      </p:sp>
      <p:sp>
        <p:nvSpPr>
          <p:cNvPr id="16" name="Text 14"/>
          <p:cNvSpPr txBox="1"/>
          <p:nvPr/>
        </p:nvSpPr>
        <p:spPr>
          <a:xfrm>
            <a:off x="640080" y="2331720"/>
            <a:ext cx="7680960" cy="822960"/>
          </a:xfrm>
          <a:prstGeom prst="rect">
            <a:avLst/>
          </a:prstGeom>
          <a:noFill/>
          <a:ln/>
        </p:spPr>
        <p:txBody>
          <a:bodyPr wrap="square" lIns="0" tIns="0" rIns="0" bIns="0" rtlCol="0" anchor="t"/>
          <a:lstStyle/>
          <a:p>
            <a:pPr indent="0" marL="0">
              <a:buNone/>
            </a:pPr>
            <a:r>
              <a:rPr lang="en-US" sz="2400" dirty="0">
                <a:solidFill>
                  <a:srgbClr val="15211E"/>
                </a:solidFill>
                <a:latin typeface="Calibri" pitchFamily="34" charset="0"/>
                <a:ea typeface="Calibri" pitchFamily="34" charset="-122"/>
                <a:cs typeface="Calibri" pitchFamily="34" charset="-120"/>
              </a:rPr>
              <a:t>Disaster Risk Intelligence &amp; Situational Hazard Tracking Interface</a:t>
            </a:r>
            <a:endParaRPr lang="en-US" sz="2400" dirty="0"/>
          </a:p>
        </p:txBody>
      </p:sp>
      <p:sp>
        <p:nvSpPr>
          <p:cNvPr id="17" name="Text 15"/>
          <p:cNvSpPr txBox="1"/>
          <p:nvPr/>
        </p:nvSpPr>
        <p:spPr>
          <a:xfrm>
            <a:off x="640080" y="3291840"/>
            <a:ext cx="7498080" cy="731520"/>
          </a:xfrm>
          <a:prstGeom prst="rect">
            <a:avLst/>
          </a:prstGeom>
          <a:noFill/>
          <a:ln/>
        </p:spPr>
        <p:txBody>
          <a:bodyPr wrap="square" lIns="0" tIns="0" rIns="0" bIns="0" rtlCol="0" anchor="t"/>
          <a:lstStyle/>
          <a:p>
            <a:pPr indent="0" marL="0">
              <a:buNone/>
            </a:pPr>
            <a:r>
              <a:rPr lang="en-US" sz="1600" i="1" dirty="0">
                <a:solidFill>
                  <a:srgbClr val="4F5D58"/>
                </a:solidFill>
                <a:latin typeface="Calibri" pitchFamily="34" charset="0"/>
                <a:ea typeface="Calibri" pitchFamily="34" charset="-122"/>
                <a:cs typeface="Calibri" pitchFamily="34" charset="-120"/>
              </a:rPr>
              <a:t>Disaster &amp; Emergency Intelligence System: A MongoDB-Based Big Data Analytics Platform</a:t>
            </a:r>
            <a:endParaRPr lang="en-US" sz="1600" dirty="0"/>
          </a:p>
        </p:txBody>
      </p:sp>
      <p:sp>
        <p:nvSpPr>
          <p:cNvPr id="18" name="Text 16"/>
          <p:cNvSpPr txBox="1"/>
          <p:nvPr/>
        </p:nvSpPr>
        <p:spPr>
          <a:xfrm>
            <a:off x="640080" y="4343400"/>
            <a:ext cx="3840480" cy="1280160"/>
          </a:xfrm>
          <a:prstGeom prst="rect">
            <a:avLst/>
          </a:prstGeom>
          <a:noFill/>
          <a:ln/>
        </p:spPr>
        <p:txBody>
          <a:bodyPr wrap="square" lIns="0" tIns="0" rIns="0" bIns="0" rtlCol="0" anchor="t"/>
          <a:lstStyle/>
          <a:p>
            <a:pPr indent="0" marL="0">
              <a:buNone/>
            </a:pPr>
            <a:r>
              <a:rPr lang="en-US" sz="1500" dirty="0">
                <a:solidFill>
                  <a:srgbClr val="15211E"/>
                </a:solidFill>
                <a:latin typeface="Calibri" pitchFamily="34" charset="0"/>
                <a:ea typeface="Calibri" pitchFamily="34" charset="-122"/>
                <a:cs typeface="Calibri" pitchFamily="34" charset="-120"/>
              </a:rPr>
              <a:t>Vichitra Attri  1BI23IS135</a:t>
            </a:r>
            <a:endParaRPr lang="en-US" sz="1500" dirty="0"/>
          </a:p>
          <a:p>
            <a:pPr indent="0" marL="0">
              <a:buNone/>
            </a:pPr>
            <a:r>
              <a:rPr lang="en-US" sz="1500" dirty="0">
                <a:solidFill>
                  <a:srgbClr val="15211E"/>
                </a:solidFill>
                <a:latin typeface="Calibri" pitchFamily="34" charset="0"/>
                <a:ea typeface="Calibri" pitchFamily="34" charset="-122"/>
                <a:cs typeface="Calibri" pitchFamily="34" charset="-120"/>
              </a:rPr>
              <a:t>Vidhyashree S  1BI23IS136</a:t>
            </a:r>
            <a:endParaRPr lang="en-US" sz="1500" dirty="0"/>
          </a:p>
          <a:p>
            <a:pPr indent="0" marL="0">
              <a:buNone/>
            </a:pPr>
            <a:r>
              <a:rPr lang="en-US" sz="1500" dirty="0">
                <a:solidFill>
                  <a:srgbClr val="15211E"/>
                </a:solidFill>
                <a:latin typeface="Calibri" pitchFamily="34" charset="0"/>
                <a:ea typeface="Calibri" pitchFamily="34" charset="-122"/>
                <a:cs typeface="Calibri" pitchFamily="34" charset="-120"/>
              </a:rPr>
              <a:t>Vidya Bai K  1BI23IS137</a:t>
            </a:r>
            <a:endParaRPr lang="en-US" sz="1500" dirty="0"/>
          </a:p>
          <a:p>
            <a:pPr indent="0" marL="0">
              <a:buNone/>
            </a:pPr>
            <a:r>
              <a:rPr lang="en-US" sz="1500" dirty="0">
                <a:solidFill>
                  <a:srgbClr val="15211E"/>
                </a:solidFill>
                <a:latin typeface="Calibri" pitchFamily="34" charset="0"/>
                <a:ea typeface="Calibri" pitchFamily="34" charset="-122"/>
                <a:cs typeface="Calibri" pitchFamily="34" charset="-120"/>
              </a:rPr>
              <a:t>Vikram K  1BI23IS138</a:t>
            </a:r>
            <a:endParaRPr lang="en-US" sz="1500" dirty="0"/>
          </a:p>
        </p:txBody>
      </p:sp>
      <p:sp>
        <p:nvSpPr>
          <p:cNvPr id="19" name="Text 17"/>
          <p:cNvSpPr txBox="1"/>
          <p:nvPr/>
        </p:nvSpPr>
        <p:spPr>
          <a:xfrm>
            <a:off x="4754880" y="4343400"/>
            <a:ext cx="3840480" cy="1280160"/>
          </a:xfrm>
          <a:prstGeom prst="rect">
            <a:avLst/>
          </a:prstGeom>
          <a:noFill/>
          <a:ln/>
        </p:spPr>
        <p:txBody>
          <a:bodyPr wrap="square" lIns="0" tIns="0" rIns="0" bIns="0" rtlCol="0" anchor="t"/>
          <a:lstStyle/>
          <a:p>
            <a:pPr indent="0" marL="0">
              <a:buNone/>
            </a:pPr>
            <a:r>
              <a:rPr lang="en-US" sz="1500" dirty="0">
                <a:solidFill>
                  <a:srgbClr val="4F5D58"/>
                </a:solidFill>
                <a:latin typeface="Calibri" pitchFamily="34" charset="0"/>
                <a:ea typeface="Calibri" pitchFamily="34" charset="-122"/>
                <a:cs typeface="Calibri" pitchFamily="34" charset="-120"/>
              </a:rPr>
              <a:t>Under the guidance of</a:t>
            </a:r>
            <a:endParaRPr lang="en-US" sz="1500" dirty="0"/>
          </a:p>
          <a:p>
            <a:pPr indent="0" marL="0">
              <a:buNone/>
            </a:pPr>
            <a:r>
              <a:rPr lang="en-US" sz="1500" b="1" dirty="0">
                <a:solidFill>
                  <a:srgbClr val="15211E"/>
                </a:solidFill>
                <a:latin typeface="Calibri" pitchFamily="34" charset="0"/>
                <a:ea typeface="Calibri" pitchFamily="34" charset="-122"/>
                <a:cs typeface="Calibri" pitchFamily="34" charset="-120"/>
              </a:rPr>
              <a:t>Prof. Roopa B</a:t>
            </a:r>
            <a:endParaRPr lang="en-US" sz="1500" dirty="0"/>
          </a:p>
          <a:p>
            <a:pPr indent="0" marL="0">
              <a:buNone/>
            </a:pPr>
            <a:r>
              <a:rPr lang="en-US" sz="1500" dirty="0">
                <a:solidFill>
                  <a:srgbClr val="15211E"/>
                </a:solidFill>
                <a:latin typeface="Calibri" pitchFamily="34" charset="0"/>
                <a:ea typeface="Calibri" pitchFamily="34" charset="-122"/>
                <a:cs typeface="Calibri" pitchFamily="34" charset="-120"/>
              </a:rPr>
              <a:t>Assistant Professor, Dept. of ISE</a:t>
            </a:r>
            <a:endParaRPr lang="en-US" sz="1500" dirty="0"/>
          </a:p>
        </p:txBody>
      </p:sp>
      <p:sp>
        <p:nvSpPr>
          <p:cNvPr id="20" name="Text 18"/>
          <p:cNvSpPr txBox="1"/>
          <p:nvPr/>
        </p:nvSpPr>
        <p:spPr>
          <a:xfrm>
            <a:off x="640080" y="6126480"/>
            <a:ext cx="10058400" cy="320040"/>
          </a:xfrm>
          <a:prstGeom prst="rect">
            <a:avLst/>
          </a:prstGeom>
          <a:noFill/>
          <a:ln/>
        </p:spPr>
        <p:txBody>
          <a:bodyPr wrap="square" lIns="0" tIns="0" rIns="0" bIns="0" rtlCol="0" anchor="ctr"/>
          <a:lstStyle/>
          <a:p>
            <a:pPr indent="0" marL="0">
              <a:buNone/>
            </a:pPr>
            <a:r>
              <a:rPr lang="en-US" sz="1200" dirty="0">
                <a:solidFill>
                  <a:srgbClr val="4F5D58"/>
                </a:solidFill>
                <a:latin typeface="Calibri" pitchFamily="34" charset="0"/>
                <a:ea typeface="Calibri" pitchFamily="34" charset="-122"/>
                <a:cs typeface="Calibri" pitchFamily="34" charset="-120"/>
              </a:rPr>
              <a:t>Department of Information Science &amp; Engineering  ·  Bangalore Institute of Technology  ·  2026-27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Floods move fast. Decisions are slow.</a:t>
            </a:r>
            <a:endParaRPr lang="en-US" dirty="0"/>
          </a:p>
        </p:txBody>
      </p:sp>
      <p:sp>
        <p:nvSpPr>
          <p:cNvPr id="4" name="Text 1"/>
          <p:cNvSpPr txBox="1"/>
          <p:nvPr/>
        </p:nvSpPr>
        <p:spPr>
          <a:xfrm>
            <a:off x="548640" y="1371600"/>
            <a:ext cx="4480560" cy="2377440"/>
          </a:xfrm>
          <a:prstGeom prst="rect">
            <a:avLst/>
          </a:prstGeom>
          <a:noFill/>
          <a:ln/>
        </p:spPr>
        <p:txBody>
          <a:bodyPr wrap="square" lIns="0" tIns="0" rIns="0" bIns="0" rtlCol="0" anchor="t"/>
          <a:lstStyle/>
          <a:p>
            <a:pPr indent="0" marL="0">
              <a:buNone/>
            </a:pPr>
            <a:r>
              <a:rPr lang="en-US" sz="2600" dirty="0">
                <a:solidFill>
                  <a:srgbClr val="15211E"/>
                </a:solidFill>
                <a:latin typeface="Cambria" pitchFamily="34" charset="0"/>
                <a:ea typeface="Cambria" pitchFamily="34" charset="-122"/>
                <a:cs typeface="Cambria" pitchFamily="34" charset="-120"/>
              </a:rPr>
              <a:t>A few hours of delay in spotting heavy rainfall or a rising river can decide how an emergency response ends.</a:t>
            </a:r>
            <a:endParaRPr lang="en-US" sz="2600" dirty="0"/>
          </a:p>
        </p:txBody>
      </p:sp>
      <p:sp>
        <p:nvSpPr>
          <p:cNvPr id="5" name="Text 2"/>
          <p:cNvSpPr txBox="1"/>
          <p:nvPr/>
        </p:nvSpPr>
        <p:spPr>
          <a:xfrm>
            <a:off x="548640" y="3931920"/>
            <a:ext cx="4480560" cy="1097280"/>
          </a:xfrm>
          <a:prstGeom prst="rect">
            <a:avLst/>
          </a:prstGeom>
          <a:noFill/>
          <a:ln/>
        </p:spPr>
        <p:txBody>
          <a:bodyPr wrap="square" lIns="0" tIns="0" rIns="0" bIns="0" rtlCol="0" anchor="t"/>
          <a:lstStyle/>
          <a:p>
            <a:pPr indent="0" marL="0">
              <a:buNone/>
            </a:pPr>
            <a:r>
              <a:rPr lang="en-US" sz="1600" dirty="0">
                <a:solidFill>
                  <a:srgbClr val="4F5D58"/>
                </a:solidFill>
                <a:latin typeface="Calibri" pitchFamily="34" charset="0"/>
                <a:ea typeface="Calibri" pitchFamily="34" charset="-122"/>
                <a:cs typeface="Calibri" pitchFamily="34" charset="-120"/>
              </a:rPr>
              <a:t>Rising urbanisation and unpredictable climate patterns make early detection harder every year.</a:t>
            </a:r>
            <a:endParaRPr lang="en-US" sz="1600" dirty="0"/>
          </a:p>
        </p:txBody>
      </p:sp>
      <p:sp>
        <p:nvSpPr>
          <p:cNvPr id="6" name="card"/>
          <p:cNvSpPr/>
          <p:nvPr/>
        </p:nvSpPr>
        <p:spPr>
          <a:xfrm>
            <a:off x="5486400" y="1371600"/>
            <a:ext cx="6126480" cy="1463040"/>
          </a:xfrm>
          <a:prstGeom prst="rect">
            <a:avLst>
              <a:gd name="adj" fmla="val 6250"/>
            </a:avLst>
          </a:prstGeom>
          <a:solidFill>
            <a:srgbClr val="FAFBF8"/>
          </a:solidFill>
          <a:ln w="9525">
            <a:solidFill>
              <a:srgbClr val="CBD2CA"/>
            </a:solidFill>
            <a:prstDash val="solid"/>
          </a:ln>
        </p:spPr>
      </p:sp>
      <p:sp>
        <p:nvSpPr>
          <p:cNvPr id="7" name="dot"/>
          <p:cNvSpPr/>
          <p:nvPr/>
        </p:nvSpPr>
        <p:spPr>
          <a:xfrm>
            <a:off x="5715000" y="1600200"/>
            <a:ext cx="201168" cy="201168"/>
          </a:xfrm>
          <a:prstGeom prst="rect">
            <a:avLst/>
          </a:prstGeom>
          <a:solidFill>
            <a:srgbClr val="A3102E"/>
          </a:solidFill>
          <a:ln w="12700">
            <a:solidFill>
              <a:srgbClr val="A3102E"/>
            </a:solidFill>
            <a:prstDash val="solid"/>
          </a:ln>
        </p:spPr>
      </p:sp>
      <p:sp>
        <p:nvSpPr>
          <p:cNvPr id="8" name="Text 5"/>
          <p:cNvSpPr txBox="1"/>
          <p:nvPr/>
        </p:nvSpPr>
        <p:spPr>
          <a:xfrm>
            <a:off x="6035040" y="1517904"/>
            <a:ext cx="539496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Hours matter</a:t>
            </a:r>
            <a:endParaRPr lang="en-US" sz="1800" dirty="0"/>
          </a:p>
        </p:txBody>
      </p:sp>
      <p:sp>
        <p:nvSpPr>
          <p:cNvPr id="9" name="Text 6"/>
          <p:cNvSpPr txBox="1"/>
          <p:nvPr/>
        </p:nvSpPr>
        <p:spPr>
          <a:xfrm>
            <a:off x="5715000" y="1965960"/>
            <a:ext cx="5669280" cy="731520"/>
          </a:xfrm>
          <a:prstGeom prst="rect">
            <a:avLst/>
          </a:prstGeom>
          <a:noFill/>
          <a:ln/>
        </p:spPr>
        <p:txBody>
          <a:bodyPr wrap="square" lIns="0" tIns="0" rIns="0" bIns="0" rtlCol="0" anchor="t"/>
          <a:lstStyle/>
          <a:p>
            <a:pPr indent="0" marL="0">
              <a:spcAft>
                <a:spcPts val="400"/>
              </a:spcAft>
              <a:buNone/>
            </a:pPr>
            <a:r>
              <a:rPr lang="en-US" sz="1400" dirty="0">
                <a:solidFill>
                  <a:srgbClr val="4F5D58"/>
                </a:solidFill>
                <a:latin typeface="Calibri" pitchFamily="34" charset="0"/>
                <a:ea typeface="Calibri" pitchFamily="34" charset="-122"/>
                <a:cs typeface="Calibri" pitchFamily="34" charset="-120"/>
              </a:rPr>
              <a:t>Early warning signs - heavy rain, fast-rising rivers - must be caught as they happen, not in next week's report.</a:t>
            </a:r>
            <a:endParaRPr lang="en-US" sz="1400" dirty="0"/>
          </a:p>
        </p:txBody>
      </p:sp>
      <p:sp>
        <p:nvSpPr>
          <p:cNvPr id="10" name="card"/>
          <p:cNvSpPr/>
          <p:nvPr/>
        </p:nvSpPr>
        <p:spPr>
          <a:xfrm>
            <a:off x="5486400" y="3017520"/>
            <a:ext cx="6126480" cy="1463040"/>
          </a:xfrm>
          <a:prstGeom prst="rect">
            <a:avLst>
              <a:gd name="adj" fmla="val 6250"/>
            </a:avLst>
          </a:prstGeom>
          <a:solidFill>
            <a:srgbClr val="FAFBF8"/>
          </a:solidFill>
          <a:ln w="9525">
            <a:solidFill>
              <a:srgbClr val="CBD2CA"/>
            </a:solidFill>
            <a:prstDash val="solid"/>
          </a:ln>
        </p:spPr>
      </p:sp>
      <p:sp>
        <p:nvSpPr>
          <p:cNvPr id="11" name="dot"/>
          <p:cNvSpPr/>
          <p:nvPr/>
        </p:nvSpPr>
        <p:spPr>
          <a:xfrm>
            <a:off x="5715000" y="3246120"/>
            <a:ext cx="201168" cy="201168"/>
          </a:xfrm>
          <a:prstGeom prst="rect">
            <a:avLst/>
          </a:prstGeom>
          <a:solidFill>
            <a:srgbClr val="D1561F"/>
          </a:solidFill>
          <a:ln w="12700">
            <a:solidFill>
              <a:srgbClr val="D1561F"/>
            </a:solidFill>
            <a:prstDash val="solid"/>
          </a:ln>
        </p:spPr>
      </p:sp>
      <p:sp>
        <p:nvSpPr>
          <p:cNvPr id="12" name="Text 9"/>
          <p:cNvSpPr txBox="1"/>
          <p:nvPr/>
        </p:nvSpPr>
        <p:spPr>
          <a:xfrm>
            <a:off x="6035040" y="3163824"/>
            <a:ext cx="539496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Data is scattered</a:t>
            </a:r>
            <a:endParaRPr lang="en-US" sz="1800" dirty="0"/>
          </a:p>
        </p:txBody>
      </p:sp>
      <p:sp>
        <p:nvSpPr>
          <p:cNvPr id="13" name="Text 10"/>
          <p:cNvSpPr txBox="1"/>
          <p:nvPr/>
        </p:nvSpPr>
        <p:spPr>
          <a:xfrm>
            <a:off x="5715000" y="3611880"/>
            <a:ext cx="5669280" cy="731520"/>
          </a:xfrm>
          <a:prstGeom prst="rect">
            <a:avLst/>
          </a:prstGeom>
          <a:noFill/>
          <a:ln/>
        </p:spPr>
        <p:txBody>
          <a:bodyPr wrap="square" lIns="0" tIns="0" rIns="0" bIns="0" rtlCol="0" anchor="t"/>
          <a:lstStyle/>
          <a:p>
            <a:pPr indent="0" marL="0">
              <a:spcAft>
                <a:spcPts val="400"/>
              </a:spcAft>
              <a:buNone/>
            </a:pPr>
            <a:r>
              <a:rPr lang="en-US" sz="1400" dirty="0">
                <a:solidFill>
                  <a:srgbClr val="4F5D58"/>
                </a:solidFill>
                <a:latin typeface="Calibri" pitchFamily="34" charset="0"/>
                <a:ea typeface="Calibri" pitchFamily="34" charset="-122"/>
                <a:cs typeface="Calibri" pitchFamily="34" charset="-120"/>
              </a:rPr>
              <a:t>Spreadsheets, paper reports and disconnected monitoring tools force analysts to piece the picture together by hand.</a:t>
            </a:r>
            <a:endParaRPr lang="en-US" sz="1400" dirty="0"/>
          </a:p>
        </p:txBody>
      </p:sp>
      <p:sp>
        <p:nvSpPr>
          <p:cNvPr id="14" name="card"/>
          <p:cNvSpPr/>
          <p:nvPr/>
        </p:nvSpPr>
        <p:spPr>
          <a:xfrm>
            <a:off x="5486400" y="4663440"/>
            <a:ext cx="6126480" cy="1463040"/>
          </a:xfrm>
          <a:prstGeom prst="rect">
            <a:avLst>
              <a:gd name="adj" fmla="val 6250"/>
            </a:avLst>
          </a:prstGeom>
          <a:solidFill>
            <a:srgbClr val="FAFBF8"/>
          </a:solidFill>
          <a:ln w="9525">
            <a:solidFill>
              <a:srgbClr val="CBD2CA"/>
            </a:solidFill>
            <a:prstDash val="solid"/>
          </a:ln>
        </p:spPr>
      </p:sp>
      <p:sp>
        <p:nvSpPr>
          <p:cNvPr id="15" name="dot"/>
          <p:cNvSpPr/>
          <p:nvPr/>
        </p:nvSpPr>
        <p:spPr>
          <a:xfrm>
            <a:off x="5715000" y="4892040"/>
            <a:ext cx="201168" cy="201168"/>
          </a:xfrm>
          <a:prstGeom prst="rect">
            <a:avLst/>
          </a:prstGeom>
          <a:solidFill>
            <a:srgbClr val="0B5C7A"/>
          </a:solidFill>
          <a:ln w="12700">
            <a:solidFill>
              <a:srgbClr val="0B5C7A"/>
            </a:solidFill>
            <a:prstDash val="solid"/>
          </a:ln>
        </p:spPr>
      </p:sp>
      <p:sp>
        <p:nvSpPr>
          <p:cNvPr id="16" name="Text 13"/>
          <p:cNvSpPr txBox="1"/>
          <p:nvPr/>
        </p:nvSpPr>
        <p:spPr>
          <a:xfrm>
            <a:off x="6035040" y="4809744"/>
            <a:ext cx="539496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Data keeps growing</a:t>
            </a:r>
            <a:endParaRPr lang="en-US" sz="1800" dirty="0"/>
          </a:p>
        </p:txBody>
      </p:sp>
      <p:sp>
        <p:nvSpPr>
          <p:cNvPr id="17" name="Text 14"/>
          <p:cNvSpPr txBox="1"/>
          <p:nvPr/>
        </p:nvSpPr>
        <p:spPr>
          <a:xfrm>
            <a:off x="5715000" y="5257800"/>
            <a:ext cx="5669280" cy="731520"/>
          </a:xfrm>
          <a:prstGeom prst="rect">
            <a:avLst/>
          </a:prstGeom>
          <a:noFill/>
          <a:ln/>
        </p:spPr>
        <p:txBody>
          <a:bodyPr wrap="square" lIns="0" tIns="0" rIns="0" bIns="0" rtlCol="0" anchor="t"/>
          <a:lstStyle/>
          <a:p>
            <a:pPr indent="0" marL="0">
              <a:spcAft>
                <a:spcPts val="400"/>
              </a:spcAft>
              <a:buNone/>
            </a:pPr>
            <a:r>
              <a:rPr lang="en-US" sz="1400" dirty="0">
                <a:solidFill>
                  <a:srgbClr val="4F5D58"/>
                </a:solidFill>
                <a:latin typeface="Calibri" pitchFamily="34" charset="0"/>
                <a:ea typeface="Calibri" pitchFamily="34" charset="-122"/>
                <a:cs typeface="Calibri" pitchFamily="34" charset="-120"/>
              </a:rPr>
              <a:t>IoT sensors, weather stations and satellites produce large, varied, fast-growing records that need scalable storage.</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Problem statement: why existing systems fall short</a:t>
            </a:r>
            <a:endParaRPr lang="en-US" dirty="0"/>
          </a:p>
        </p:txBody>
      </p:sp>
      <p:sp>
        <p:nvSpPr>
          <p:cNvPr id="4" name="card"/>
          <p:cNvSpPr/>
          <p:nvPr/>
        </p:nvSpPr>
        <p:spPr>
          <a:xfrm>
            <a:off x="548640" y="1371600"/>
            <a:ext cx="11064240" cy="822960"/>
          </a:xfrm>
          <a:prstGeom prst="rect">
            <a:avLst>
              <a:gd name="adj" fmla="val 11111"/>
            </a:avLst>
          </a:prstGeom>
          <a:solidFill>
            <a:srgbClr val="FAFBF8"/>
          </a:solidFill>
          <a:ln w="9525">
            <a:solidFill>
              <a:srgbClr val="CBD2CA"/>
            </a:solidFill>
            <a:prstDash val="solid"/>
          </a:ln>
        </p:spPr>
      </p:sp>
      <p:sp>
        <p:nvSpPr>
          <p:cNvPr id="5" name="badge"/>
          <p:cNvSpPr/>
          <p:nvPr/>
        </p:nvSpPr>
        <p:spPr>
          <a:xfrm>
            <a:off x="731520" y="1554480"/>
            <a:ext cx="457200" cy="457200"/>
          </a:xfrm>
          <a:prstGeom prst="rect">
            <a:avLst/>
          </a:prstGeom>
          <a:solidFill>
            <a:srgbClr val="0B5C7A"/>
          </a:solidFill>
          <a:ln w="12700">
            <a:solidFill>
              <a:srgbClr val="0B5C7A"/>
            </a:solidFill>
            <a:prstDash val="solid"/>
          </a:ln>
        </p:spPr>
      </p:sp>
      <p:sp>
        <p:nvSpPr>
          <p:cNvPr id="6"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463040" y="1371600"/>
            <a:ext cx="3291840" cy="8229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Limited data processing</a:t>
            </a:r>
            <a:endParaRPr lang="en-US" sz="1800" dirty="0"/>
          </a:p>
        </p:txBody>
      </p:sp>
      <p:sp>
        <p:nvSpPr>
          <p:cNvPr id="8" name="Text 5"/>
          <p:cNvSpPr txBox="1"/>
          <p:nvPr/>
        </p:nvSpPr>
        <p:spPr>
          <a:xfrm>
            <a:off x="4846320" y="1371600"/>
            <a:ext cx="6583680" cy="822960"/>
          </a:xfrm>
          <a:prstGeom prst="rect">
            <a:avLst/>
          </a:prstGeom>
          <a:noFill/>
          <a:ln/>
        </p:spPr>
        <p:txBody>
          <a:bodyPr wrap="square" lIns="0" tIns="0" rIns="0" bIns="0" rtlCol="0" anchor="ctr"/>
          <a:lstStyle/>
          <a:p>
            <a:pPr indent="0" marL="0">
              <a:buNone/>
            </a:pPr>
            <a:r>
              <a:rPr lang="en-US" sz="1500" dirty="0">
                <a:solidFill>
                  <a:srgbClr val="4F5D58"/>
                </a:solidFill>
                <a:latin typeface="Calibri" pitchFamily="34" charset="0"/>
                <a:ea typeface="Calibri" pitchFamily="34" charset="-122"/>
                <a:cs typeface="Calibri" pitchFamily="34" charset="-120"/>
              </a:rPr>
              <a:t>Static datasets support record-keeping, not large-scale processing of rainfall, river and weather records.</a:t>
            </a:r>
            <a:endParaRPr lang="en-US" sz="1500" dirty="0"/>
          </a:p>
        </p:txBody>
      </p:sp>
      <p:sp>
        <p:nvSpPr>
          <p:cNvPr id="9" name="card"/>
          <p:cNvSpPr/>
          <p:nvPr/>
        </p:nvSpPr>
        <p:spPr>
          <a:xfrm>
            <a:off x="548640" y="2331720"/>
            <a:ext cx="11064240" cy="822960"/>
          </a:xfrm>
          <a:prstGeom prst="rect">
            <a:avLst>
              <a:gd name="adj" fmla="val 11111"/>
            </a:avLst>
          </a:prstGeom>
          <a:solidFill>
            <a:srgbClr val="FAFBF8"/>
          </a:solidFill>
          <a:ln w="9525">
            <a:solidFill>
              <a:srgbClr val="CBD2CA"/>
            </a:solidFill>
            <a:prstDash val="solid"/>
          </a:ln>
        </p:spPr>
      </p:sp>
      <p:sp>
        <p:nvSpPr>
          <p:cNvPr id="10" name="badge"/>
          <p:cNvSpPr/>
          <p:nvPr/>
        </p:nvSpPr>
        <p:spPr>
          <a:xfrm>
            <a:off x="731520" y="2514600"/>
            <a:ext cx="457200" cy="457200"/>
          </a:xfrm>
          <a:prstGeom prst="rect">
            <a:avLst/>
          </a:prstGeom>
          <a:solidFill>
            <a:srgbClr val="0B5C7A"/>
          </a:solidFill>
          <a:ln w="12700">
            <a:solidFill>
              <a:srgbClr val="0B5C7A"/>
            </a:solidFill>
            <a:prstDash val="solid"/>
          </a:ln>
        </p:spPr>
      </p:sp>
      <p:sp>
        <p:nvSpPr>
          <p:cNvPr id="11" name="Text 8"/>
          <p:cNvSpPr txBox="1"/>
          <p:nvPr/>
        </p:nvSpPr>
        <p:spPr>
          <a:xfrm>
            <a:off x="731520"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463040" y="2331720"/>
            <a:ext cx="3291840" cy="8229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Static files &amp; manual reports</a:t>
            </a:r>
            <a:endParaRPr lang="en-US" sz="1800" dirty="0"/>
          </a:p>
        </p:txBody>
      </p:sp>
      <p:sp>
        <p:nvSpPr>
          <p:cNvPr id="13" name="Text 10"/>
          <p:cNvSpPr txBox="1"/>
          <p:nvPr/>
        </p:nvSpPr>
        <p:spPr>
          <a:xfrm>
            <a:off x="4846320" y="2331720"/>
            <a:ext cx="6583680" cy="822960"/>
          </a:xfrm>
          <a:prstGeom prst="rect">
            <a:avLst/>
          </a:prstGeom>
          <a:noFill/>
          <a:ln/>
        </p:spPr>
        <p:txBody>
          <a:bodyPr wrap="square" lIns="0" tIns="0" rIns="0" bIns="0" rtlCol="0" anchor="ctr"/>
          <a:lstStyle/>
          <a:p>
            <a:pPr indent="0" marL="0">
              <a:buNone/>
            </a:pPr>
            <a:r>
              <a:rPr lang="en-US" sz="1500" dirty="0">
                <a:solidFill>
                  <a:srgbClr val="4F5D58"/>
                </a:solidFill>
                <a:latin typeface="Calibri" pitchFamily="34" charset="0"/>
                <a:ea typeface="Calibri" pitchFamily="34" charset="-122"/>
                <a:cs typeface="Calibri" pitchFamily="34" charset="-120"/>
              </a:rPr>
              <a:t>Spreadsheets and paper reports make centralised management and analysis difficult.</a:t>
            </a:r>
            <a:endParaRPr lang="en-US" sz="1500" dirty="0"/>
          </a:p>
        </p:txBody>
      </p:sp>
      <p:sp>
        <p:nvSpPr>
          <p:cNvPr id="14" name="card"/>
          <p:cNvSpPr/>
          <p:nvPr/>
        </p:nvSpPr>
        <p:spPr>
          <a:xfrm>
            <a:off x="548640" y="3291840"/>
            <a:ext cx="11064240" cy="822960"/>
          </a:xfrm>
          <a:prstGeom prst="rect">
            <a:avLst>
              <a:gd name="adj" fmla="val 11111"/>
            </a:avLst>
          </a:prstGeom>
          <a:solidFill>
            <a:srgbClr val="FAFBF8"/>
          </a:solidFill>
          <a:ln w="9525">
            <a:solidFill>
              <a:srgbClr val="CBD2CA"/>
            </a:solidFill>
            <a:prstDash val="solid"/>
          </a:ln>
        </p:spPr>
      </p:sp>
      <p:sp>
        <p:nvSpPr>
          <p:cNvPr id="15" name="badge"/>
          <p:cNvSpPr/>
          <p:nvPr/>
        </p:nvSpPr>
        <p:spPr>
          <a:xfrm>
            <a:off x="731520" y="3474720"/>
            <a:ext cx="457200" cy="457200"/>
          </a:xfrm>
          <a:prstGeom prst="rect">
            <a:avLst/>
          </a:prstGeom>
          <a:solidFill>
            <a:srgbClr val="0B5C7A"/>
          </a:solidFill>
          <a:ln w="12700">
            <a:solidFill>
              <a:srgbClr val="0B5C7A"/>
            </a:solidFill>
            <a:prstDash val="solid"/>
          </a:ln>
        </p:spPr>
      </p:sp>
      <p:sp>
        <p:nvSpPr>
          <p:cNvPr id="16" name="Text 13"/>
          <p:cNvSpPr txBox="1"/>
          <p:nvPr/>
        </p:nvSpPr>
        <p:spPr>
          <a:xfrm>
            <a:off x="73152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1463040" y="3291840"/>
            <a:ext cx="3291840" cy="8229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Limited analytical insight</a:t>
            </a:r>
            <a:endParaRPr lang="en-US" sz="1800" dirty="0"/>
          </a:p>
        </p:txBody>
      </p:sp>
      <p:sp>
        <p:nvSpPr>
          <p:cNvPr id="18" name="Text 15"/>
          <p:cNvSpPr txBox="1"/>
          <p:nvPr/>
        </p:nvSpPr>
        <p:spPr>
          <a:xfrm>
            <a:off x="4846320" y="3291840"/>
            <a:ext cx="6583680" cy="822960"/>
          </a:xfrm>
          <a:prstGeom prst="rect">
            <a:avLst/>
          </a:prstGeom>
          <a:noFill/>
          <a:ln/>
        </p:spPr>
        <p:txBody>
          <a:bodyPr wrap="square" lIns="0" tIns="0" rIns="0" bIns="0" rtlCol="0" anchor="ctr"/>
          <a:lstStyle/>
          <a:p>
            <a:pPr indent="0" marL="0">
              <a:buNone/>
            </a:pPr>
            <a:r>
              <a:rPr lang="en-US" sz="1500" dirty="0">
                <a:solidFill>
                  <a:srgbClr val="4F5D58"/>
                </a:solidFill>
                <a:latin typeface="Calibri" pitchFamily="34" charset="0"/>
                <a:ea typeface="Calibri" pitchFamily="34" charset="-122"/>
                <a:cs typeface="Calibri" pitchFamily="34" charset="-120"/>
              </a:rPr>
              <a:t>Little region-wise, time-based or severity-based risk analytics.</a:t>
            </a:r>
            <a:endParaRPr lang="en-US" sz="1500" dirty="0"/>
          </a:p>
        </p:txBody>
      </p:sp>
      <p:sp>
        <p:nvSpPr>
          <p:cNvPr id="19" name="card"/>
          <p:cNvSpPr/>
          <p:nvPr/>
        </p:nvSpPr>
        <p:spPr>
          <a:xfrm>
            <a:off x="548640" y="4251960"/>
            <a:ext cx="11064240" cy="822960"/>
          </a:xfrm>
          <a:prstGeom prst="rect">
            <a:avLst>
              <a:gd name="adj" fmla="val 11111"/>
            </a:avLst>
          </a:prstGeom>
          <a:solidFill>
            <a:srgbClr val="FAFBF8"/>
          </a:solidFill>
          <a:ln w="9525">
            <a:solidFill>
              <a:srgbClr val="CBD2CA"/>
            </a:solidFill>
            <a:prstDash val="solid"/>
          </a:ln>
        </p:spPr>
      </p:sp>
      <p:sp>
        <p:nvSpPr>
          <p:cNvPr id="20" name="badge"/>
          <p:cNvSpPr/>
          <p:nvPr/>
        </p:nvSpPr>
        <p:spPr>
          <a:xfrm>
            <a:off x="731520" y="4434840"/>
            <a:ext cx="457200" cy="457200"/>
          </a:xfrm>
          <a:prstGeom prst="rect">
            <a:avLst/>
          </a:prstGeom>
          <a:solidFill>
            <a:srgbClr val="0B5C7A"/>
          </a:solidFill>
          <a:ln w="12700">
            <a:solidFill>
              <a:srgbClr val="0B5C7A"/>
            </a:solidFill>
            <a:prstDash val="solid"/>
          </a:ln>
        </p:spPr>
      </p:sp>
      <p:sp>
        <p:nvSpPr>
          <p:cNvPr id="21" name="Text 18"/>
          <p:cNvSpPr txBox="1"/>
          <p:nvPr/>
        </p:nvSpPr>
        <p:spPr>
          <a:xfrm>
            <a:off x="73152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1463040" y="4251960"/>
            <a:ext cx="3291840" cy="8229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Anomalies go unnoticed</a:t>
            </a:r>
            <a:endParaRPr lang="en-US" sz="1800" dirty="0"/>
          </a:p>
        </p:txBody>
      </p:sp>
      <p:sp>
        <p:nvSpPr>
          <p:cNvPr id="23" name="Text 20"/>
          <p:cNvSpPr txBox="1"/>
          <p:nvPr/>
        </p:nvSpPr>
        <p:spPr>
          <a:xfrm>
            <a:off x="4846320" y="4251960"/>
            <a:ext cx="6583680" cy="822960"/>
          </a:xfrm>
          <a:prstGeom prst="rect">
            <a:avLst/>
          </a:prstGeom>
          <a:noFill/>
          <a:ln/>
        </p:spPr>
        <p:txBody>
          <a:bodyPr wrap="square" lIns="0" tIns="0" rIns="0" bIns="0" rtlCol="0" anchor="ctr"/>
          <a:lstStyle/>
          <a:p>
            <a:pPr indent="0" marL="0">
              <a:buNone/>
            </a:pPr>
            <a:r>
              <a:rPr lang="en-US" sz="1500" dirty="0">
                <a:solidFill>
                  <a:srgbClr val="4F5D58"/>
                </a:solidFill>
                <a:latin typeface="Calibri" pitchFamily="34" charset="0"/>
                <a:ea typeface="Calibri" pitchFamily="34" charset="-122"/>
                <a:cs typeface="Calibri" pitchFamily="34" charset="-120"/>
              </a:rPr>
              <a:t>Rainfall spikes and rapidly rising rivers are hard to detect without a database built for analytical queries.</a:t>
            </a:r>
            <a:endParaRPr lang="en-US" sz="1500" dirty="0"/>
          </a:p>
        </p:txBody>
      </p:sp>
      <p:sp>
        <p:nvSpPr>
          <p:cNvPr id="24" name="card"/>
          <p:cNvSpPr/>
          <p:nvPr/>
        </p:nvSpPr>
        <p:spPr>
          <a:xfrm>
            <a:off x="548640" y="5212080"/>
            <a:ext cx="11064240" cy="822960"/>
          </a:xfrm>
          <a:prstGeom prst="rect">
            <a:avLst>
              <a:gd name="adj" fmla="val 11111"/>
            </a:avLst>
          </a:prstGeom>
          <a:solidFill>
            <a:srgbClr val="FAFBF8"/>
          </a:solidFill>
          <a:ln w="9525">
            <a:solidFill>
              <a:srgbClr val="CBD2CA"/>
            </a:solidFill>
            <a:prstDash val="solid"/>
          </a:ln>
        </p:spPr>
      </p:sp>
      <p:sp>
        <p:nvSpPr>
          <p:cNvPr id="25" name="badge"/>
          <p:cNvSpPr/>
          <p:nvPr/>
        </p:nvSpPr>
        <p:spPr>
          <a:xfrm>
            <a:off x="731520" y="5394960"/>
            <a:ext cx="457200" cy="457200"/>
          </a:xfrm>
          <a:prstGeom prst="rect">
            <a:avLst/>
          </a:prstGeom>
          <a:solidFill>
            <a:srgbClr val="0B5C7A"/>
          </a:solidFill>
          <a:ln w="12700">
            <a:solidFill>
              <a:srgbClr val="0B5C7A"/>
            </a:solidFill>
            <a:prstDash val="solid"/>
          </a:ln>
        </p:spPr>
      </p:sp>
      <p:sp>
        <p:nvSpPr>
          <p:cNvPr id="26" name="Text 23"/>
          <p:cNvSpPr txBox="1"/>
          <p:nvPr/>
        </p:nvSpPr>
        <p:spPr>
          <a:xfrm>
            <a:off x="731520" y="5394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4"/>
          <p:cNvSpPr txBox="1"/>
          <p:nvPr/>
        </p:nvSpPr>
        <p:spPr>
          <a:xfrm>
            <a:off x="1463040" y="5212080"/>
            <a:ext cx="3291840" cy="8229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No interactive exploration</a:t>
            </a:r>
            <a:endParaRPr lang="en-US" sz="1800" dirty="0"/>
          </a:p>
        </p:txBody>
      </p:sp>
      <p:sp>
        <p:nvSpPr>
          <p:cNvPr id="28" name="Text 25"/>
          <p:cNvSpPr txBox="1"/>
          <p:nvPr/>
        </p:nvSpPr>
        <p:spPr>
          <a:xfrm>
            <a:off x="4846320" y="5212080"/>
            <a:ext cx="6583680" cy="822960"/>
          </a:xfrm>
          <a:prstGeom prst="rect">
            <a:avLst/>
          </a:prstGeom>
          <a:noFill/>
          <a:ln/>
        </p:spPr>
        <p:txBody>
          <a:bodyPr wrap="square" lIns="0" tIns="0" rIns="0" bIns="0" rtlCol="0" anchor="ctr"/>
          <a:lstStyle/>
          <a:p>
            <a:pPr indent="0" marL="0">
              <a:buNone/>
            </a:pPr>
            <a:r>
              <a:rPr lang="en-US" sz="1500" dirty="0">
                <a:solidFill>
                  <a:srgbClr val="4F5D58"/>
                </a:solidFill>
                <a:latin typeface="Calibri" pitchFamily="34" charset="0"/>
                <a:ea typeface="Calibri" pitchFamily="34" charset="-122"/>
                <a:cs typeface="Calibri" pitchFamily="34" charset="-120"/>
              </a:rPr>
              <a:t>Users cannot drill into location-specific risk statistics on demand.</a:t>
            </a:r>
            <a:endParaRPr lang="en-US" sz="15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Objectives</a:t>
            </a:r>
            <a:endParaRPr lang="en-US" dirty="0"/>
          </a:p>
        </p:txBody>
      </p:sp>
      <p:sp>
        <p:nvSpPr>
          <p:cNvPr id="4" name="card"/>
          <p:cNvSpPr/>
          <p:nvPr/>
        </p:nvSpPr>
        <p:spPr>
          <a:xfrm>
            <a:off x="548640" y="1371600"/>
            <a:ext cx="3566160" cy="2286000"/>
          </a:xfrm>
          <a:prstGeom prst="rect">
            <a:avLst>
              <a:gd name="adj" fmla="val 4000"/>
            </a:avLst>
          </a:prstGeom>
          <a:solidFill>
            <a:srgbClr val="FAFBF8"/>
          </a:solidFill>
          <a:ln w="9525">
            <a:solidFill>
              <a:srgbClr val="CBD2CA"/>
            </a:solidFill>
            <a:prstDash val="solid"/>
          </a:ln>
        </p:spPr>
      </p:sp>
      <p:sp>
        <p:nvSpPr>
          <p:cNvPr id="5" name="dot"/>
          <p:cNvSpPr/>
          <p:nvPr/>
        </p:nvSpPr>
        <p:spPr>
          <a:xfrm>
            <a:off x="777240" y="1600200"/>
            <a:ext cx="201168" cy="201168"/>
          </a:xfrm>
          <a:prstGeom prst="rect">
            <a:avLst/>
          </a:prstGeom>
          <a:solidFill>
            <a:srgbClr val="0B5C7A"/>
          </a:solidFill>
          <a:ln w="12700">
            <a:solidFill>
              <a:srgbClr val="0B5C7A"/>
            </a:solidFill>
            <a:prstDash val="solid"/>
          </a:ln>
        </p:spPr>
      </p:sp>
      <p:sp>
        <p:nvSpPr>
          <p:cNvPr id="6" name="Text 3"/>
          <p:cNvSpPr txBox="1"/>
          <p:nvPr/>
        </p:nvSpPr>
        <p:spPr>
          <a:xfrm>
            <a:off x="1097280" y="1517904"/>
            <a:ext cx="2834640" cy="365760"/>
          </a:xfrm>
          <a:prstGeom prst="rect">
            <a:avLst/>
          </a:prstGeom>
          <a:noFill/>
          <a:ln/>
        </p:spPr>
        <p:txBody>
          <a:bodyPr wrap="square" lIns="0" tIns="0" rIns="0" bIns="0" rtlCol="0" anchor="ctr"/>
          <a:lstStyle/>
          <a:p>
            <a:pPr indent="0" marL="0">
              <a:buNone/>
            </a:pPr>
            <a:r>
              <a:rPr lang="en-US" sz="2000" b="1" dirty="0">
                <a:solidFill>
                  <a:srgbClr val="15211E"/>
                </a:solidFill>
                <a:latin typeface="Calibri" pitchFamily="34" charset="0"/>
                <a:ea typeface="Calibri" pitchFamily="34" charset="-122"/>
                <a:cs typeface="Calibri" pitchFamily="34" charset="-120"/>
              </a:rPr>
              <a:t>Store at scale</a:t>
            </a:r>
            <a:endParaRPr lang="en-US" sz="2000" dirty="0"/>
          </a:p>
        </p:txBody>
      </p:sp>
      <p:sp>
        <p:nvSpPr>
          <p:cNvPr id="7" name="Text 4"/>
          <p:cNvSpPr txBox="1"/>
          <p:nvPr/>
        </p:nvSpPr>
        <p:spPr>
          <a:xfrm>
            <a:off x="777240" y="1965960"/>
            <a:ext cx="3108960" cy="1554480"/>
          </a:xfrm>
          <a:prstGeom prst="rect">
            <a:avLst/>
          </a:prstGeom>
          <a:noFill/>
          <a:ln/>
        </p:spPr>
        <p:txBody>
          <a:bodyPr wrap="square" lIns="0" tIns="0" rIns="0" bIns="0" rtlCol="0" anchor="t"/>
          <a:lstStyle/>
          <a:p>
            <a:pPr indent="0" marL="0">
              <a:spcAft>
                <a:spcPts val="400"/>
              </a:spcAft>
              <a:buNone/>
            </a:pPr>
            <a:r>
              <a:rPr lang="en-US" sz="1600" dirty="0">
                <a:solidFill>
                  <a:srgbClr val="4F5D58"/>
                </a:solidFill>
                <a:latin typeface="Calibri" pitchFamily="34" charset="0"/>
                <a:ea typeface="Calibri" pitchFamily="34" charset="-122"/>
                <a:cs typeface="Calibri" pitchFamily="34" charset="-120"/>
              </a:rPr>
              <a:t>Rainfall, river-level, weather and risk-zone data in MongoDB</a:t>
            </a:r>
            <a:endParaRPr lang="en-US" sz="1600" dirty="0"/>
          </a:p>
        </p:txBody>
      </p:sp>
      <p:sp>
        <p:nvSpPr>
          <p:cNvPr id="8" name="card"/>
          <p:cNvSpPr/>
          <p:nvPr/>
        </p:nvSpPr>
        <p:spPr>
          <a:xfrm>
            <a:off x="4297680" y="1371600"/>
            <a:ext cx="3566160" cy="2286000"/>
          </a:xfrm>
          <a:prstGeom prst="rect">
            <a:avLst>
              <a:gd name="adj" fmla="val 4000"/>
            </a:avLst>
          </a:prstGeom>
          <a:solidFill>
            <a:srgbClr val="FAFBF8"/>
          </a:solidFill>
          <a:ln w="9525">
            <a:solidFill>
              <a:srgbClr val="CBD2CA"/>
            </a:solidFill>
            <a:prstDash val="solid"/>
          </a:ln>
        </p:spPr>
      </p:sp>
      <p:sp>
        <p:nvSpPr>
          <p:cNvPr id="9" name="dot"/>
          <p:cNvSpPr/>
          <p:nvPr/>
        </p:nvSpPr>
        <p:spPr>
          <a:xfrm>
            <a:off x="4526280" y="1600200"/>
            <a:ext cx="201168" cy="201168"/>
          </a:xfrm>
          <a:prstGeom prst="rect">
            <a:avLst/>
          </a:prstGeom>
          <a:solidFill>
            <a:srgbClr val="6D5BA8"/>
          </a:solidFill>
          <a:ln w="12700">
            <a:solidFill>
              <a:srgbClr val="6D5BA8"/>
            </a:solidFill>
            <a:prstDash val="solid"/>
          </a:ln>
        </p:spPr>
      </p:sp>
      <p:sp>
        <p:nvSpPr>
          <p:cNvPr id="10" name="Text 7"/>
          <p:cNvSpPr txBox="1"/>
          <p:nvPr/>
        </p:nvSpPr>
        <p:spPr>
          <a:xfrm>
            <a:off x="4846320" y="1517904"/>
            <a:ext cx="2834640" cy="365760"/>
          </a:xfrm>
          <a:prstGeom prst="rect">
            <a:avLst/>
          </a:prstGeom>
          <a:noFill/>
          <a:ln/>
        </p:spPr>
        <p:txBody>
          <a:bodyPr wrap="square" lIns="0" tIns="0" rIns="0" bIns="0" rtlCol="0" anchor="ctr"/>
          <a:lstStyle/>
          <a:p>
            <a:pPr indent="0" marL="0">
              <a:buNone/>
            </a:pPr>
            <a:r>
              <a:rPr lang="en-US" sz="2000" b="1" dirty="0">
                <a:solidFill>
                  <a:srgbClr val="15211E"/>
                </a:solidFill>
                <a:latin typeface="Calibri" pitchFamily="34" charset="0"/>
                <a:ea typeface="Calibri" pitchFamily="34" charset="-122"/>
                <a:cs typeface="Calibri" pitchFamily="34" charset="-120"/>
              </a:rPr>
              <a:t>Process with pipelines</a:t>
            </a:r>
            <a:endParaRPr lang="en-US" sz="2000" dirty="0"/>
          </a:p>
        </p:txBody>
      </p:sp>
      <p:sp>
        <p:nvSpPr>
          <p:cNvPr id="11" name="Text 8"/>
          <p:cNvSpPr txBox="1"/>
          <p:nvPr/>
        </p:nvSpPr>
        <p:spPr>
          <a:xfrm>
            <a:off x="4526280" y="1965960"/>
            <a:ext cx="3108960" cy="1554480"/>
          </a:xfrm>
          <a:prstGeom prst="rect">
            <a:avLst/>
          </a:prstGeom>
          <a:noFill/>
          <a:ln/>
        </p:spPr>
        <p:txBody>
          <a:bodyPr wrap="square" lIns="0" tIns="0" rIns="0" bIns="0" rtlCol="0" anchor="t"/>
          <a:lstStyle/>
          <a:p>
            <a:pPr indent="0" marL="0">
              <a:spcAft>
                <a:spcPts val="400"/>
              </a:spcAft>
              <a:buNone/>
            </a:pPr>
            <a:r>
              <a:rPr lang="en-US" sz="1600" dirty="0">
                <a:solidFill>
                  <a:srgbClr val="4F5D58"/>
                </a:solidFill>
                <a:latin typeface="Calibri" pitchFamily="34" charset="0"/>
                <a:ea typeface="Calibri" pitchFamily="34" charset="-122"/>
                <a:cs typeface="Calibri" pitchFamily="34" charset="-120"/>
              </a:rPr>
              <a:t>MongoDB queries and aggregation pipelines instead of static files</a:t>
            </a:r>
            <a:endParaRPr lang="en-US" sz="1600" dirty="0"/>
          </a:p>
        </p:txBody>
      </p:sp>
      <p:sp>
        <p:nvSpPr>
          <p:cNvPr id="12" name="card"/>
          <p:cNvSpPr/>
          <p:nvPr/>
        </p:nvSpPr>
        <p:spPr>
          <a:xfrm>
            <a:off x="8046720" y="1371600"/>
            <a:ext cx="3566160" cy="2286000"/>
          </a:xfrm>
          <a:prstGeom prst="rect">
            <a:avLst>
              <a:gd name="adj" fmla="val 4000"/>
            </a:avLst>
          </a:prstGeom>
          <a:solidFill>
            <a:srgbClr val="FAFBF8"/>
          </a:solidFill>
          <a:ln w="9525">
            <a:solidFill>
              <a:srgbClr val="CBD2CA"/>
            </a:solidFill>
            <a:prstDash val="solid"/>
          </a:ln>
        </p:spPr>
      </p:sp>
      <p:sp>
        <p:nvSpPr>
          <p:cNvPr id="13" name="dot"/>
          <p:cNvSpPr/>
          <p:nvPr/>
        </p:nvSpPr>
        <p:spPr>
          <a:xfrm>
            <a:off x="8275320" y="1600200"/>
            <a:ext cx="201168" cy="201168"/>
          </a:xfrm>
          <a:prstGeom prst="rect">
            <a:avLst/>
          </a:prstGeom>
          <a:solidFill>
            <a:srgbClr val="5B8A8F"/>
          </a:solidFill>
          <a:ln w="12700">
            <a:solidFill>
              <a:srgbClr val="5B8A8F"/>
            </a:solidFill>
            <a:prstDash val="solid"/>
          </a:ln>
        </p:spPr>
      </p:sp>
      <p:sp>
        <p:nvSpPr>
          <p:cNvPr id="14" name="Text 11"/>
          <p:cNvSpPr txBox="1"/>
          <p:nvPr/>
        </p:nvSpPr>
        <p:spPr>
          <a:xfrm>
            <a:off x="8595360" y="1517904"/>
            <a:ext cx="2834640" cy="365760"/>
          </a:xfrm>
          <a:prstGeom prst="rect">
            <a:avLst/>
          </a:prstGeom>
          <a:noFill/>
          <a:ln/>
        </p:spPr>
        <p:txBody>
          <a:bodyPr wrap="square" lIns="0" tIns="0" rIns="0" bIns="0" rtlCol="0" anchor="ctr"/>
          <a:lstStyle/>
          <a:p>
            <a:pPr indent="0" marL="0">
              <a:buNone/>
            </a:pPr>
            <a:r>
              <a:rPr lang="en-US" sz="2000" b="1" dirty="0">
                <a:solidFill>
                  <a:srgbClr val="15211E"/>
                </a:solidFill>
                <a:latin typeface="Calibri" pitchFamily="34" charset="0"/>
                <a:ea typeface="Calibri" pitchFamily="34" charset="-122"/>
                <a:cs typeface="Calibri" pitchFamily="34" charset="-120"/>
              </a:rPr>
              <a:t>Analyse history + live</a:t>
            </a:r>
            <a:endParaRPr lang="en-US" sz="2000" dirty="0"/>
          </a:p>
        </p:txBody>
      </p:sp>
      <p:sp>
        <p:nvSpPr>
          <p:cNvPr id="15" name="Text 12"/>
          <p:cNvSpPr txBox="1"/>
          <p:nvPr/>
        </p:nvSpPr>
        <p:spPr>
          <a:xfrm>
            <a:off x="8275320" y="1965960"/>
            <a:ext cx="3108960" cy="1554480"/>
          </a:xfrm>
          <a:prstGeom prst="rect">
            <a:avLst/>
          </a:prstGeom>
          <a:noFill/>
          <a:ln/>
        </p:spPr>
        <p:txBody>
          <a:bodyPr wrap="square" lIns="0" tIns="0" rIns="0" bIns="0" rtlCol="0" anchor="t"/>
          <a:lstStyle/>
          <a:p>
            <a:pPr indent="0" marL="0">
              <a:spcAft>
                <a:spcPts val="400"/>
              </a:spcAft>
              <a:buNone/>
            </a:pPr>
            <a:r>
              <a:rPr lang="en-US" sz="1600" dirty="0">
                <a:solidFill>
                  <a:srgbClr val="4F5D58"/>
                </a:solidFill>
                <a:latin typeface="Calibri" pitchFamily="34" charset="0"/>
                <a:ea typeface="Calibri" pitchFamily="34" charset="-122"/>
                <a:cs typeface="Calibri" pitchFamily="34" charset="-120"/>
              </a:rPr>
              <a:t>Understand regional weather and river-level patterns</a:t>
            </a:r>
            <a:endParaRPr lang="en-US" sz="1600" dirty="0"/>
          </a:p>
        </p:txBody>
      </p:sp>
      <p:sp>
        <p:nvSpPr>
          <p:cNvPr id="16" name="card"/>
          <p:cNvSpPr/>
          <p:nvPr/>
        </p:nvSpPr>
        <p:spPr>
          <a:xfrm>
            <a:off x="548640" y="3840480"/>
            <a:ext cx="3566160" cy="2286000"/>
          </a:xfrm>
          <a:prstGeom prst="rect">
            <a:avLst>
              <a:gd name="adj" fmla="val 4000"/>
            </a:avLst>
          </a:prstGeom>
          <a:solidFill>
            <a:srgbClr val="FAFBF8"/>
          </a:solidFill>
          <a:ln w="9525">
            <a:solidFill>
              <a:srgbClr val="CBD2CA"/>
            </a:solidFill>
            <a:prstDash val="solid"/>
          </a:ln>
        </p:spPr>
      </p:sp>
      <p:sp>
        <p:nvSpPr>
          <p:cNvPr id="17" name="dot"/>
          <p:cNvSpPr/>
          <p:nvPr/>
        </p:nvSpPr>
        <p:spPr>
          <a:xfrm>
            <a:off x="777240" y="4069080"/>
            <a:ext cx="201168" cy="201168"/>
          </a:xfrm>
          <a:prstGeom prst="rect">
            <a:avLst/>
          </a:prstGeom>
          <a:solidFill>
            <a:srgbClr val="D1561F"/>
          </a:solidFill>
          <a:ln w="12700">
            <a:solidFill>
              <a:srgbClr val="D1561F"/>
            </a:solidFill>
            <a:prstDash val="solid"/>
          </a:ln>
        </p:spPr>
      </p:sp>
      <p:sp>
        <p:nvSpPr>
          <p:cNvPr id="18" name="Text 15"/>
          <p:cNvSpPr txBox="1"/>
          <p:nvPr/>
        </p:nvSpPr>
        <p:spPr>
          <a:xfrm>
            <a:off x="1097280" y="3986784"/>
            <a:ext cx="2834640" cy="365760"/>
          </a:xfrm>
          <a:prstGeom prst="rect">
            <a:avLst/>
          </a:prstGeom>
          <a:noFill/>
          <a:ln/>
        </p:spPr>
        <p:txBody>
          <a:bodyPr wrap="square" lIns="0" tIns="0" rIns="0" bIns="0" rtlCol="0" anchor="ctr"/>
          <a:lstStyle/>
          <a:p>
            <a:pPr indent="0" marL="0">
              <a:buNone/>
            </a:pPr>
            <a:r>
              <a:rPr lang="en-US" sz="2000" b="1" dirty="0">
                <a:solidFill>
                  <a:srgbClr val="15211E"/>
                </a:solidFill>
                <a:latin typeface="Calibri" pitchFamily="34" charset="0"/>
                <a:ea typeface="Calibri" pitchFamily="34" charset="-122"/>
                <a:cs typeface="Calibri" pitchFamily="34" charset="-120"/>
              </a:rPr>
              <a:t>Map high-risk areas</a:t>
            </a:r>
            <a:endParaRPr lang="en-US" sz="2000" dirty="0"/>
          </a:p>
        </p:txBody>
      </p:sp>
      <p:sp>
        <p:nvSpPr>
          <p:cNvPr id="19" name="Text 16"/>
          <p:cNvSpPr txBox="1"/>
          <p:nvPr/>
        </p:nvSpPr>
        <p:spPr>
          <a:xfrm>
            <a:off x="777240" y="4434840"/>
            <a:ext cx="3108960" cy="1554480"/>
          </a:xfrm>
          <a:prstGeom prst="rect">
            <a:avLst/>
          </a:prstGeom>
          <a:noFill/>
          <a:ln/>
        </p:spPr>
        <p:txBody>
          <a:bodyPr wrap="square" lIns="0" tIns="0" rIns="0" bIns="0" rtlCol="0" anchor="t"/>
          <a:lstStyle/>
          <a:p>
            <a:pPr indent="0" marL="0">
              <a:spcAft>
                <a:spcPts val="400"/>
              </a:spcAft>
              <a:buNone/>
            </a:pPr>
            <a:r>
              <a:rPr lang="en-US" sz="1600" dirty="0">
                <a:solidFill>
                  <a:srgbClr val="4F5D58"/>
                </a:solidFill>
                <a:latin typeface="Calibri" pitchFamily="34" charset="0"/>
                <a:ea typeface="Calibri" pitchFamily="34" charset="-122"/>
                <a:cs typeface="Calibri" pitchFamily="34" charset="-120"/>
              </a:rPr>
              <a:t>Location-based data on an interactive risk map</a:t>
            </a:r>
            <a:endParaRPr lang="en-US" sz="1600" dirty="0"/>
          </a:p>
        </p:txBody>
      </p:sp>
      <p:sp>
        <p:nvSpPr>
          <p:cNvPr id="20" name="card"/>
          <p:cNvSpPr/>
          <p:nvPr/>
        </p:nvSpPr>
        <p:spPr>
          <a:xfrm>
            <a:off x="4297680" y="3840480"/>
            <a:ext cx="3566160" cy="2286000"/>
          </a:xfrm>
          <a:prstGeom prst="rect">
            <a:avLst>
              <a:gd name="adj" fmla="val 4000"/>
            </a:avLst>
          </a:prstGeom>
          <a:solidFill>
            <a:srgbClr val="FAFBF8"/>
          </a:solidFill>
          <a:ln w="9525">
            <a:solidFill>
              <a:srgbClr val="CBD2CA"/>
            </a:solidFill>
            <a:prstDash val="solid"/>
          </a:ln>
        </p:spPr>
      </p:sp>
      <p:sp>
        <p:nvSpPr>
          <p:cNvPr id="21" name="dot"/>
          <p:cNvSpPr/>
          <p:nvPr/>
        </p:nvSpPr>
        <p:spPr>
          <a:xfrm>
            <a:off x="4526280" y="4069080"/>
            <a:ext cx="201168" cy="201168"/>
          </a:xfrm>
          <a:prstGeom prst="rect">
            <a:avLst/>
          </a:prstGeom>
          <a:solidFill>
            <a:srgbClr val="A3102E"/>
          </a:solidFill>
          <a:ln w="12700">
            <a:solidFill>
              <a:srgbClr val="A3102E"/>
            </a:solidFill>
            <a:prstDash val="solid"/>
          </a:ln>
        </p:spPr>
      </p:sp>
      <p:sp>
        <p:nvSpPr>
          <p:cNvPr id="22" name="Text 19"/>
          <p:cNvSpPr txBox="1"/>
          <p:nvPr/>
        </p:nvSpPr>
        <p:spPr>
          <a:xfrm>
            <a:off x="4846320" y="3986784"/>
            <a:ext cx="2834640" cy="365760"/>
          </a:xfrm>
          <a:prstGeom prst="rect">
            <a:avLst/>
          </a:prstGeom>
          <a:noFill/>
          <a:ln/>
        </p:spPr>
        <p:txBody>
          <a:bodyPr wrap="square" lIns="0" tIns="0" rIns="0" bIns="0" rtlCol="0" anchor="ctr"/>
          <a:lstStyle/>
          <a:p>
            <a:pPr indent="0" marL="0">
              <a:buNone/>
            </a:pPr>
            <a:r>
              <a:rPr lang="en-US" sz="2000" b="1" dirty="0">
                <a:solidFill>
                  <a:srgbClr val="15211E"/>
                </a:solidFill>
                <a:latin typeface="Calibri" pitchFamily="34" charset="0"/>
                <a:ea typeface="Calibri" pitchFamily="34" charset="-122"/>
                <a:cs typeface="Calibri" pitchFamily="34" charset="-120"/>
              </a:rPr>
              <a:t>Detect anomalies</a:t>
            </a:r>
            <a:endParaRPr lang="en-US" sz="2000" dirty="0"/>
          </a:p>
        </p:txBody>
      </p:sp>
      <p:sp>
        <p:nvSpPr>
          <p:cNvPr id="23" name="Text 20"/>
          <p:cNvSpPr txBox="1"/>
          <p:nvPr/>
        </p:nvSpPr>
        <p:spPr>
          <a:xfrm>
            <a:off x="4526280" y="4434840"/>
            <a:ext cx="3108960" cy="1554480"/>
          </a:xfrm>
          <a:prstGeom prst="rect">
            <a:avLst/>
          </a:prstGeom>
          <a:noFill/>
          <a:ln/>
        </p:spPr>
        <p:txBody>
          <a:bodyPr wrap="square" lIns="0" tIns="0" rIns="0" bIns="0" rtlCol="0" anchor="t"/>
          <a:lstStyle/>
          <a:p>
            <a:pPr indent="0" marL="0">
              <a:spcAft>
                <a:spcPts val="400"/>
              </a:spcAft>
              <a:buNone/>
            </a:pPr>
            <a:r>
              <a:rPr lang="en-US" sz="1600" dirty="0">
                <a:solidFill>
                  <a:srgbClr val="4F5D58"/>
                </a:solidFill>
                <a:latin typeface="Calibri" pitchFamily="34" charset="0"/>
                <a:ea typeface="Calibri" pitchFamily="34" charset="-122"/>
                <a:cs typeface="Calibri" pitchFamily="34" charset="-120"/>
              </a:rPr>
              <a:t>Unusual rainfall, river and weather changes flagged early</a:t>
            </a:r>
            <a:endParaRPr lang="en-US" sz="1600" dirty="0"/>
          </a:p>
        </p:txBody>
      </p:sp>
      <p:sp>
        <p:nvSpPr>
          <p:cNvPr id="24" name="card"/>
          <p:cNvSpPr/>
          <p:nvPr/>
        </p:nvSpPr>
        <p:spPr>
          <a:xfrm>
            <a:off x="8046720" y="3840480"/>
            <a:ext cx="3566160" cy="2286000"/>
          </a:xfrm>
          <a:prstGeom prst="rect">
            <a:avLst>
              <a:gd name="adj" fmla="val 4000"/>
            </a:avLst>
          </a:prstGeom>
          <a:solidFill>
            <a:srgbClr val="FAFBF8"/>
          </a:solidFill>
          <a:ln w="9525">
            <a:solidFill>
              <a:srgbClr val="CBD2CA"/>
            </a:solidFill>
            <a:prstDash val="solid"/>
          </a:ln>
        </p:spPr>
      </p:sp>
      <p:sp>
        <p:nvSpPr>
          <p:cNvPr id="25" name="dot"/>
          <p:cNvSpPr/>
          <p:nvPr/>
        </p:nvSpPr>
        <p:spPr>
          <a:xfrm>
            <a:off x="8275320" y="4069080"/>
            <a:ext cx="201168" cy="201168"/>
          </a:xfrm>
          <a:prstGeom prst="rect">
            <a:avLst/>
          </a:prstGeom>
          <a:solidFill>
            <a:srgbClr val="C79A1B"/>
          </a:solidFill>
          <a:ln w="12700">
            <a:solidFill>
              <a:srgbClr val="C79A1B"/>
            </a:solidFill>
            <a:prstDash val="solid"/>
          </a:ln>
        </p:spPr>
      </p:sp>
      <p:sp>
        <p:nvSpPr>
          <p:cNvPr id="26" name="Text 23"/>
          <p:cNvSpPr txBox="1"/>
          <p:nvPr/>
        </p:nvSpPr>
        <p:spPr>
          <a:xfrm>
            <a:off x="8595360" y="3986784"/>
            <a:ext cx="2834640" cy="365760"/>
          </a:xfrm>
          <a:prstGeom prst="rect">
            <a:avLst/>
          </a:prstGeom>
          <a:noFill/>
          <a:ln/>
        </p:spPr>
        <p:txBody>
          <a:bodyPr wrap="square" lIns="0" tIns="0" rIns="0" bIns="0" rtlCol="0" anchor="ctr"/>
          <a:lstStyle/>
          <a:p>
            <a:pPr indent="0" marL="0">
              <a:buNone/>
            </a:pPr>
            <a:r>
              <a:rPr lang="en-US" sz="2000" b="1" dirty="0">
                <a:solidFill>
                  <a:srgbClr val="15211E"/>
                </a:solidFill>
                <a:latin typeface="Calibri" pitchFamily="34" charset="0"/>
                <a:ea typeface="Calibri" pitchFamily="34" charset="-122"/>
                <a:cs typeface="Calibri" pitchFamily="34" charset="-120"/>
              </a:rPr>
              <a:t>Support decisions</a:t>
            </a:r>
            <a:endParaRPr lang="en-US" sz="2000" dirty="0"/>
          </a:p>
        </p:txBody>
      </p:sp>
      <p:sp>
        <p:nvSpPr>
          <p:cNvPr id="27" name="Text 24"/>
          <p:cNvSpPr txBox="1"/>
          <p:nvPr/>
        </p:nvSpPr>
        <p:spPr>
          <a:xfrm>
            <a:off x="8275320" y="4434840"/>
            <a:ext cx="3108960" cy="1554480"/>
          </a:xfrm>
          <a:prstGeom prst="rect">
            <a:avLst/>
          </a:prstGeom>
          <a:noFill/>
          <a:ln/>
        </p:spPr>
        <p:txBody>
          <a:bodyPr wrap="square" lIns="0" tIns="0" rIns="0" bIns="0" rtlCol="0" anchor="t"/>
          <a:lstStyle/>
          <a:p>
            <a:pPr indent="0" marL="0">
              <a:spcAft>
                <a:spcPts val="400"/>
              </a:spcAft>
              <a:buNone/>
            </a:pPr>
            <a:r>
              <a:rPr lang="en-US" sz="1600" dirty="0">
                <a:solidFill>
                  <a:srgbClr val="4F5D58"/>
                </a:solidFill>
                <a:latin typeface="Calibri" pitchFamily="34" charset="0"/>
                <a:ea typeface="Calibri" pitchFamily="34" charset="-122"/>
                <a:cs typeface="Calibri" pitchFamily="34" charset="-120"/>
              </a:rPr>
              <a:t>Dashboards, reports and insights for faster response</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solution: the DRISHTI situation room</a:t>
            </a:r>
            <a:endParaRPr lang="en-US" dirty="0"/>
          </a:p>
        </p:txBody>
      </p:sp>
      <p:sp>
        <p:nvSpPr>
          <p:cNvPr id="4" name="Text 1"/>
          <p:cNvSpPr txBox="1"/>
          <p:nvPr/>
        </p:nvSpPr>
        <p:spPr>
          <a:xfrm>
            <a:off x="548640" y="1417320"/>
            <a:ext cx="3840480" cy="47548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World map of 138 river gauges in 29 countries</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Risk score 0-100 per gauge, recomputed every live tick</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Anomaly flags against each gauge's own baseline</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Live alert feed that escalates and resolves</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Drill-down hydrographs, weather and history</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One-click situation reports</a:t>
            </a:r>
            <a:endParaRPr lang="en-US" sz="1600" dirty="0"/>
          </a:p>
        </p:txBody>
      </p:sp>
      <p:sp>
        <p:nvSpPr>
          <p:cNvPr id="5" name="frame"/>
          <p:cNvSpPr/>
          <p:nvPr/>
        </p:nvSpPr>
        <p:spPr>
          <a:xfrm>
            <a:off x="4654296" y="1316736"/>
            <a:ext cx="7013448" cy="5071777"/>
          </a:xfrm>
          <a:prstGeom prst="rect">
            <a:avLst>
              <a:gd name="adj" fmla="val 1082"/>
            </a:avLst>
          </a:prstGeom>
          <a:solidFill>
            <a:srgbClr val="FAFBF8"/>
          </a:solidFill>
          <a:ln w="12700">
            <a:solidFill>
              <a:srgbClr val="CBD2CA"/>
            </a:solidFill>
            <a:prstDash val="solid"/>
          </a:ln>
        </p:spPr>
      </p:sp>
      <p:pic>
        <p:nvPicPr>
          <p:cNvPr id="6" name="screenshot" descr="DRISHTI dashboard screenshot">    </p:cNvPr>
          <p:cNvPicPr>
            <a:picLocks noChangeAspect="1"/>
          </p:cNvPicPr>
          <p:nvPr/>
        </p:nvPicPr>
        <p:blipFill>
          <a:blip r:embed="rId1"/>
          <a:stretch>
            <a:fillRect/>
          </a:stretch>
        </p:blipFill>
        <p:spPr>
          <a:xfrm>
            <a:off x="4709160" y="1371600"/>
            <a:ext cx="6903720" cy="4962049"/>
          </a:xfrm>
          <a:prstGeom prst="rect">
            <a:avLst/>
          </a:prstGeom>
        </p:spPr>
      </p:pic>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System architecture</a:t>
            </a:r>
            <a:endParaRPr lang="en-US" dirty="0"/>
          </a:p>
        </p:txBody>
      </p:sp>
      <p:sp>
        <p:nvSpPr>
          <p:cNvPr id="4" name="card"/>
          <p:cNvSpPr/>
          <p:nvPr/>
        </p:nvSpPr>
        <p:spPr>
          <a:xfrm>
            <a:off x="548640" y="1554480"/>
            <a:ext cx="1691640" cy="3383280"/>
          </a:xfrm>
          <a:prstGeom prst="rect">
            <a:avLst>
              <a:gd name="adj" fmla="val 5405"/>
            </a:avLst>
          </a:prstGeom>
          <a:solidFill>
            <a:srgbClr val="FAFBF8"/>
          </a:solidFill>
          <a:ln w="9525">
            <a:solidFill>
              <a:srgbClr val="CBD2CA"/>
            </a:solidFill>
            <a:prstDash val="solid"/>
          </a:ln>
        </p:spPr>
      </p:sp>
      <p:sp>
        <p:nvSpPr>
          <p:cNvPr id="5" name="head"/>
          <p:cNvSpPr/>
          <p:nvPr/>
        </p:nvSpPr>
        <p:spPr>
          <a:xfrm>
            <a:off x="685800" y="1691640"/>
            <a:ext cx="1417320" cy="457200"/>
          </a:xfrm>
          <a:prstGeom prst="rect">
            <a:avLst>
              <a:gd name="adj" fmla="val 16000"/>
            </a:avLst>
          </a:prstGeom>
          <a:solidFill>
            <a:srgbClr val="6D5BA8"/>
          </a:solidFill>
          <a:ln w="12700">
            <a:solidFill>
              <a:srgbClr val="6D5BA8"/>
            </a:solidFill>
            <a:prstDash val="solid"/>
          </a:ln>
        </p:spPr>
      </p:sp>
      <p:sp>
        <p:nvSpPr>
          <p:cNvPr id="6" name="Text 3"/>
          <p:cNvSpPr txBox="1"/>
          <p:nvPr/>
        </p:nvSpPr>
        <p:spPr>
          <a:xfrm>
            <a:off x="685800" y="1691640"/>
            <a:ext cx="1417320" cy="457200"/>
          </a:xfrm>
          <a:prstGeom prst="rect">
            <a:avLst/>
          </a:prstGeom>
          <a:noFill/>
          <a:ln/>
        </p:spPr>
        <p:txBody>
          <a:bodyPr wrap="square" lIns="0" tIns="0" rIns="0" bIns="0" rtlCol="0" anchor="ctr"/>
          <a:lstStyle/>
          <a:p>
            <a:pPr algn="ctr" indent="0" marL="0">
              <a:buNone/>
            </a:pPr>
            <a:r>
              <a:rPr lang="en-US" sz="1400" b="1" dirty="0">
                <a:solidFill>
                  <a:srgbClr val="F1F3EF"/>
                </a:solidFill>
                <a:latin typeface="Calibri" pitchFamily="34" charset="0"/>
                <a:ea typeface="Calibri" pitchFamily="34" charset="-122"/>
                <a:cs typeface="Calibri" pitchFamily="34" charset="-120"/>
              </a:rPr>
              <a:t>Data sources</a:t>
            </a:r>
            <a:endParaRPr lang="en-US" sz="1400" dirty="0"/>
          </a:p>
        </p:txBody>
      </p:sp>
      <p:sp>
        <p:nvSpPr>
          <p:cNvPr id="7" name="Text 4"/>
          <p:cNvSpPr txBox="1"/>
          <p:nvPr/>
        </p:nvSpPr>
        <p:spPr>
          <a:xfrm>
            <a:off x="731520" y="2331720"/>
            <a:ext cx="1325880" cy="2468880"/>
          </a:xfrm>
          <a:prstGeom prst="rect">
            <a:avLst/>
          </a:prstGeom>
          <a:noFill/>
          <a:ln/>
        </p:spPr>
        <p:txBody>
          <a:bodyPr wrap="square" lIns="0" tIns="0" rIns="0" bIns="0" rtlCol="0" anchor="t"/>
          <a:lstStyle/>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Rainfall gauges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River levels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Weather stations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Risk-zone polygons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Historical events</a:t>
            </a:r>
            <a:endParaRPr lang="en-US" sz="1400" dirty="0"/>
          </a:p>
        </p:txBody>
      </p:sp>
      <p:sp>
        <p:nvSpPr>
          <p:cNvPr id="8" name="Text 5"/>
          <p:cNvSpPr txBox="1"/>
          <p:nvPr/>
        </p:nvSpPr>
        <p:spPr>
          <a:xfrm>
            <a:off x="2221992" y="3063240"/>
            <a:ext cx="219456" cy="365760"/>
          </a:xfrm>
          <a:prstGeom prst="rect">
            <a:avLst/>
          </a:prstGeom>
          <a:noFill/>
          <a:ln/>
        </p:spPr>
        <p:txBody>
          <a:bodyPr wrap="square" lIns="0" tIns="0" rIns="0" bIns="0" rtlCol="0" anchor="ctr"/>
          <a:lstStyle/>
          <a:p>
            <a:pPr algn="ctr" indent="0" marL="0">
              <a:buNone/>
            </a:pPr>
            <a:r>
              <a:rPr lang="en-US" sz="1200" dirty="0">
                <a:solidFill>
                  <a:srgbClr val="4F5D58"/>
                </a:solidFill>
                <a:latin typeface="Calibri" pitchFamily="34" charset="0"/>
                <a:ea typeface="Calibri" pitchFamily="34" charset="-122"/>
                <a:cs typeface="Calibri" pitchFamily="34" charset="-120"/>
              </a:rPr>
              <a:t>▶</a:t>
            </a:r>
            <a:endParaRPr lang="en-US" sz="1200" dirty="0"/>
          </a:p>
        </p:txBody>
      </p:sp>
      <p:sp>
        <p:nvSpPr>
          <p:cNvPr id="9" name="card"/>
          <p:cNvSpPr/>
          <p:nvPr/>
        </p:nvSpPr>
        <p:spPr>
          <a:xfrm>
            <a:off x="2423160" y="1554480"/>
            <a:ext cx="1691640" cy="3383280"/>
          </a:xfrm>
          <a:prstGeom prst="rect">
            <a:avLst>
              <a:gd name="adj" fmla="val 5405"/>
            </a:avLst>
          </a:prstGeom>
          <a:solidFill>
            <a:srgbClr val="FAFBF8"/>
          </a:solidFill>
          <a:ln w="9525">
            <a:solidFill>
              <a:srgbClr val="CBD2CA"/>
            </a:solidFill>
            <a:prstDash val="solid"/>
          </a:ln>
        </p:spPr>
      </p:sp>
      <p:sp>
        <p:nvSpPr>
          <p:cNvPr id="10" name="head"/>
          <p:cNvSpPr/>
          <p:nvPr/>
        </p:nvSpPr>
        <p:spPr>
          <a:xfrm>
            <a:off x="2560320" y="1691640"/>
            <a:ext cx="1417320" cy="457200"/>
          </a:xfrm>
          <a:prstGeom prst="rect">
            <a:avLst>
              <a:gd name="adj" fmla="val 16000"/>
            </a:avLst>
          </a:prstGeom>
          <a:solidFill>
            <a:srgbClr val="5B8A8F"/>
          </a:solidFill>
          <a:ln w="12700">
            <a:solidFill>
              <a:srgbClr val="5B8A8F"/>
            </a:solidFill>
            <a:prstDash val="solid"/>
          </a:ln>
        </p:spPr>
      </p:sp>
      <p:sp>
        <p:nvSpPr>
          <p:cNvPr id="11" name="Text 8"/>
          <p:cNvSpPr txBox="1"/>
          <p:nvPr/>
        </p:nvSpPr>
        <p:spPr>
          <a:xfrm>
            <a:off x="2560320" y="1691640"/>
            <a:ext cx="1417320" cy="457200"/>
          </a:xfrm>
          <a:prstGeom prst="rect">
            <a:avLst/>
          </a:prstGeom>
          <a:noFill/>
          <a:ln/>
        </p:spPr>
        <p:txBody>
          <a:bodyPr wrap="square" lIns="0" tIns="0" rIns="0" bIns="0" rtlCol="0" anchor="ctr"/>
          <a:lstStyle/>
          <a:p>
            <a:pPr algn="ctr" indent="0" marL="0">
              <a:buNone/>
            </a:pPr>
            <a:r>
              <a:rPr lang="en-US" sz="1400" b="1" dirty="0">
                <a:solidFill>
                  <a:srgbClr val="F1F3EF"/>
                </a:solidFill>
                <a:latin typeface="Calibri" pitchFamily="34" charset="0"/>
                <a:ea typeface="Calibri" pitchFamily="34" charset="-122"/>
                <a:cs typeface="Calibri" pitchFamily="34" charset="-120"/>
              </a:rPr>
              <a:t>Ingestion</a:t>
            </a:r>
            <a:endParaRPr lang="en-US" sz="1400" dirty="0"/>
          </a:p>
        </p:txBody>
      </p:sp>
      <p:sp>
        <p:nvSpPr>
          <p:cNvPr id="12" name="Text 9"/>
          <p:cNvSpPr txBox="1"/>
          <p:nvPr/>
        </p:nvSpPr>
        <p:spPr>
          <a:xfrm>
            <a:off x="2606040" y="2331720"/>
            <a:ext cx="1325880" cy="2468880"/>
          </a:xfrm>
          <a:prstGeom prst="rect">
            <a:avLst/>
          </a:prstGeom>
          <a:noFill/>
          <a:ln/>
        </p:spPr>
        <p:txBody>
          <a:bodyPr wrap="square" lIns="0" tIns="0" rIns="0" bIns="0" rtlCol="0" anchor="t"/>
          <a:lstStyle/>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Validate &amp; clean</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Normalise units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Synthetic sensor generator</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Enrich with location</a:t>
            </a:r>
            <a:endParaRPr lang="en-US" sz="1400" dirty="0"/>
          </a:p>
        </p:txBody>
      </p:sp>
      <p:sp>
        <p:nvSpPr>
          <p:cNvPr id="13" name="Text 10"/>
          <p:cNvSpPr txBox="1"/>
          <p:nvPr/>
        </p:nvSpPr>
        <p:spPr>
          <a:xfrm>
            <a:off x="4096512" y="3063240"/>
            <a:ext cx="219456" cy="365760"/>
          </a:xfrm>
          <a:prstGeom prst="rect">
            <a:avLst/>
          </a:prstGeom>
          <a:noFill/>
          <a:ln/>
        </p:spPr>
        <p:txBody>
          <a:bodyPr wrap="square" lIns="0" tIns="0" rIns="0" bIns="0" rtlCol="0" anchor="ctr"/>
          <a:lstStyle/>
          <a:p>
            <a:pPr algn="ctr" indent="0" marL="0">
              <a:buNone/>
            </a:pPr>
            <a:r>
              <a:rPr lang="en-US" sz="1200" dirty="0">
                <a:solidFill>
                  <a:srgbClr val="4F5D58"/>
                </a:solidFill>
                <a:latin typeface="Calibri" pitchFamily="34" charset="0"/>
                <a:ea typeface="Calibri" pitchFamily="34" charset="-122"/>
                <a:cs typeface="Calibri" pitchFamily="34" charset="-120"/>
              </a:rPr>
              <a:t>▶</a:t>
            </a:r>
            <a:endParaRPr lang="en-US" sz="1200" dirty="0"/>
          </a:p>
        </p:txBody>
      </p:sp>
      <p:sp>
        <p:nvSpPr>
          <p:cNvPr id="14" name="card"/>
          <p:cNvSpPr/>
          <p:nvPr/>
        </p:nvSpPr>
        <p:spPr>
          <a:xfrm>
            <a:off x="4297680" y="1554480"/>
            <a:ext cx="1691640" cy="3383280"/>
          </a:xfrm>
          <a:prstGeom prst="rect">
            <a:avLst>
              <a:gd name="adj" fmla="val 5405"/>
            </a:avLst>
          </a:prstGeom>
          <a:solidFill>
            <a:srgbClr val="FAFBF8"/>
          </a:solidFill>
          <a:ln w="9525">
            <a:solidFill>
              <a:srgbClr val="CBD2CA"/>
            </a:solidFill>
            <a:prstDash val="solid"/>
          </a:ln>
        </p:spPr>
      </p:sp>
      <p:sp>
        <p:nvSpPr>
          <p:cNvPr id="15" name="head"/>
          <p:cNvSpPr/>
          <p:nvPr/>
        </p:nvSpPr>
        <p:spPr>
          <a:xfrm>
            <a:off x="4434840" y="1691640"/>
            <a:ext cx="1417320" cy="457200"/>
          </a:xfrm>
          <a:prstGeom prst="rect">
            <a:avLst>
              <a:gd name="adj" fmla="val 16000"/>
            </a:avLst>
          </a:prstGeom>
          <a:solidFill>
            <a:srgbClr val="0B5C7A"/>
          </a:solidFill>
          <a:ln w="12700">
            <a:solidFill>
              <a:srgbClr val="0B5C7A"/>
            </a:solidFill>
            <a:prstDash val="solid"/>
          </a:ln>
        </p:spPr>
      </p:sp>
      <p:sp>
        <p:nvSpPr>
          <p:cNvPr id="16" name="Text 13"/>
          <p:cNvSpPr txBox="1"/>
          <p:nvPr/>
        </p:nvSpPr>
        <p:spPr>
          <a:xfrm>
            <a:off x="4434840" y="1691640"/>
            <a:ext cx="1417320" cy="457200"/>
          </a:xfrm>
          <a:prstGeom prst="rect">
            <a:avLst/>
          </a:prstGeom>
          <a:noFill/>
          <a:ln/>
        </p:spPr>
        <p:txBody>
          <a:bodyPr wrap="square" lIns="0" tIns="0" rIns="0" bIns="0" rtlCol="0" anchor="ctr"/>
          <a:lstStyle/>
          <a:p>
            <a:pPr algn="ctr" indent="0" marL="0">
              <a:buNone/>
            </a:pPr>
            <a:r>
              <a:rPr lang="en-US" sz="1400" b="1" dirty="0">
                <a:solidFill>
                  <a:srgbClr val="F1F3EF"/>
                </a:solidFill>
                <a:latin typeface="Calibri" pitchFamily="34" charset="0"/>
                <a:ea typeface="Calibri" pitchFamily="34" charset="-122"/>
                <a:cs typeface="Calibri" pitchFamily="34" charset="-120"/>
              </a:rPr>
              <a:t>MongoDB</a:t>
            </a:r>
            <a:endParaRPr lang="en-US" sz="1400" dirty="0"/>
          </a:p>
        </p:txBody>
      </p:sp>
      <p:sp>
        <p:nvSpPr>
          <p:cNvPr id="17" name="Text 14"/>
          <p:cNvSpPr txBox="1"/>
          <p:nvPr/>
        </p:nvSpPr>
        <p:spPr>
          <a:xfrm>
            <a:off x="4480560" y="2331720"/>
            <a:ext cx="1325880" cy="2468880"/>
          </a:xfrm>
          <a:prstGeom prst="rect">
            <a:avLst/>
          </a:prstGeom>
          <a:noFill/>
          <a:ln/>
        </p:spPr>
        <p:txBody>
          <a:bodyPr wrap="square" lIns="0" tIns="0" rIns="0" bIns="0" rtlCol="0" anchor="t"/>
          <a:lstStyle/>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Time-series collections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2dsphere indexes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Flexible documents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Baselines via $merge</a:t>
            </a:r>
            <a:endParaRPr lang="en-US" sz="1400" dirty="0"/>
          </a:p>
        </p:txBody>
      </p:sp>
      <p:sp>
        <p:nvSpPr>
          <p:cNvPr id="18" name="Text 15"/>
          <p:cNvSpPr txBox="1"/>
          <p:nvPr/>
        </p:nvSpPr>
        <p:spPr>
          <a:xfrm>
            <a:off x="5971032" y="3063240"/>
            <a:ext cx="219456" cy="365760"/>
          </a:xfrm>
          <a:prstGeom prst="rect">
            <a:avLst/>
          </a:prstGeom>
          <a:noFill/>
          <a:ln/>
        </p:spPr>
        <p:txBody>
          <a:bodyPr wrap="square" lIns="0" tIns="0" rIns="0" bIns="0" rtlCol="0" anchor="ctr"/>
          <a:lstStyle/>
          <a:p>
            <a:pPr algn="ctr" indent="0" marL="0">
              <a:buNone/>
            </a:pPr>
            <a:r>
              <a:rPr lang="en-US" sz="1200" dirty="0">
                <a:solidFill>
                  <a:srgbClr val="4F5D58"/>
                </a:solidFill>
                <a:latin typeface="Calibri" pitchFamily="34" charset="0"/>
                <a:ea typeface="Calibri" pitchFamily="34" charset="-122"/>
                <a:cs typeface="Calibri" pitchFamily="34" charset="-120"/>
              </a:rPr>
              <a:t>▶</a:t>
            </a:r>
            <a:endParaRPr lang="en-US" sz="1200" dirty="0"/>
          </a:p>
        </p:txBody>
      </p:sp>
      <p:sp>
        <p:nvSpPr>
          <p:cNvPr id="19" name="card"/>
          <p:cNvSpPr/>
          <p:nvPr/>
        </p:nvSpPr>
        <p:spPr>
          <a:xfrm>
            <a:off x="6172200" y="1554480"/>
            <a:ext cx="1691640" cy="3383280"/>
          </a:xfrm>
          <a:prstGeom prst="rect">
            <a:avLst>
              <a:gd name="adj" fmla="val 5405"/>
            </a:avLst>
          </a:prstGeom>
          <a:solidFill>
            <a:srgbClr val="FAFBF8"/>
          </a:solidFill>
          <a:ln w="9525">
            <a:solidFill>
              <a:srgbClr val="CBD2CA"/>
            </a:solidFill>
            <a:prstDash val="solid"/>
          </a:ln>
        </p:spPr>
      </p:sp>
      <p:sp>
        <p:nvSpPr>
          <p:cNvPr id="20" name="head"/>
          <p:cNvSpPr/>
          <p:nvPr/>
        </p:nvSpPr>
        <p:spPr>
          <a:xfrm>
            <a:off x="6309360" y="1691640"/>
            <a:ext cx="1417320" cy="457200"/>
          </a:xfrm>
          <a:prstGeom prst="rect">
            <a:avLst>
              <a:gd name="adj" fmla="val 16000"/>
            </a:avLst>
          </a:prstGeom>
          <a:solidFill>
            <a:srgbClr val="D1561F"/>
          </a:solidFill>
          <a:ln w="12700">
            <a:solidFill>
              <a:srgbClr val="D1561F"/>
            </a:solidFill>
            <a:prstDash val="solid"/>
          </a:ln>
        </p:spPr>
      </p:sp>
      <p:sp>
        <p:nvSpPr>
          <p:cNvPr id="21" name="Text 18"/>
          <p:cNvSpPr txBox="1"/>
          <p:nvPr/>
        </p:nvSpPr>
        <p:spPr>
          <a:xfrm>
            <a:off x="6309360" y="1691640"/>
            <a:ext cx="1417320" cy="457200"/>
          </a:xfrm>
          <a:prstGeom prst="rect">
            <a:avLst/>
          </a:prstGeom>
          <a:noFill/>
          <a:ln/>
        </p:spPr>
        <p:txBody>
          <a:bodyPr wrap="square" lIns="0" tIns="0" rIns="0" bIns="0" rtlCol="0" anchor="ctr"/>
          <a:lstStyle/>
          <a:p>
            <a:pPr algn="ctr" indent="0" marL="0">
              <a:buNone/>
            </a:pPr>
            <a:r>
              <a:rPr lang="en-US" sz="1400" b="1" dirty="0">
                <a:solidFill>
                  <a:srgbClr val="F1F3EF"/>
                </a:solidFill>
                <a:latin typeface="Calibri" pitchFamily="34" charset="0"/>
                <a:ea typeface="Calibri" pitchFamily="34" charset="-122"/>
                <a:cs typeface="Calibri" pitchFamily="34" charset="-120"/>
              </a:rPr>
              <a:t>Aggregation</a:t>
            </a:r>
            <a:endParaRPr lang="en-US" sz="1400" dirty="0"/>
          </a:p>
        </p:txBody>
      </p:sp>
      <p:sp>
        <p:nvSpPr>
          <p:cNvPr id="22" name="Text 19"/>
          <p:cNvSpPr txBox="1"/>
          <p:nvPr/>
        </p:nvSpPr>
        <p:spPr>
          <a:xfrm>
            <a:off x="6355080" y="2331720"/>
            <a:ext cx="1325880" cy="2468880"/>
          </a:xfrm>
          <a:prstGeom prst="rect">
            <a:avLst/>
          </a:prstGeom>
          <a:noFill/>
          <a:ln/>
        </p:spPr>
        <p:txBody>
          <a:bodyPr wrap="square" lIns="0" tIns="0" rIns="0" bIns="0" rtlCol="0" anchor="t"/>
          <a:lstStyle/>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Risk scoring</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Anomaly detection</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Trends &amp; rankings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Window functions</a:t>
            </a:r>
            <a:endParaRPr lang="en-US" sz="1400" dirty="0"/>
          </a:p>
        </p:txBody>
      </p:sp>
      <p:sp>
        <p:nvSpPr>
          <p:cNvPr id="23" name="Text 20"/>
          <p:cNvSpPr txBox="1"/>
          <p:nvPr/>
        </p:nvSpPr>
        <p:spPr>
          <a:xfrm>
            <a:off x="7845552" y="3063240"/>
            <a:ext cx="219456" cy="365760"/>
          </a:xfrm>
          <a:prstGeom prst="rect">
            <a:avLst/>
          </a:prstGeom>
          <a:noFill/>
          <a:ln/>
        </p:spPr>
        <p:txBody>
          <a:bodyPr wrap="square" lIns="0" tIns="0" rIns="0" bIns="0" rtlCol="0" anchor="ctr"/>
          <a:lstStyle/>
          <a:p>
            <a:pPr algn="ctr" indent="0" marL="0">
              <a:buNone/>
            </a:pPr>
            <a:r>
              <a:rPr lang="en-US" sz="1200" dirty="0">
                <a:solidFill>
                  <a:srgbClr val="4F5D58"/>
                </a:solidFill>
                <a:latin typeface="Calibri" pitchFamily="34" charset="0"/>
                <a:ea typeface="Calibri" pitchFamily="34" charset="-122"/>
                <a:cs typeface="Calibri" pitchFamily="34" charset="-120"/>
              </a:rPr>
              <a:t>▶</a:t>
            </a:r>
            <a:endParaRPr lang="en-US" sz="1200" dirty="0"/>
          </a:p>
        </p:txBody>
      </p:sp>
      <p:sp>
        <p:nvSpPr>
          <p:cNvPr id="24" name="card"/>
          <p:cNvSpPr/>
          <p:nvPr/>
        </p:nvSpPr>
        <p:spPr>
          <a:xfrm>
            <a:off x="8046720" y="1554480"/>
            <a:ext cx="1691640" cy="3383280"/>
          </a:xfrm>
          <a:prstGeom prst="rect">
            <a:avLst>
              <a:gd name="adj" fmla="val 5405"/>
            </a:avLst>
          </a:prstGeom>
          <a:solidFill>
            <a:srgbClr val="FAFBF8"/>
          </a:solidFill>
          <a:ln w="9525">
            <a:solidFill>
              <a:srgbClr val="CBD2CA"/>
            </a:solidFill>
            <a:prstDash val="solid"/>
          </a:ln>
        </p:spPr>
      </p:sp>
      <p:sp>
        <p:nvSpPr>
          <p:cNvPr id="25" name="head"/>
          <p:cNvSpPr/>
          <p:nvPr/>
        </p:nvSpPr>
        <p:spPr>
          <a:xfrm>
            <a:off x="8183880" y="1691640"/>
            <a:ext cx="1417320" cy="457200"/>
          </a:xfrm>
          <a:prstGeom prst="rect">
            <a:avLst>
              <a:gd name="adj" fmla="val 16000"/>
            </a:avLst>
          </a:prstGeom>
          <a:solidFill>
            <a:srgbClr val="C79A1B"/>
          </a:solidFill>
          <a:ln w="12700">
            <a:solidFill>
              <a:srgbClr val="C79A1B"/>
            </a:solidFill>
            <a:prstDash val="solid"/>
          </a:ln>
        </p:spPr>
      </p:sp>
      <p:sp>
        <p:nvSpPr>
          <p:cNvPr id="26" name="Text 23"/>
          <p:cNvSpPr txBox="1"/>
          <p:nvPr/>
        </p:nvSpPr>
        <p:spPr>
          <a:xfrm>
            <a:off x="8183880" y="1691640"/>
            <a:ext cx="1417320" cy="457200"/>
          </a:xfrm>
          <a:prstGeom prst="rect">
            <a:avLst/>
          </a:prstGeom>
          <a:noFill/>
          <a:ln/>
        </p:spPr>
        <p:txBody>
          <a:bodyPr wrap="square" lIns="0" tIns="0" rIns="0" bIns="0" rtlCol="0" anchor="ctr"/>
          <a:lstStyle/>
          <a:p>
            <a:pPr algn="ctr" indent="0" marL="0">
              <a:buNone/>
            </a:pPr>
            <a:r>
              <a:rPr lang="en-US" sz="1400" b="1" dirty="0">
                <a:solidFill>
                  <a:srgbClr val="F1F3EF"/>
                </a:solidFill>
                <a:latin typeface="Calibri" pitchFamily="34" charset="0"/>
                <a:ea typeface="Calibri" pitchFamily="34" charset="-122"/>
                <a:cs typeface="Calibri" pitchFamily="34" charset="-120"/>
              </a:rPr>
              <a:t>Express API</a:t>
            </a:r>
            <a:endParaRPr lang="en-US" sz="1400" dirty="0"/>
          </a:p>
        </p:txBody>
      </p:sp>
      <p:sp>
        <p:nvSpPr>
          <p:cNvPr id="27" name="Text 24"/>
          <p:cNvSpPr txBox="1"/>
          <p:nvPr/>
        </p:nvSpPr>
        <p:spPr>
          <a:xfrm>
            <a:off x="8229600" y="2331720"/>
            <a:ext cx="1325880" cy="2468880"/>
          </a:xfrm>
          <a:prstGeom prst="rect">
            <a:avLst/>
          </a:prstGeom>
          <a:noFill/>
          <a:ln/>
        </p:spPr>
        <p:txBody>
          <a:bodyPr wrap="square" lIns="0" tIns="0" rIns="0" bIns="0" rtlCol="0" anchor="t"/>
          <a:lstStyle/>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REST endpoints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Caching per tick</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Alert lifecycle</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Report generation</a:t>
            </a:r>
            <a:endParaRPr lang="en-US" sz="1400" dirty="0"/>
          </a:p>
        </p:txBody>
      </p:sp>
      <p:sp>
        <p:nvSpPr>
          <p:cNvPr id="28" name="Text 25"/>
          <p:cNvSpPr txBox="1"/>
          <p:nvPr/>
        </p:nvSpPr>
        <p:spPr>
          <a:xfrm>
            <a:off x="9720072" y="3063240"/>
            <a:ext cx="219456" cy="365760"/>
          </a:xfrm>
          <a:prstGeom prst="rect">
            <a:avLst/>
          </a:prstGeom>
          <a:noFill/>
          <a:ln/>
        </p:spPr>
        <p:txBody>
          <a:bodyPr wrap="square" lIns="0" tIns="0" rIns="0" bIns="0" rtlCol="0" anchor="ctr"/>
          <a:lstStyle/>
          <a:p>
            <a:pPr algn="ctr" indent="0" marL="0">
              <a:buNone/>
            </a:pPr>
            <a:r>
              <a:rPr lang="en-US" sz="1200" dirty="0">
                <a:solidFill>
                  <a:srgbClr val="4F5D58"/>
                </a:solidFill>
                <a:latin typeface="Calibri" pitchFamily="34" charset="0"/>
                <a:ea typeface="Calibri" pitchFamily="34" charset="-122"/>
                <a:cs typeface="Calibri" pitchFamily="34" charset="-120"/>
              </a:rPr>
              <a:t>▶</a:t>
            </a:r>
            <a:endParaRPr lang="en-US" sz="1200" dirty="0"/>
          </a:p>
        </p:txBody>
      </p:sp>
      <p:sp>
        <p:nvSpPr>
          <p:cNvPr id="29" name="card"/>
          <p:cNvSpPr/>
          <p:nvPr/>
        </p:nvSpPr>
        <p:spPr>
          <a:xfrm>
            <a:off x="9921240" y="1554480"/>
            <a:ext cx="1691640" cy="3383280"/>
          </a:xfrm>
          <a:prstGeom prst="rect">
            <a:avLst>
              <a:gd name="adj" fmla="val 5405"/>
            </a:avLst>
          </a:prstGeom>
          <a:solidFill>
            <a:srgbClr val="FAFBF8"/>
          </a:solidFill>
          <a:ln w="9525">
            <a:solidFill>
              <a:srgbClr val="CBD2CA"/>
            </a:solidFill>
            <a:prstDash val="solid"/>
          </a:ln>
        </p:spPr>
      </p:sp>
      <p:sp>
        <p:nvSpPr>
          <p:cNvPr id="30" name="head"/>
          <p:cNvSpPr/>
          <p:nvPr/>
        </p:nvSpPr>
        <p:spPr>
          <a:xfrm>
            <a:off x="10058400" y="1691640"/>
            <a:ext cx="1417320" cy="457200"/>
          </a:xfrm>
          <a:prstGeom prst="rect">
            <a:avLst>
              <a:gd name="adj" fmla="val 16000"/>
            </a:avLst>
          </a:prstGeom>
          <a:solidFill>
            <a:srgbClr val="A3102E"/>
          </a:solidFill>
          <a:ln w="12700">
            <a:solidFill>
              <a:srgbClr val="A3102E"/>
            </a:solidFill>
            <a:prstDash val="solid"/>
          </a:ln>
        </p:spPr>
      </p:sp>
      <p:sp>
        <p:nvSpPr>
          <p:cNvPr id="31" name="Text 28"/>
          <p:cNvSpPr txBox="1"/>
          <p:nvPr/>
        </p:nvSpPr>
        <p:spPr>
          <a:xfrm>
            <a:off x="10058400" y="1691640"/>
            <a:ext cx="1417320" cy="457200"/>
          </a:xfrm>
          <a:prstGeom prst="rect">
            <a:avLst/>
          </a:prstGeom>
          <a:noFill/>
          <a:ln/>
        </p:spPr>
        <p:txBody>
          <a:bodyPr wrap="square" lIns="0" tIns="0" rIns="0" bIns="0" rtlCol="0" anchor="ctr"/>
          <a:lstStyle/>
          <a:p>
            <a:pPr algn="ctr" indent="0" marL="0">
              <a:buNone/>
            </a:pPr>
            <a:r>
              <a:rPr lang="en-US" sz="1400" b="1" dirty="0">
                <a:solidFill>
                  <a:srgbClr val="F1F3EF"/>
                </a:solidFill>
                <a:latin typeface="Calibri" pitchFamily="34" charset="0"/>
                <a:ea typeface="Calibri" pitchFamily="34" charset="-122"/>
                <a:cs typeface="Calibri" pitchFamily="34" charset="-120"/>
              </a:rPr>
              <a:t>React dashboard</a:t>
            </a:r>
            <a:endParaRPr lang="en-US" sz="1400" dirty="0"/>
          </a:p>
        </p:txBody>
      </p:sp>
      <p:sp>
        <p:nvSpPr>
          <p:cNvPr id="32" name="Text 29"/>
          <p:cNvSpPr txBox="1"/>
          <p:nvPr/>
        </p:nvSpPr>
        <p:spPr>
          <a:xfrm>
            <a:off x="10104120" y="2331720"/>
            <a:ext cx="1325880" cy="2468880"/>
          </a:xfrm>
          <a:prstGeom prst="rect">
            <a:avLst/>
          </a:prstGeom>
          <a:noFill/>
          <a:ln/>
        </p:spPr>
        <p:txBody>
          <a:bodyPr wrap="square" lIns="0" tIns="0" rIns="0" bIns="0" rtlCol="0" anchor="t"/>
          <a:lstStyle/>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Risk map &amp; heatmap</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Charts &amp; KPIs</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Alert feed</a:t>
            </a:r>
            <a:endParaRPr lang="en-US" sz="1400" dirty="0"/>
          </a:p>
          <a:p>
            <a:pPr indent="0" marL="0">
              <a:spcAft>
                <a:spcPts val="600"/>
              </a:spcAft>
              <a:buNone/>
            </a:pPr>
            <a:r>
              <a:rPr lang="en-US" sz="1400" dirty="0">
                <a:solidFill>
                  <a:srgbClr val="15211E"/>
                </a:solidFill>
                <a:latin typeface="Calibri" pitchFamily="34" charset="0"/>
                <a:ea typeface="Calibri" pitchFamily="34" charset="-122"/>
                <a:cs typeface="Calibri" pitchFamily="34" charset="-120"/>
              </a:rPr>
              <a:t>Reports</a:t>
            </a:r>
            <a:endParaRPr lang="en-US" sz="1400" dirty="0"/>
          </a:p>
        </p:txBody>
      </p:sp>
      <p:sp>
        <p:nvSpPr>
          <p:cNvPr id="33" name="Text 30"/>
          <p:cNvSpPr txBox="1"/>
          <p:nvPr/>
        </p:nvSpPr>
        <p:spPr>
          <a:xfrm>
            <a:off x="548640" y="5257800"/>
            <a:ext cx="11064240" cy="457200"/>
          </a:xfrm>
          <a:prstGeom prst="rect">
            <a:avLst/>
          </a:prstGeom>
          <a:noFill/>
          <a:ln/>
        </p:spPr>
        <p:txBody>
          <a:bodyPr wrap="square" lIns="0" tIns="0" rIns="0" bIns="0" rtlCol="0" anchor="ctr"/>
          <a:lstStyle/>
          <a:p>
            <a:pPr algn="ctr" indent="0" marL="0">
              <a:buNone/>
            </a:pPr>
            <a:r>
              <a:rPr lang="en-US" sz="1600" dirty="0">
                <a:solidFill>
                  <a:srgbClr val="4F5D58"/>
                </a:solidFill>
                <a:latin typeface="Calibri" pitchFamily="34" charset="0"/>
                <a:ea typeface="Calibri" pitchFamily="34" charset="-122"/>
                <a:cs typeface="Calibri" pitchFamily="34" charset="-120"/>
              </a:rPr>
              <a:t>Client-server architecture: React.js frontend  ·  Node.js + Express.js backend  ·  MongoDB database  (as proposed in the synopsis)</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MongoDB data model: 11 collections</a:t>
            </a:r>
            <a:endParaRPr lang="en-US"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017520"/>
                <a:gridCol w="1371600"/>
                <a:gridCol w="4114800"/>
                <a:gridCol w="2560320"/>
              </a:tblGrid>
              <a:tr h="457200">
                <a:tc>
                  <a:txBody>
                    <a:bodyPr/>
                    <a:lstStyle/>
                    <a:p>
                      <a:pPr indent="0" marL="0">
                        <a:buNone/>
                      </a:pPr>
                      <a:r>
                        <a:rPr lang="en-US" sz="1400" b="1" dirty="0">
                          <a:solidFill>
                            <a:srgbClr val="0B5C7A"/>
                          </a:solidFill>
                          <a:latin typeface="Calibri" pitchFamily="34" charset="0"/>
                          <a:ea typeface="Calibri" pitchFamily="34" charset="-122"/>
                          <a:cs typeface="Calibri" pitchFamily="34" charset="-120"/>
                        </a:rPr>
                        <a:t>Collection</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E6EAE4"/>
                    </a:solidFill>
                  </a:tcPr>
                </a:tc>
                <a:tc>
                  <a:txBody>
                    <a:bodyPr/>
                    <a:lstStyle/>
                    <a:p>
                      <a:pPr indent="0" marL="0">
                        <a:buNone/>
                      </a:pPr>
                      <a:r>
                        <a:rPr lang="en-US" sz="1400" b="1" dirty="0">
                          <a:solidFill>
                            <a:srgbClr val="0B5C7A"/>
                          </a:solidFill>
                          <a:latin typeface="Calibri" pitchFamily="34" charset="0"/>
                          <a:ea typeface="Calibri" pitchFamily="34" charset="-122"/>
                          <a:cs typeface="Calibri" pitchFamily="34" charset="-120"/>
                        </a:rPr>
                        <a:t>Kind</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E6EAE4"/>
                    </a:solidFill>
                  </a:tcPr>
                </a:tc>
                <a:tc>
                  <a:txBody>
                    <a:bodyPr/>
                    <a:lstStyle/>
                    <a:p>
                      <a:pPr indent="0" marL="0">
                        <a:buNone/>
                      </a:pPr>
                      <a:r>
                        <a:rPr lang="en-US" sz="1400" b="1" dirty="0">
                          <a:solidFill>
                            <a:srgbClr val="0B5C7A"/>
                          </a:solidFill>
                          <a:latin typeface="Calibri" pitchFamily="34" charset="0"/>
                          <a:ea typeface="Calibri" pitchFamily="34" charset="-122"/>
                          <a:cs typeface="Calibri" pitchFamily="34" charset="-120"/>
                        </a:rPr>
                        <a:t>Holds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E6EAE4"/>
                    </a:solidFill>
                  </a:tcPr>
                </a:tc>
                <a:tc>
                  <a:txBody>
                    <a:bodyPr/>
                    <a:lstStyle/>
                    <a:p>
                      <a:pPr indent="0" marL="0">
                        <a:buNone/>
                      </a:pPr>
                      <a:r>
                        <a:rPr lang="en-US" sz="1400" b="1" dirty="0">
                          <a:solidFill>
                            <a:srgbClr val="0B5C7A"/>
                          </a:solidFill>
                          <a:latin typeface="Calibri" pitchFamily="34" charset="0"/>
                          <a:ea typeface="Calibri" pitchFamily="34" charset="-122"/>
                          <a:cs typeface="Calibri" pitchFamily="34" charset="-120"/>
                        </a:rPr>
                        <a:t>Notable index</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E6EAE4"/>
                    </a:solidFill>
                  </a:tcPr>
                </a:tc>
              </a:tr>
              <a:tr h="457200">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stations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4F5D58"/>
                          </a:solidFill>
                          <a:latin typeface="Calibri" pitchFamily="34" charset="0"/>
                          <a:ea typeface="Calibri" pitchFamily="34" charset="-122"/>
                          <a:cs typeface="Calibri" pitchFamily="34" charset="-120"/>
                        </a:rPr>
                        <a:t>standard</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138 gauges, thresholds, GeoJSON location</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2dsphere on location</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457200">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rainfall_records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5B8A8F"/>
                          </a:solidFill>
                          <a:latin typeface="Calibri" pitchFamily="34" charset="0"/>
                          <a:ea typeface="Calibri" pitchFamily="34" charset="-122"/>
                          <a:cs typeface="Calibri" pitchFamily="34" charset="-120"/>
                        </a:rPr>
                        <a:t>time-series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hourly rainfall mm, intensity class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meta stationId + ts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457200">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river_levels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5B8A8F"/>
                          </a:solidFill>
                          <a:latin typeface="Calibri" pitchFamily="34" charset="0"/>
                          <a:ea typeface="Calibri" pitchFamily="34" charset="-122"/>
                          <a:cs typeface="Calibri" pitchFamily="34" charset="-120"/>
                        </a:rPr>
                        <a:t>time-series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level m, discharge, optional tide</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meta stationId + ts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457200">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weather_data</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5B8A8F"/>
                          </a:solidFill>
                          <a:latin typeface="Calibri" pitchFamily="34" charset="0"/>
                          <a:ea typeface="Calibri" pitchFamily="34" charset="-122"/>
                          <a:cs typeface="Calibri" pitchFamily="34" charset="-120"/>
                        </a:rPr>
                        <a:t>time-series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temperature, humidity, wind, pressure</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meta stationId + ts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457200">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risk_zones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4F5D58"/>
                          </a:solidFill>
                          <a:latin typeface="Calibri" pitchFamily="34" charset="0"/>
                          <a:ea typeface="Calibri" pitchFamily="34" charset="-122"/>
                          <a:cs typeface="Calibri" pitchFamily="34" charset="-120"/>
                        </a:rPr>
                        <a:t>standard</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46 flood-zone polygons + classification</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2dsphere on geometry</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457200">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disaster_events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4F5D58"/>
                          </a:solidFill>
                          <a:latin typeface="Calibri" pitchFamily="34" charset="0"/>
                          <a:ea typeface="Calibri" pitchFamily="34" charset="-122"/>
                          <a:cs typeface="Calibri" pitchFamily="34" charset="-120"/>
                        </a:rPr>
                        <a:t>standard</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900 historical events with impact</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2dsphere + date</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457200">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station_baselines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6D5BA8"/>
                          </a:solidFill>
                          <a:latin typeface="Calibri" pitchFamily="34" charset="0"/>
                          <a:ea typeface="Calibri" pitchFamily="34" charset="-122"/>
                          <a:cs typeface="Calibri" pitchFamily="34" charset="-120"/>
                        </a:rPr>
                        <a:t>derived</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mean, σ, p95, p99 per gauge ($merge)</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_id = stationId</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457200">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risk_snapshots / alerts / reports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6D5BA8"/>
                          </a:solidFill>
                          <a:latin typeface="Calibri" pitchFamily="34" charset="0"/>
                          <a:ea typeface="Calibri" pitchFamily="34" charset="-122"/>
                          <a:cs typeface="Calibri" pitchFamily="34" charset="-120"/>
                        </a:rPr>
                        <a:t>derived</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risk history, alert lifecycle, situation reports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simTime, status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bl>
          </a:graphicData>
        </a:graphic>
      </p:graphicFrame>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Built for big data: measured on this system</a:t>
            </a:r>
            <a:endParaRPr lang="en-US" dirty="0"/>
          </a:p>
        </p:txBody>
      </p:sp>
      <p:sp>
        <p:nvSpPr>
          <p:cNvPr id="4" name="card"/>
          <p:cNvSpPr/>
          <p:nvPr/>
        </p:nvSpPr>
        <p:spPr>
          <a:xfrm>
            <a:off x="548640" y="1371600"/>
            <a:ext cx="3566160" cy="2286000"/>
          </a:xfrm>
          <a:prstGeom prst="rect">
            <a:avLst>
              <a:gd name="adj" fmla="val 4000"/>
            </a:avLst>
          </a:prstGeom>
          <a:solidFill>
            <a:srgbClr val="FAFBF8"/>
          </a:solidFill>
          <a:ln w="9525">
            <a:solidFill>
              <a:srgbClr val="CBD2CA"/>
            </a:solidFill>
            <a:prstDash val="solid"/>
          </a:ln>
        </p:spPr>
      </p:sp>
      <p:sp>
        <p:nvSpPr>
          <p:cNvPr id="5" name="Text 2"/>
          <p:cNvSpPr txBox="1"/>
          <p:nvPr/>
        </p:nvSpPr>
        <p:spPr>
          <a:xfrm>
            <a:off x="777240" y="1554480"/>
            <a:ext cx="3108960" cy="822960"/>
          </a:xfrm>
          <a:prstGeom prst="rect">
            <a:avLst/>
          </a:prstGeom>
          <a:noFill/>
          <a:ln/>
        </p:spPr>
        <p:txBody>
          <a:bodyPr wrap="square" lIns="0" tIns="0" rIns="0" bIns="0" rtlCol="0" anchor="ctr"/>
          <a:lstStyle/>
          <a:p>
            <a:pPr indent="0" marL="0">
              <a:buNone/>
            </a:pPr>
            <a:r>
              <a:rPr lang="en-US" sz="4400" b="1" dirty="0">
                <a:solidFill>
                  <a:srgbClr val="0B5C7A"/>
                </a:solidFill>
                <a:latin typeface="Calibri" pitchFamily="34" charset="0"/>
                <a:ea typeface="Calibri" pitchFamily="34" charset="-122"/>
                <a:cs typeface="Calibri" pitchFamily="34" charset="-120"/>
              </a:rPr>
              <a:t>3.6 M</a:t>
            </a:r>
            <a:endParaRPr lang="en-US" sz="4400" dirty="0"/>
          </a:p>
        </p:txBody>
      </p:sp>
      <p:sp>
        <p:nvSpPr>
          <p:cNvPr id="6" name="Text 3"/>
          <p:cNvSpPr txBox="1"/>
          <p:nvPr/>
        </p:nvSpPr>
        <p:spPr>
          <a:xfrm>
            <a:off x="777240" y="2377440"/>
            <a:ext cx="3108960" cy="365760"/>
          </a:xfrm>
          <a:prstGeom prst="rect">
            <a:avLst/>
          </a:prstGeom>
          <a:noFill/>
          <a:ln/>
        </p:spPr>
        <p:txBody>
          <a:bodyPr wrap="square" lIns="0" tIns="0" rIns="0" bIns="0" rtlCol="0" anchor="ctr"/>
          <a:lstStyle/>
          <a:p>
            <a:pPr indent="0" marL="0">
              <a:buNone/>
            </a:pPr>
            <a:r>
              <a:rPr lang="en-US" sz="1600" b="1" dirty="0">
                <a:solidFill>
                  <a:srgbClr val="15211E"/>
                </a:solidFill>
                <a:latin typeface="Calibri" pitchFamily="34" charset="0"/>
                <a:ea typeface="Calibri" pitchFamily="34" charset="-122"/>
                <a:cs typeface="Calibri" pitchFamily="34" charset="-120"/>
              </a:rPr>
              <a:t>sensor documents</a:t>
            </a:r>
            <a:endParaRPr lang="en-US" sz="1600" dirty="0"/>
          </a:p>
        </p:txBody>
      </p:sp>
      <p:sp>
        <p:nvSpPr>
          <p:cNvPr id="7" name="Text 4"/>
          <p:cNvSpPr txBox="1"/>
          <p:nvPr/>
        </p:nvSpPr>
        <p:spPr>
          <a:xfrm>
            <a:off x="777240" y="2743200"/>
            <a:ext cx="3108960" cy="822960"/>
          </a:xfrm>
          <a:prstGeom prst="rect">
            <a:avLst/>
          </a:prstGeom>
          <a:noFill/>
          <a:ln/>
        </p:spPr>
        <p:txBody>
          <a:bodyPr wrap="square" lIns="0" tIns="0" rIns="0" bIns="0" rtlCol="0" anchor="t"/>
          <a:lstStyle/>
          <a:p>
            <a:pPr indent="0" marL="0">
              <a:buNone/>
            </a:pPr>
            <a:r>
              <a:rPr lang="en-US" sz="1400" dirty="0">
                <a:solidFill>
                  <a:srgbClr val="4F5D58"/>
                </a:solidFill>
                <a:latin typeface="Calibri" pitchFamily="34" charset="0"/>
                <a:ea typeface="Calibri" pitchFamily="34" charset="-122"/>
                <a:cs typeface="Calibri" pitchFamily="34" charset="-120"/>
              </a:rPr>
              <a:t>365 days of hourly rainfall, river and weather readings</a:t>
            </a:r>
            <a:endParaRPr lang="en-US" sz="1400" dirty="0"/>
          </a:p>
        </p:txBody>
      </p:sp>
      <p:sp>
        <p:nvSpPr>
          <p:cNvPr id="8" name="card"/>
          <p:cNvSpPr/>
          <p:nvPr/>
        </p:nvSpPr>
        <p:spPr>
          <a:xfrm>
            <a:off x="4297680" y="1371600"/>
            <a:ext cx="3566160" cy="2286000"/>
          </a:xfrm>
          <a:prstGeom prst="rect">
            <a:avLst>
              <a:gd name="adj" fmla="val 4000"/>
            </a:avLst>
          </a:prstGeom>
          <a:solidFill>
            <a:srgbClr val="FAFBF8"/>
          </a:solidFill>
          <a:ln w="9525">
            <a:solidFill>
              <a:srgbClr val="CBD2CA"/>
            </a:solidFill>
            <a:prstDash val="solid"/>
          </a:ln>
        </p:spPr>
      </p:sp>
      <p:sp>
        <p:nvSpPr>
          <p:cNvPr id="9" name="Text 6"/>
          <p:cNvSpPr txBox="1"/>
          <p:nvPr/>
        </p:nvSpPr>
        <p:spPr>
          <a:xfrm>
            <a:off x="4526280" y="1554480"/>
            <a:ext cx="3108960" cy="822960"/>
          </a:xfrm>
          <a:prstGeom prst="rect">
            <a:avLst/>
          </a:prstGeom>
          <a:noFill/>
          <a:ln/>
        </p:spPr>
        <p:txBody>
          <a:bodyPr wrap="square" lIns="0" tIns="0" rIns="0" bIns="0" rtlCol="0" anchor="ctr"/>
          <a:lstStyle/>
          <a:p>
            <a:pPr indent="0" marL="0">
              <a:buNone/>
            </a:pPr>
            <a:r>
              <a:rPr lang="en-US" sz="4400" b="1" dirty="0">
                <a:solidFill>
                  <a:srgbClr val="5B8A8F"/>
                </a:solidFill>
                <a:latin typeface="Calibri" pitchFamily="34" charset="0"/>
                <a:ea typeface="Calibri" pitchFamily="34" charset="-122"/>
                <a:cs typeface="Calibri" pitchFamily="34" charset="-120"/>
              </a:rPr>
              <a:t>138</a:t>
            </a:r>
            <a:endParaRPr lang="en-US" sz="4400" dirty="0"/>
          </a:p>
        </p:txBody>
      </p:sp>
      <p:sp>
        <p:nvSpPr>
          <p:cNvPr id="10" name="Text 7"/>
          <p:cNvSpPr txBox="1"/>
          <p:nvPr/>
        </p:nvSpPr>
        <p:spPr>
          <a:xfrm>
            <a:off x="4526280" y="2377440"/>
            <a:ext cx="3108960" cy="365760"/>
          </a:xfrm>
          <a:prstGeom prst="rect">
            <a:avLst/>
          </a:prstGeom>
          <a:noFill/>
          <a:ln/>
        </p:spPr>
        <p:txBody>
          <a:bodyPr wrap="square" lIns="0" tIns="0" rIns="0" bIns="0" rtlCol="0" anchor="ctr"/>
          <a:lstStyle/>
          <a:p>
            <a:pPr indent="0" marL="0">
              <a:buNone/>
            </a:pPr>
            <a:r>
              <a:rPr lang="en-US" sz="1600" b="1" dirty="0">
                <a:solidFill>
                  <a:srgbClr val="15211E"/>
                </a:solidFill>
                <a:latin typeface="Calibri" pitchFamily="34" charset="0"/>
                <a:ea typeface="Calibri" pitchFamily="34" charset="-122"/>
                <a:cs typeface="Calibri" pitchFamily="34" charset="-120"/>
              </a:rPr>
              <a:t>gauges · 29 countries</a:t>
            </a:r>
            <a:endParaRPr lang="en-US" sz="1600" dirty="0"/>
          </a:p>
        </p:txBody>
      </p:sp>
      <p:sp>
        <p:nvSpPr>
          <p:cNvPr id="11" name="Text 8"/>
          <p:cNvSpPr txBox="1"/>
          <p:nvPr/>
        </p:nvSpPr>
        <p:spPr>
          <a:xfrm>
            <a:off x="4526280" y="2743200"/>
            <a:ext cx="3108960" cy="822960"/>
          </a:xfrm>
          <a:prstGeom prst="rect">
            <a:avLst/>
          </a:prstGeom>
          <a:noFill/>
          <a:ln/>
        </p:spPr>
        <p:txBody>
          <a:bodyPr wrap="square" lIns="0" tIns="0" rIns="0" bIns="0" rtlCol="0" anchor="t"/>
          <a:lstStyle/>
          <a:p>
            <a:pPr indent="0" marL="0">
              <a:buNone/>
            </a:pPr>
            <a:r>
              <a:rPr lang="en-US" sz="1400" dirty="0">
                <a:solidFill>
                  <a:srgbClr val="4F5D58"/>
                </a:solidFill>
                <a:latin typeface="Calibri" pitchFamily="34" charset="0"/>
                <a:ea typeface="Calibri" pitchFamily="34" charset="-122"/>
                <a:cs typeface="Calibri" pitchFamily="34" charset="-120"/>
              </a:rPr>
              <a:t>Six continents, 46 flood-risk zones</a:t>
            </a:r>
            <a:endParaRPr lang="en-US" sz="1400" dirty="0"/>
          </a:p>
        </p:txBody>
      </p:sp>
      <p:sp>
        <p:nvSpPr>
          <p:cNvPr id="12" name="card"/>
          <p:cNvSpPr/>
          <p:nvPr/>
        </p:nvSpPr>
        <p:spPr>
          <a:xfrm>
            <a:off x="8046720" y="1371600"/>
            <a:ext cx="3566160" cy="2286000"/>
          </a:xfrm>
          <a:prstGeom prst="rect">
            <a:avLst>
              <a:gd name="adj" fmla="val 4000"/>
            </a:avLst>
          </a:prstGeom>
          <a:solidFill>
            <a:srgbClr val="FAFBF8"/>
          </a:solidFill>
          <a:ln w="9525">
            <a:solidFill>
              <a:srgbClr val="CBD2CA"/>
            </a:solidFill>
            <a:prstDash val="solid"/>
          </a:ln>
        </p:spPr>
      </p:sp>
      <p:sp>
        <p:nvSpPr>
          <p:cNvPr id="13" name="Text 10"/>
          <p:cNvSpPr txBox="1"/>
          <p:nvPr/>
        </p:nvSpPr>
        <p:spPr>
          <a:xfrm>
            <a:off x="8275320" y="1554480"/>
            <a:ext cx="3108960" cy="822960"/>
          </a:xfrm>
          <a:prstGeom prst="rect">
            <a:avLst/>
          </a:prstGeom>
          <a:noFill/>
          <a:ln/>
        </p:spPr>
        <p:txBody>
          <a:bodyPr wrap="square" lIns="0" tIns="0" rIns="0" bIns="0" rtlCol="0" anchor="ctr"/>
          <a:lstStyle/>
          <a:p>
            <a:pPr indent="0" marL="0">
              <a:buNone/>
            </a:pPr>
            <a:r>
              <a:rPr lang="en-US" sz="4400" b="1" dirty="0">
                <a:solidFill>
                  <a:srgbClr val="6D5BA8"/>
                </a:solidFill>
                <a:latin typeface="Calibri" pitchFamily="34" charset="0"/>
                <a:ea typeface="Calibri" pitchFamily="34" charset="-122"/>
                <a:cs typeface="Calibri" pitchFamily="34" charset="-120"/>
              </a:rPr>
              <a:t>~3 s</a:t>
            </a:r>
            <a:endParaRPr lang="en-US" sz="4400" dirty="0"/>
          </a:p>
        </p:txBody>
      </p:sp>
      <p:sp>
        <p:nvSpPr>
          <p:cNvPr id="14" name="Text 11"/>
          <p:cNvSpPr txBox="1"/>
          <p:nvPr/>
        </p:nvSpPr>
        <p:spPr>
          <a:xfrm>
            <a:off x="8275320" y="2377440"/>
            <a:ext cx="3108960" cy="365760"/>
          </a:xfrm>
          <a:prstGeom prst="rect">
            <a:avLst/>
          </a:prstGeom>
          <a:noFill/>
          <a:ln/>
        </p:spPr>
        <p:txBody>
          <a:bodyPr wrap="square" lIns="0" tIns="0" rIns="0" bIns="0" rtlCol="0" anchor="ctr"/>
          <a:lstStyle/>
          <a:p>
            <a:pPr indent="0" marL="0">
              <a:buNone/>
            </a:pPr>
            <a:r>
              <a:rPr lang="en-US" sz="1600" b="1" dirty="0">
                <a:solidFill>
                  <a:srgbClr val="15211E"/>
                </a:solidFill>
                <a:latin typeface="Calibri" pitchFamily="34" charset="0"/>
                <a:ea typeface="Calibri" pitchFamily="34" charset="-122"/>
                <a:cs typeface="Calibri" pitchFamily="34" charset="-120"/>
              </a:rPr>
              <a:t>one year, 3 M docs</a:t>
            </a:r>
            <a:endParaRPr lang="en-US" sz="1600" dirty="0"/>
          </a:p>
        </p:txBody>
      </p:sp>
      <p:sp>
        <p:nvSpPr>
          <p:cNvPr id="15" name="Text 12"/>
          <p:cNvSpPr txBox="1"/>
          <p:nvPr/>
        </p:nvSpPr>
        <p:spPr>
          <a:xfrm>
            <a:off x="8275320" y="2743200"/>
            <a:ext cx="3108960" cy="822960"/>
          </a:xfrm>
          <a:prstGeom prst="rect">
            <a:avLst/>
          </a:prstGeom>
          <a:noFill/>
          <a:ln/>
        </p:spPr>
        <p:txBody>
          <a:bodyPr wrap="square" lIns="0" tIns="0" rIns="0" bIns="0" rtlCol="0" anchor="t"/>
          <a:lstStyle/>
          <a:p>
            <a:pPr indent="0" marL="0">
              <a:buNone/>
            </a:pPr>
            <a:r>
              <a:rPr lang="en-US" sz="1400" dirty="0">
                <a:solidFill>
                  <a:srgbClr val="4F5D58"/>
                </a:solidFill>
                <a:latin typeface="Calibri" pitchFamily="34" charset="0"/>
                <a:ea typeface="Calibri" pitchFamily="34" charset="-122"/>
                <a:cs typeface="Calibri" pitchFamily="34" charset="-120"/>
              </a:rPr>
              <a:t>Monthly continent trends via two-level $group + $lookup</a:t>
            </a:r>
            <a:endParaRPr lang="en-US" sz="1400" dirty="0"/>
          </a:p>
        </p:txBody>
      </p:sp>
      <p:sp>
        <p:nvSpPr>
          <p:cNvPr id="16" name="card"/>
          <p:cNvSpPr/>
          <p:nvPr/>
        </p:nvSpPr>
        <p:spPr>
          <a:xfrm>
            <a:off x="548640" y="3840480"/>
            <a:ext cx="3566160" cy="2286000"/>
          </a:xfrm>
          <a:prstGeom prst="rect">
            <a:avLst>
              <a:gd name="adj" fmla="val 4000"/>
            </a:avLst>
          </a:prstGeom>
          <a:solidFill>
            <a:srgbClr val="FAFBF8"/>
          </a:solidFill>
          <a:ln w="9525">
            <a:solidFill>
              <a:srgbClr val="CBD2CA"/>
            </a:solidFill>
            <a:prstDash val="solid"/>
          </a:ln>
        </p:spPr>
      </p:sp>
      <p:sp>
        <p:nvSpPr>
          <p:cNvPr id="17" name="Text 14"/>
          <p:cNvSpPr txBox="1"/>
          <p:nvPr/>
        </p:nvSpPr>
        <p:spPr>
          <a:xfrm>
            <a:off x="777240" y="4023360"/>
            <a:ext cx="3108960" cy="822960"/>
          </a:xfrm>
          <a:prstGeom prst="rect">
            <a:avLst/>
          </a:prstGeom>
          <a:noFill/>
          <a:ln/>
        </p:spPr>
        <p:txBody>
          <a:bodyPr wrap="square" lIns="0" tIns="0" rIns="0" bIns="0" rtlCol="0" anchor="ctr"/>
          <a:lstStyle/>
          <a:p>
            <a:pPr indent="0" marL="0">
              <a:buNone/>
            </a:pPr>
            <a:r>
              <a:rPr lang="en-US" sz="4400" b="1" dirty="0">
                <a:solidFill>
                  <a:srgbClr val="D1561F"/>
                </a:solidFill>
                <a:latin typeface="Calibri" pitchFamily="34" charset="0"/>
                <a:ea typeface="Calibri" pitchFamily="34" charset="-122"/>
                <a:cs typeface="Calibri" pitchFamily="34" charset="-120"/>
              </a:rPr>
              <a:t>&lt; 50 ms</a:t>
            </a:r>
            <a:endParaRPr lang="en-US" sz="4400" dirty="0"/>
          </a:p>
        </p:txBody>
      </p:sp>
      <p:sp>
        <p:nvSpPr>
          <p:cNvPr id="18" name="Text 15"/>
          <p:cNvSpPr txBox="1"/>
          <p:nvPr/>
        </p:nvSpPr>
        <p:spPr>
          <a:xfrm>
            <a:off x="777240" y="4846320"/>
            <a:ext cx="3108960" cy="365760"/>
          </a:xfrm>
          <a:prstGeom prst="rect">
            <a:avLst/>
          </a:prstGeom>
          <a:noFill/>
          <a:ln/>
        </p:spPr>
        <p:txBody>
          <a:bodyPr wrap="square" lIns="0" tIns="0" rIns="0" bIns="0" rtlCol="0" anchor="ctr"/>
          <a:lstStyle/>
          <a:p>
            <a:pPr indent="0" marL="0">
              <a:buNone/>
            </a:pPr>
            <a:r>
              <a:rPr lang="en-US" sz="1600" b="1" dirty="0">
                <a:solidFill>
                  <a:srgbClr val="15211E"/>
                </a:solidFill>
                <a:latin typeface="Calibri" pitchFamily="34" charset="0"/>
                <a:ea typeface="Calibri" pitchFamily="34" charset="-122"/>
                <a:cs typeface="Calibri" pitchFamily="34" charset="-120"/>
              </a:rPr>
              <a:t>historical $facet</a:t>
            </a:r>
            <a:endParaRPr lang="en-US" sz="1600" dirty="0"/>
          </a:p>
        </p:txBody>
      </p:sp>
      <p:sp>
        <p:nvSpPr>
          <p:cNvPr id="19" name="Text 16"/>
          <p:cNvSpPr txBox="1"/>
          <p:nvPr/>
        </p:nvSpPr>
        <p:spPr>
          <a:xfrm>
            <a:off x="777240" y="5212080"/>
            <a:ext cx="3108960" cy="822960"/>
          </a:xfrm>
          <a:prstGeom prst="rect">
            <a:avLst/>
          </a:prstGeom>
          <a:noFill/>
          <a:ln/>
        </p:spPr>
        <p:txBody>
          <a:bodyPr wrap="square" lIns="0" tIns="0" rIns="0" bIns="0" rtlCol="0" anchor="t"/>
          <a:lstStyle/>
          <a:p>
            <a:pPr indent="0" marL="0">
              <a:buNone/>
            </a:pPr>
            <a:r>
              <a:rPr lang="en-US" sz="1400" dirty="0">
                <a:solidFill>
                  <a:srgbClr val="4F5D58"/>
                </a:solidFill>
                <a:latin typeface="Calibri" pitchFamily="34" charset="0"/>
                <a:ea typeface="Calibri" pitchFamily="34" charset="-122"/>
                <a:cs typeface="Calibri" pitchFamily="34" charset="-120"/>
              </a:rPr>
              <a:t>900 events summarised by year, type, month, continent</a:t>
            </a:r>
            <a:endParaRPr lang="en-US" sz="1400" dirty="0"/>
          </a:p>
        </p:txBody>
      </p:sp>
      <p:sp>
        <p:nvSpPr>
          <p:cNvPr id="20" name="card"/>
          <p:cNvSpPr/>
          <p:nvPr/>
        </p:nvSpPr>
        <p:spPr>
          <a:xfrm>
            <a:off x="4297680" y="3840480"/>
            <a:ext cx="3566160" cy="2286000"/>
          </a:xfrm>
          <a:prstGeom prst="rect">
            <a:avLst>
              <a:gd name="adj" fmla="val 4000"/>
            </a:avLst>
          </a:prstGeom>
          <a:solidFill>
            <a:srgbClr val="FAFBF8"/>
          </a:solidFill>
          <a:ln w="9525">
            <a:solidFill>
              <a:srgbClr val="CBD2CA"/>
            </a:solidFill>
            <a:prstDash val="solid"/>
          </a:ln>
        </p:spPr>
      </p:sp>
      <p:sp>
        <p:nvSpPr>
          <p:cNvPr id="21" name="Text 18"/>
          <p:cNvSpPr txBox="1"/>
          <p:nvPr/>
        </p:nvSpPr>
        <p:spPr>
          <a:xfrm>
            <a:off x="4526280" y="4023360"/>
            <a:ext cx="3108960" cy="822960"/>
          </a:xfrm>
          <a:prstGeom prst="rect">
            <a:avLst/>
          </a:prstGeom>
          <a:noFill/>
          <a:ln/>
        </p:spPr>
        <p:txBody>
          <a:bodyPr wrap="square" lIns="0" tIns="0" rIns="0" bIns="0" rtlCol="0" anchor="ctr"/>
          <a:lstStyle/>
          <a:p>
            <a:pPr indent="0" marL="0">
              <a:buNone/>
            </a:pPr>
            <a:r>
              <a:rPr lang="en-US" sz="4400" b="1" dirty="0">
                <a:solidFill>
                  <a:srgbClr val="C79A1B"/>
                </a:solidFill>
                <a:latin typeface="Calibri" pitchFamily="34" charset="0"/>
                <a:ea typeface="Calibri" pitchFamily="34" charset="-122"/>
                <a:cs typeface="Calibri" pitchFamily="34" charset="-120"/>
              </a:rPr>
              <a:t>~3 ms</a:t>
            </a:r>
            <a:endParaRPr lang="en-US" sz="4400" dirty="0"/>
          </a:p>
        </p:txBody>
      </p:sp>
      <p:sp>
        <p:nvSpPr>
          <p:cNvPr id="22" name="Text 19"/>
          <p:cNvSpPr txBox="1"/>
          <p:nvPr/>
        </p:nvSpPr>
        <p:spPr>
          <a:xfrm>
            <a:off x="4526280" y="4846320"/>
            <a:ext cx="3108960" cy="365760"/>
          </a:xfrm>
          <a:prstGeom prst="rect">
            <a:avLst/>
          </a:prstGeom>
          <a:noFill/>
          <a:ln/>
        </p:spPr>
        <p:txBody>
          <a:bodyPr wrap="square" lIns="0" tIns="0" rIns="0" bIns="0" rtlCol="0" anchor="ctr"/>
          <a:lstStyle/>
          <a:p>
            <a:pPr indent="0" marL="0">
              <a:buNone/>
            </a:pPr>
            <a:r>
              <a:rPr lang="en-US" sz="1600" b="1" dirty="0">
                <a:solidFill>
                  <a:srgbClr val="15211E"/>
                </a:solidFill>
                <a:latin typeface="Calibri" pitchFamily="34" charset="0"/>
                <a:ea typeface="Calibri" pitchFamily="34" charset="-122"/>
                <a:cs typeface="Calibri" pitchFamily="34" charset="-120"/>
              </a:rPr>
              <a:t>$geoNear query</a:t>
            </a:r>
            <a:endParaRPr lang="en-US" sz="1600" dirty="0"/>
          </a:p>
        </p:txBody>
      </p:sp>
      <p:sp>
        <p:nvSpPr>
          <p:cNvPr id="23" name="Text 20"/>
          <p:cNvSpPr txBox="1"/>
          <p:nvPr/>
        </p:nvSpPr>
        <p:spPr>
          <a:xfrm>
            <a:off x="4526280" y="5212080"/>
            <a:ext cx="3108960" cy="822960"/>
          </a:xfrm>
          <a:prstGeom prst="rect">
            <a:avLst/>
          </a:prstGeom>
          <a:noFill/>
          <a:ln/>
        </p:spPr>
        <p:txBody>
          <a:bodyPr wrap="square" lIns="0" tIns="0" rIns="0" bIns="0" rtlCol="0" anchor="t"/>
          <a:lstStyle/>
          <a:p>
            <a:pPr indent="0" marL="0">
              <a:buNone/>
            </a:pPr>
            <a:r>
              <a:rPr lang="en-US" sz="1400" dirty="0">
                <a:solidFill>
                  <a:srgbClr val="4F5D58"/>
                </a:solidFill>
                <a:latin typeface="Calibri" pitchFamily="34" charset="0"/>
                <a:ea typeface="Calibri" pitchFamily="34" charset="-122"/>
                <a:cs typeface="Calibri" pitchFamily="34" charset="-120"/>
              </a:rPr>
              <a:t>Gauges within 400 km of a point, 2dsphere index</a:t>
            </a:r>
            <a:endParaRPr lang="en-US" sz="1400" dirty="0"/>
          </a:p>
        </p:txBody>
      </p:sp>
      <p:sp>
        <p:nvSpPr>
          <p:cNvPr id="24" name="card"/>
          <p:cNvSpPr/>
          <p:nvPr/>
        </p:nvSpPr>
        <p:spPr>
          <a:xfrm>
            <a:off x="8046720" y="3840480"/>
            <a:ext cx="3566160" cy="2286000"/>
          </a:xfrm>
          <a:prstGeom prst="rect">
            <a:avLst>
              <a:gd name="adj" fmla="val 4000"/>
            </a:avLst>
          </a:prstGeom>
          <a:solidFill>
            <a:srgbClr val="FAFBF8"/>
          </a:solidFill>
          <a:ln w="9525">
            <a:solidFill>
              <a:srgbClr val="CBD2CA"/>
            </a:solidFill>
            <a:prstDash val="solid"/>
          </a:ln>
        </p:spPr>
      </p:sp>
      <p:sp>
        <p:nvSpPr>
          <p:cNvPr id="25" name="Text 22"/>
          <p:cNvSpPr txBox="1"/>
          <p:nvPr/>
        </p:nvSpPr>
        <p:spPr>
          <a:xfrm>
            <a:off x="8275320" y="4023360"/>
            <a:ext cx="3108960" cy="822960"/>
          </a:xfrm>
          <a:prstGeom prst="rect">
            <a:avLst/>
          </a:prstGeom>
          <a:noFill/>
          <a:ln/>
        </p:spPr>
        <p:txBody>
          <a:bodyPr wrap="square" lIns="0" tIns="0" rIns="0" bIns="0" rtlCol="0" anchor="ctr"/>
          <a:lstStyle/>
          <a:p>
            <a:pPr indent="0" marL="0">
              <a:buNone/>
            </a:pPr>
            <a:r>
              <a:rPr lang="en-US" sz="4400" b="1" dirty="0">
                <a:solidFill>
                  <a:srgbClr val="A3102E"/>
                </a:solidFill>
                <a:latin typeface="Calibri" pitchFamily="34" charset="0"/>
                <a:ea typeface="Calibri" pitchFamily="34" charset="-122"/>
                <a:cs typeface="Calibri" pitchFamily="34" charset="-120"/>
              </a:rPr>
              <a:t>6 s</a:t>
            </a:r>
            <a:endParaRPr lang="en-US" sz="4400" dirty="0"/>
          </a:p>
        </p:txBody>
      </p:sp>
      <p:sp>
        <p:nvSpPr>
          <p:cNvPr id="26" name="Text 23"/>
          <p:cNvSpPr txBox="1"/>
          <p:nvPr/>
        </p:nvSpPr>
        <p:spPr>
          <a:xfrm>
            <a:off x="8275320" y="4846320"/>
            <a:ext cx="3108960" cy="365760"/>
          </a:xfrm>
          <a:prstGeom prst="rect">
            <a:avLst/>
          </a:prstGeom>
          <a:noFill/>
          <a:ln/>
        </p:spPr>
        <p:txBody>
          <a:bodyPr wrap="square" lIns="0" tIns="0" rIns="0" bIns="0" rtlCol="0" anchor="ctr"/>
          <a:lstStyle/>
          <a:p>
            <a:pPr indent="0" marL="0">
              <a:buNone/>
            </a:pPr>
            <a:r>
              <a:rPr lang="en-US" sz="1600" b="1" dirty="0">
                <a:solidFill>
                  <a:srgbClr val="15211E"/>
                </a:solidFill>
                <a:latin typeface="Calibri" pitchFamily="34" charset="0"/>
                <a:ea typeface="Calibri" pitchFamily="34" charset="-122"/>
                <a:cs typeface="Calibri" pitchFamily="34" charset="-120"/>
              </a:rPr>
              <a:t>live tick</a:t>
            </a:r>
            <a:endParaRPr lang="en-US" sz="1600" dirty="0"/>
          </a:p>
        </p:txBody>
      </p:sp>
      <p:sp>
        <p:nvSpPr>
          <p:cNvPr id="27" name="Text 24"/>
          <p:cNvSpPr txBox="1"/>
          <p:nvPr/>
        </p:nvSpPr>
        <p:spPr>
          <a:xfrm>
            <a:off x="8275320" y="5212080"/>
            <a:ext cx="3108960" cy="822960"/>
          </a:xfrm>
          <a:prstGeom prst="rect">
            <a:avLst/>
          </a:prstGeom>
          <a:noFill/>
          <a:ln/>
        </p:spPr>
        <p:txBody>
          <a:bodyPr wrap="square" lIns="0" tIns="0" rIns="0" bIns="0" rtlCol="0" anchor="t"/>
          <a:lstStyle/>
          <a:p>
            <a:pPr indent="0" marL="0">
              <a:buNone/>
            </a:pPr>
            <a:r>
              <a:rPr lang="en-US" sz="1400" dirty="0">
                <a:solidFill>
                  <a:srgbClr val="4F5D58"/>
                </a:solidFill>
                <a:latin typeface="Calibri" pitchFamily="34" charset="0"/>
                <a:ea typeface="Calibri" pitchFamily="34" charset="-122"/>
                <a:cs typeface="Calibri" pitchFamily="34" charset="-120"/>
              </a:rPr>
              <a:t>New readings stored, risk re-scored, alerts updated</a:t>
            </a:r>
            <a:endParaRPr lang="en-US" sz="1400" dirty="0"/>
          </a:p>
        </p:txBody>
      </p:sp>
      <p:sp>
        <p:nvSpPr>
          <p:cNvPr id="28" name="Text 25"/>
          <p:cNvSpPr txBox="1"/>
          <p:nvPr/>
        </p:nvSpPr>
        <p:spPr>
          <a:xfrm>
            <a:off x="548640" y="6126480"/>
            <a:ext cx="11064240" cy="274320"/>
          </a:xfrm>
          <a:prstGeom prst="rect">
            <a:avLst/>
          </a:prstGeom>
          <a:noFill/>
          <a:ln/>
        </p:spPr>
        <p:txBody>
          <a:bodyPr wrap="square" lIns="0" tIns="0" rIns="0" bIns="0" rtlCol="0" anchor="ctr"/>
          <a:lstStyle/>
          <a:p>
            <a:pPr indent="0" marL="0">
              <a:buNone/>
            </a:pPr>
            <a:r>
              <a:rPr lang="en-US" sz="1200" i="1" dirty="0">
                <a:solidFill>
                  <a:srgbClr val="4F5D58"/>
                </a:solidFill>
                <a:latin typeface="Calibri" pitchFamily="34" charset="0"/>
                <a:ea typeface="Calibri" pitchFamily="34" charset="-122"/>
                <a:cs typeface="Calibri" pitchFamily="34" charset="-120"/>
              </a:rPr>
              <a:t>Readings are synthetic (generated by a hydrological-style simulator) as permitted by the synopsis; gauge locations use real flood-prone cities.</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Why MongoDB: capabilities we actually use</a:t>
            </a:r>
            <a:endParaRPr lang="en-US" dirty="0"/>
          </a:p>
        </p:txBody>
      </p:sp>
      <p:sp>
        <p:nvSpPr>
          <p:cNvPr id="4" name="card"/>
          <p:cNvSpPr/>
          <p:nvPr/>
        </p:nvSpPr>
        <p:spPr>
          <a:xfrm>
            <a:off x="548640" y="1371600"/>
            <a:ext cx="3566160" cy="2286000"/>
          </a:xfrm>
          <a:prstGeom prst="rect">
            <a:avLst>
              <a:gd name="adj" fmla="val 4000"/>
            </a:avLst>
          </a:prstGeom>
          <a:solidFill>
            <a:srgbClr val="FAFBF8"/>
          </a:solidFill>
          <a:ln w="9525">
            <a:solidFill>
              <a:srgbClr val="CBD2CA"/>
            </a:solidFill>
            <a:prstDash val="solid"/>
          </a:ln>
        </p:spPr>
      </p:sp>
      <p:sp>
        <p:nvSpPr>
          <p:cNvPr id="5" name="dot"/>
          <p:cNvSpPr/>
          <p:nvPr/>
        </p:nvSpPr>
        <p:spPr>
          <a:xfrm>
            <a:off x="777240" y="1600200"/>
            <a:ext cx="201168" cy="201168"/>
          </a:xfrm>
          <a:prstGeom prst="rect">
            <a:avLst/>
          </a:prstGeom>
          <a:solidFill>
            <a:srgbClr val="0B5C7A"/>
          </a:solidFill>
          <a:ln w="12700">
            <a:solidFill>
              <a:srgbClr val="0B5C7A"/>
            </a:solidFill>
            <a:prstDash val="solid"/>
          </a:ln>
        </p:spPr>
      </p:sp>
      <p:sp>
        <p:nvSpPr>
          <p:cNvPr id="6" name="Text 3"/>
          <p:cNvSpPr txBox="1"/>
          <p:nvPr/>
        </p:nvSpPr>
        <p:spPr>
          <a:xfrm>
            <a:off x="1097280" y="1517904"/>
            <a:ext cx="283464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Time-series collections</a:t>
            </a:r>
            <a:endParaRPr lang="en-US" sz="1800" dirty="0"/>
          </a:p>
        </p:txBody>
      </p:sp>
      <p:sp>
        <p:nvSpPr>
          <p:cNvPr id="7" name="Text 4"/>
          <p:cNvSpPr txBox="1"/>
          <p:nvPr/>
        </p:nvSpPr>
        <p:spPr>
          <a:xfrm>
            <a:off x="777240" y="19659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4F5D58"/>
                </a:solidFill>
                <a:latin typeface="Calibri" pitchFamily="34" charset="0"/>
                <a:ea typeface="Calibri" pitchFamily="34" charset="-122"/>
                <a:cs typeface="Calibri" pitchFamily="34" charset="-120"/>
              </a:rPr>
              <a:t>Hourly sensor readings bucketed by station and time for compact storage and fast range scans.</a:t>
            </a:r>
            <a:endParaRPr lang="en-US" sz="1500" dirty="0"/>
          </a:p>
        </p:txBody>
      </p:sp>
      <p:sp>
        <p:nvSpPr>
          <p:cNvPr id="8" name="card"/>
          <p:cNvSpPr/>
          <p:nvPr/>
        </p:nvSpPr>
        <p:spPr>
          <a:xfrm>
            <a:off x="4297680" y="1371600"/>
            <a:ext cx="3566160" cy="2286000"/>
          </a:xfrm>
          <a:prstGeom prst="rect">
            <a:avLst>
              <a:gd name="adj" fmla="val 4000"/>
            </a:avLst>
          </a:prstGeom>
          <a:solidFill>
            <a:srgbClr val="FAFBF8"/>
          </a:solidFill>
          <a:ln w="9525">
            <a:solidFill>
              <a:srgbClr val="CBD2CA"/>
            </a:solidFill>
            <a:prstDash val="solid"/>
          </a:ln>
        </p:spPr>
      </p:sp>
      <p:sp>
        <p:nvSpPr>
          <p:cNvPr id="9" name="dot"/>
          <p:cNvSpPr/>
          <p:nvPr/>
        </p:nvSpPr>
        <p:spPr>
          <a:xfrm>
            <a:off x="4526280" y="1600200"/>
            <a:ext cx="201168" cy="201168"/>
          </a:xfrm>
          <a:prstGeom prst="rect">
            <a:avLst/>
          </a:prstGeom>
          <a:solidFill>
            <a:srgbClr val="6D5BA8"/>
          </a:solidFill>
          <a:ln w="12700">
            <a:solidFill>
              <a:srgbClr val="6D5BA8"/>
            </a:solidFill>
            <a:prstDash val="solid"/>
          </a:ln>
        </p:spPr>
      </p:sp>
      <p:sp>
        <p:nvSpPr>
          <p:cNvPr id="10" name="Text 7"/>
          <p:cNvSpPr txBox="1"/>
          <p:nvPr/>
        </p:nvSpPr>
        <p:spPr>
          <a:xfrm>
            <a:off x="4846320" y="1517904"/>
            <a:ext cx="283464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Aggregation framework</a:t>
            </a:r>
            <a:endParaRPr lang="en-US" sz="1800" dirty="0"/>
          </a:p>
        </p:txBody>
      </p:sp>
      <p:sp>
        <p:nvSpPr>
          <p:cNvPr id="11" name="Text 8"/>
          <p:cNvSpPr txBox="1"/>
          <p:nvPr/>
        </p:nvSpPr>
        <p:spPr>
          <a:xfrm>
            <a:off x="4526280" y="19659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4F5D58"/>
                </a:solidFill>
                <a:latin typeface="Calibri" pitchFamily="34" charset="0"/>
                <a:ea typeface="Calibri" pitchFamily="34" charset="-122"/>
                <a:cs typeface="Calibri" pitchFamily="34" charset="-120"/>
              </a:rPr>
              <a:t>$group, $lookup, $facet, $dateTrunc and $merge run the analytics inside the database.</a:t>
            </a:r>
            <a:endParaRPr lang="en-US" sz="1500" dirty="0"/>
          </a:p>
        </p:txBody>
      </p:sp>
      <p:sp>
        <p:nvSpPr>
          <p:cNvPr id="12" name="card"/>
          <p:cNvSpPr/>
          <p:nvPr/>
        </p:nvSpPr>
        <p:spPr>
          <a:xfrm>
            <a:off x="8046720" y="1371600"/>
            <a:ext cx="3566160" cy="2286000"/>
          </a:xfrm>
          <a:prstGeom prst="rect">
            <a:avLst>
              <a:gd name="adj" fmla="val 4000"/>
            </a:avLst>
          </a:prstGeom>
          <a:solidFill>
            <a:srgbClr val="FAFBF8"/>
          </a:solidFill>
          <a:ln w="9525">
            <a:solidFill>
              <a:srgbClr val="CBD2CA"/>
            </a:solidFill>
            <a:prstDash val="solid"/>
          </a:ln>
        </p:spPr>
      </p:sp>
      <p:sp>
        <p:nvSpPr>
          <p:cNvPr id="13" name="dot"/>
          <p:cNvSpPr/>
          <p:nvPr/>
        </p:nvSpPr>
        <p:spPr>
          <a:xfrm>
            <a:off x="8275320" y="1600200"/>
            <a:ext cx="201168" cy="201168"/>
          </a:xfrm>
          <a:prstGeom prst="rect">
            <a:avLst/>
          </a:prstGeom>
          <a:solidFill>
            <a:srgbClr val="D1561F"/>
          </a:solidFill>
          <a:ln w="12700">
            <a:solidFill>
              <a:srgbClr val="D1561F"/>
            </a:solidFill>
            <a:prstDash val="solid"/>
          </a:ln>
        </p:spPr>
      </p:sp>
      <p:sp>
        <p:nvSpPr>
          <p:cNvPr id="14" name="Text 11"/>
          <p:cNvSpPr txBox="1"/>
          <p:nvPr/>
        </p:nvSpPr>
        <p:spPr>
          <a:xfrm>
            <a:off x="8595360" y="1517904"/>
            <a:ext cx="283464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Window functions</a:t>
            </a:r>
            <a:endParaRPr lang="en-US" sz="1800" dirty="0"/>
          </a:p>
        </p:txBody>
      </p:sp>
      <p:sp>
        <p:nvSpPr>
          <p:cNvPr id="15" name="Text 12"/>
          <p:cNvSpPr txBox="1"/>
          <p:nvPr/>
        </p:nvSpPr>
        <p:spPr>
          <a:xfrm>
            <a:off x="8275320" y="19659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4F5D58"/>
                </a:solidFill>
                <a:latin typeface="Calibri" pitchFamily="34" charset="0"/>
                <a:ea typeface="Calibri" pitchFamily="34" charset="-122"/>
                <a:cs typeface="Calibri" pitchFamily="34" charset="-120"/>
              </a:rPr>
              <a:t>$setWindowFields with $derivative gives river rate-of-rise over a sliding 3-hour range.</a:t>
            </a:r>
            <a:endParaRPr lang="en-US" sz="1500" dirty="0"/>
          </a:p>
        </p:txBody>
      </p:sp>
      <p:sp>
        <p:nvSpPr>
          <p:cNvPr id="16" name="card"/>
          <p:cNvSpPr/>
          <p:nvPr/>
        </p:nvSpPr>
        <p:spPr>
          <a:xfrm>
            <a:off x="548640" y="3840480"/>
            <a:ext cx="3566160" cy="2286000"/>
          </a:xfrm>
          <a:prstGeom prst="rect">
            <a:avLst>
              <a:gd name="adj" fmla="val 4000"/>
            </a:avLst>
          </a:prstGeom>
          <a:solidFill>
            <a:srgbClr val="FAFBF8"/>
          </a:solidFill>
          <a:ln w="9525">
            <a:solidFill>
              <a:srgbClr val="CBD2CA"/>
            </a:solidFill>
            <a:prstDash val="solid"/>
          </a:ln>
        </p:spPr>
      </p:sp>
      <p:sp>
        <p:nvSpPr>
          <p:cNvPr id="17" name="dot"/>
          <p:cNvSpPr/>
          <p:nvPr/>
        </p:nvSpPr>
        <p:spPr>
          <a:xfrm>
            <a:off x="777240" y="4069080"/>
            <a:ext cx="201168" cy="201168"/>
          </a:xfrm>
          <a:prstGeom prst="rect">
            <a:avLst/>
          </a:prstGeom>
          <a:solidFill>
            <a:srgbClr val="5B8A8F"/>
          </a:solidFill>
          <a:ln w="12700">
            <a:solidFill>
              <a:srgbClr val="5B8A8F"/>
            </a:solidFill>
            <a:prstDash val="solid"/>
          </a:ln>
        </p:spPr>
      </p:sp>
      <p:sp>
        <p:nvSpPr>
          <p:cNvPr id="18" name="Text 15"/>
          <p:cNvSpPr txBox="1"/>
          <p:nvPr/>
        </p:nvSpPr>
        <p:spPr>
          <a:xfrm>
            <a:off x="1097280" y="3986784"/>
            <a:ext cx="283464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Geospatial queries</a:t>
            </a:r>
            <a:endParaRPr lang="en-US" sz="1800" dirty="0"/>
          </a:p>
        </p:txBody>
      </p:sp>
      <p:sp>
        <p:nvSpPr>
          <p:cNvPr id="19" name="Text 16"/>
          <p:cNvSpPr txBox="1"/>
          <p:nvPr/>
        </p:nvSpPr>
        <p:spPr>
          <a:xfrm>
            <a:off x="777240" y="443484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4F5D58"/>
                </a:solidFill>
                <a:latin typeface="Calibri" pitchFamily="34" charset="0"/>
                <a:ea typeface="Calibri" pitchFamily="34" charset="-122"/>
                <a:cs typeface="Calibri" pitchFamily="34" charset="-120"/>
              </a:rPr>
              <a:t>2dsphere indexes with $geoNear and $geoWithin for nearest gauges and zone membership.</a:t>
            </a:r>
            <a:endParaRPr lang="en-US" sz="1500" dirty="0"/>
          </a:p>
        </p:txBody>
      </p:sp>
      <p:sp>
        <p:nvSpPr>
          <p:cNvPr id="20" name="card"/>
          <p:cNvSpPr/>
          <p:nvPr/>
        </p:nvSpPr>
        <p:spPr>
          <a:xfrm>
            <a:off x="4297680" y="3840480"/>
            <a:ext cx="3566160" cy="2286000"/>
          </a:xfrm>
          <a:prstGeom prst="rect">
            <a:avLst>
              <a:gd name="adj" fmla="val 4000"/>
            </a:avLst>
          </a:prstGeom>
          <a:solidFill>
            <a:srgbClr val="FAFBF8"/>
          </a:solidFill>
          <a:ln w="9525">
            <a:solidFill>
              <a:srgbClr val="CBD2CA"/>
            </a:solidFill>
            <a:prstDash val="solid"/>
          </a:ln>
        </p:spPr>
      </p:sp>
      <p:sp>
        <p:nvSpPr>
          <p:cNvPr id="21" name="dot"/>
          <p:cNvSpPr/>
          <p:nvPr/>
        </p:nvSpPr>
        <p:spPr>
          <a:xfrm>
            <a:off x="4526280" y="4069080"/>
            <a:ext cx="201168" cy="201168"/>
          </a:xfrm>
          <a:prstGeom prst="rect">
            <a:avLst/>
          </a:prstGeom>
          <a:solidFill>
            <a:srgbClr val="C79A1B"/>
          </a:solidFill>
          <a:ln w="12700">
            <a:solidFill>
              <a:srgbClr val="C79A1B"/>
            </a:solidFill>
            <a:prstDash val="solid"/>
          </a:ln>
        </p:spPr>
      </p:sp>
      <p:sp>
        <p:nvSpPr>
          <p:cNvPr id="22" name="Text 19"/>
          <p:cNvSpPr txBox="1"/>
          <p:nvPr/>
        </p:nvSpPr>
        <p:spPr>
          <a:xfrm>
            <a:off x="4846320" y="3986784"/>
            <a:ext cx="283464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Statistical accumulators</a:t>
            </a:r>
            <a:endParaRPr lang="en-US" sz="1800" dirty="0"/>
          </a:p>
        </p:txBody>
      </p:sp>
      <p:sp>
        <p:nvSpPr>
          <p:cNvPr id="23" name="Text 20"/>
          <p:cNvSpPr txBox="1"/>
          <p:nvPr/>
        </p:nvSpPr>
        <p:spPr>
          <a:xfrm>
            <a:off x="4526280" y="443484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4F5D58"/>
                </a:solidFill>
                <a:latin typeface="Calibri" pitchFamily="34" charset="0"/>
                <a:ea typeface="Calibri" pitchFamily="34" charset="-122"/>
                <a:cs typeface="Calibri" pitchFamily="34" charset="-120"/>
              </a:rPr>
              <a:t>$stdDevPop and $percentile build per-gauge baselines of normal conditions.</a:t>
            </a:r>
            <a:endParaRPr lang="en-US" sz="1500" dirty="0"/>
          </a:p>
        </p:txBody>
      </p:sp>
      <p:sp>
        <p:nvSpPr>
          <p:cNvPr id="24" name="card"/>
          <p:cNvSpPr/>
          <p:nvPr/>
        </p:nvSpPr>
        <p:spPr>
          <a:xfrm>
            <a:off x="8046720" y="3840480"/>
            <a:ext cx="3566160" cy="2286000"/>
          </a:xfrm>
          <a:prstGeom prst="rect">
            <a:avLst>
              <a:gd name="adj" fmla="val 4000"/>
            </a:avLst>
          </a:prstGeom>
          <a:solidFill>
            <a:srgbClr val="FAFBF8"/>
          </a:solidFill>
          <a:ln w="9525">
            <a:solidFill>
              <a:srgbClr val="CBD2CA"/>
            </a:solidFill>
            <a:prstDash val="solid"/>
          </a:ln>
        </p:spPr>
      </p:sp>
      <p:sp>
        <p:nvSpPr>
          <p:cNvPr id="25" name="dot"/>
          <p:cNvSpPr/>
          <p:nvPr/>
        </p:nvSpPr>
        <p:spPr>
          <a:xfrm>
            <a:off x="8275320" y="4069080"/>
            <a:ext cx="201168" cy="201168"/>
          </a:xfrm>
          <a:prstGeom prst="rect">
            <a:avLst/>
          </a:prstGeom>
          <a:solidFill>
            <a:srgbClr val="A3102E"/>
          </a:solidFill>
          <a:ln w="12700">
            <a:solidFill>
              <a:srgbClr val="A3102E"/>
            </a:solidFill>
            <a:prstDash val="solid"/>
          </a:ln>
        </p:spPr>
      </p:sp>
      <p:sp>
        <p:nvSpPr>
          <p:cNvPr id="26" name="Text 23"/>
          <p:cNvSpPr txBox="1"/>
          <p:nvPr/>
        </p:nvSpPr>
        <p:spPr>
          <a:xfrm>
            <a:off x="8595360" y="3986784"/>
            <a:ext cx="283464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Flexible schema</a:t>
            </a:r>
            <a:endParaRPr lang="en-US" sz="1800" dirty="0"/>
          </a:p>
        </p:txBody>
      </p:sp>
      <p:sp>
        <p:nvSpPr>
          <p:cNvPr id="27" name="Text 24"/>
          <p:cNvSpPr txBox="1"/>
          <p:nvPr/>
        </p:nvSpPr>
        <p:spPr>
          <a:xfrm>
            <a:off x="8275320" y="443484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4F5D58"/>
                </a:solidFill>
                <a:latin typeface="Calibri" pitchFamily="34" charset="0"/>
                <a:ea typeface="Calibri" pitchFamily="34" charset="-122"/>
                <a:cs typeface="Calibri" pitchFamily="34" charset="-120"/>
              </a:rPr>
              <a:t>Coastal gauges add tide height without any migration; documents vary by sensor type.</a:t>
            </a:r>
            <a:endParaRPr lang="en-US" sz="15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Risk scoring and anomaly detection</a:t>
            </a:r>
            <a:endParaRPr lang="en-US" dirty="0"/>
          </a:p>
        </p:txBody>
      </p:sp>
      <p:sp>
        <p:nvSpPr>
          <p:cNvPr id="4" name="card"/>
          <p:cNvSpPr/>
          <p:nvPr/>
        </p:nvSpPr>
        <p:spPr>
          <a:xfrm>
            <a:off x="548640" y="1371600"/>
            <a:ext cx="11064240" cy="1234440"/>
          </a:xfrm>
          <a:prstGeom prst="rect">
            <a:avLst>
              <a:gd name="adj" fmla="val 7407"/>
            </a:avLst>
          </a:prstGeom>
          <a:solidFill>
            <a:srgbClr val="FAFBF8"/>
          </a:solidFill>
          <a:ln w="9525">
            <a:solidFill>
              <a:srgbClr val="CBD2CA"/>
            </a:solidFill>
            <a:prstDash val="solid"/>
          </a:ln>
        </p:spPr>
      </p:sp>
      <p:sp>
        <p:nvSpPr>
          <p:cNvPr id="5" name="Text 2"/>
          <p:cNvSpPr txBox="1"/>
          <p:nvPr/>
        </p:nvSpPr>
        <p:spPr>
          <a:xfrm>
            <a:off x="731520" y="1417320"/>
            <a:ext cx="10698480" cy="685800"/>
          </a:xfrm>
          <a:prstGeom prst="rect">
            <a:avLst/>
          </a:prstGeom>
          <a:noFill/>
          <a:ln/>
        </p:spPr>
        <p:txBody>
          <a:bodyPr wrap="square" lIns="0" tIns="0" rIns="0" bIns="0" rtlCol="0" anchor="ctr"/>
          <a:lstStyle/>
          <a:p>
            <a:pPr indent="0" marL="0">
              <a:buNone/>
            </a:pPr>
            <a:r>
              <a:rPr lang="en-US" sz="2000" b="1" dirty="0">
                <a:solidFill>
                  <a:srgbClr val="0B5C7A"/>
                </a:solidFill>
                <a:latin typeface="Courier New" pitchFamily="34" charset="0"/>
                <a:ea typeface="Courier New" pitchFamily="34" charset="-122"/>
                <a:cs typeface="Courier New" pitchFamily="34" charset="-120"/>
              </a:rPr>
              <a:t>score = 100 × ( 0.5 · level%  +  0.3 · rain z  +  0.2 · rise rate )</a:t>
            </a:r>
            <a:endParaRPr lang="en-US" sz="2000" dirty="0"/>
          </a:p>
        </p:txBody>
      </p:sp>
      <p:sp>
        <p:nvSpPr>
          <p:cNvPr id="6" name="Text 3"/>
          <p:cNvSpPr txBox="1"/>
          <p:nvPr/>
        </p:nvSpPr>
        <p:spPr>
          <a:xfrm>
            <a:off x="731520" y="2057400"/>
            <a:ext cx="10698480" cy="411480"/>
          </a:xfrm>
          <a:prstGeom prst="rect">
            <a:avLst/>
          </a:prstGeom>
          <a:noFill/>
          <a:ln/>
        </p:spPr>
        <p:txBody>
          <a:bodyPr wrap="square" lIns="0" tIns="0" rIns="0" bIns="0" rtlCol="0" anchor="ctr"/>
          <a:lstStyle/>
          <a:p>
            <a:pPr indent="0" marL="0">
              <a:buNone/>
            </a:pPr>
            <a:r>
              <a:rPr lang="en-US" sz="1400" dirty="0">
                <a:solidFill>
                  <a:srgbClr val="4F5D58"/>
                </a:solidFill>
                <a:latin typeface="Calibri" pitchFamily="34" charset="0"/>
                <a:ea typeface="Calibri" pitchFamily="34" charset="-122"/>
                <a:cs typeface="Calibri" pitchFamily="34" charset="-120"/>
              </a:rPr>
              <a:t>level% = (level − base) / (danger − base)  ·  rain z = (6 h mean − μ) / σ ÷ 6  ·  rise = (m/h) ÷ 0.4  — each term capped to 0-1</a:t>
            </a:r>
            <a:endParaRPr lang="en-US" sz="1400" dirty="0"/>
          </a:p>
        </p:txBody>
      </p:sp>
      <p:sp>
        <p:nvSpPr>
          <p:cNvPr id="7" name="band"/>
          <p:cNvSpPr/>
          <p:nvPr/>
        </p:nvSpPr>
        <p:spPr>
          <a:xfrm>
            <a:off x="548640" y="2834640"/>
            <a:ext cx="2651760" cy="914400"/>
          </a:xfrm>
          <a:prstGeom prst="rect">
            <a:avLst>
              <a:gd name="adj" fmla="val 10000"/>
            </a:avLst>
          </a:prstGeom>
          <a:solidFill>
            <a:srgbClr val="A3102E"/>
          </a:solidFill>
          <a:ln w="12700">
            <a:solidFill>
              <a:srgbClr val="A3102E"/>
            </a:solidFill>
            <a:prstDash val="solid"/>
          </a:ln>
        </p:spPr>
      </p:sp>
      <p:sp>
        <p:nvSpPr>
          <p:cNvPr id="8" name="Text 5"/>
          <p:cNvSpPr txBox="1"/>
          <p:nvPr/>
        </p:nvSpPr>
        <p:spPr>
          <a:xfrm>
            <a:off x="548640" y="2834640"/>
            <a:ext cx="265176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CRITICAL</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score ≥ 70</a:t>
            </a:r>
            <a:endParaRPr lang="en-US" sz="2000" dirty="0"/>
          </a:p>
        </p:txBody>
      </p:sp>
      <p:sp>
        <p:nvSpPr>
          <p:cNvPr id="9" name="band"/>
          <p:cNvSpPr/>
          <p:nvPr/>
        </p:nvSpPr>
        <p:spPr>
          <a:xfrm>
            <a:off x="3360420" y="2834640"/>
            <a:ext cx="2651760" cy="914400"/>
          </a:xfrm>
          <a:prstGeom prst="rect">
            <a:avLst>
              <a:gd name="adj" fmla="val 10000"/>
            </a:avLst>
          </a:prstGeom>
          <a:solidFill>
            <a:srgbClr val="D1561F"/>
          </a:solidFill>
          <a:ln w="12700">
            <a:solidFill>
              <a:srgbClr val="D1561F"/>
            </a:solidFill>
            <a:prstDash val="solid"/>
          </a:ln>
        </p:spPr>
      </p:sp>
      <p:sp>
        <p:nvSpPr>
          <p:cNvPr id="10" name="Text 7"/>
          <p:cNvSpPr txBox="1"/>
          <p:nvPr/>
        </p:nvSpPr>
        <p:spPr>
          <a:xfrm>
            <a:off x="3360420" y="2834640"/>
            <a:ext cx="265176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HIGH</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score 50 - 70</a:t>
            </a:r>
            <a:endParaRPr lang="en-US" sz="2000" dirty="0"/>
          </a:p>
        </p:txBody>
      </p:sp>
      <p:sp>
        <p:nvSpPr>
          <p:cNvPr id="11" name="band"/>
          <p:cNvSpPr/>
          <p:nvPr/>
        </p:nvSpPr>
        <p:spPr>
          <a:xfrm>
            <a:off x="6172200" y="2834640"/>
            <a:ext cx="2651760" cy="914400"/>
          </a:xfrm>
          <a:prstGeom prst="rect">
            <a:avLst>
              <a:gd name="adj" fmla="val 10000"/>
            </a:avLst>
          </a:prstGeom>
          <a:solidFill>
            <a:srgbClr val="C79A1B"/>
          </a:solidFill>
          <a:ln w="12700">
            <a:solidFill>
              <a:srgbClr val="C79A1B"/>
            </a:solidFill>
            <a:prstDash val="solid"/>
          </a:ln>
        </p:spPr>
      </p:sp>
      <p:sp>
        <p:nvSpPr>
          <p:cNvPr id="12" name="Text 9"/>
          <p:cNvSpPr txBox="1"/>
          <p:nvPr/>
        </p:nvSpPr>
        <p:spPr>
          <a:xfrm>
            <a:off x="6172200" y="2834640"/>
            <a:ext cx="2651760" cy="914400"/>
          </a:xfrm>
          <a:prstGeom prst="rect">
            <a:avLst/>
          </a:prstGeom>
          <a:noFill/>
          <a:ln/>
        </p:spPr>
        <p:txBody>
          <a:bodyPr wrap="square" lIns="0" tIns="0" rIns="0" bIns="0" rtlCol="0" anchor="ctr"/>
          <a:lstStyle/>
          <a:p>
            <a:pPr algn="ctr" indent="0" marL="0">
              <a:buNone/>
            </a:pPr>
            <a:r>
              <a:rPr lang="en-US" sz="2000" b="1" dirty="0">
                <a:solidFill>
                  <a:srgbClr val="15211E"/>
                </a:solidFill>
                <a:latin typeface="Calibri" pitchFamily="34" charset="0"/>
                <a:ea typeface="Calibri" pitchFamily="34" charset="-122"/>
                <a:cs typeface="Calibri" pitchFamily="34" charset="-120"/>
              </a:rPr>
              <a:t>ELEVATED</a:t>
            </a:r>
            <a:endParaRPr lang="en-US" sz="2000" dirty="0"/>
          </a:p>
          <a:p>
            <a:pPr algn="ctr" indent="0" marL="0">
              <a:buNone/>
            </a:pPr>
            <a:r>
              <a:rPr lang="en-US" sz="1400" dirty="0">
                <a:solidFill>
                  <a:srgbClr val="15211E"/>
                </a:solidFill>
                <a:latin typeface="Calibri" pitchFamily="34" charset="0"/>
                <a:ea typeface="Calibri" pitchFamily="34" charset="-122"/>
                <a:cs typeface="Calibri" pitchFamily="34" charset="-120"/>
              </a:rPr>
              <a:t>score 30 - 50</a:t>
            </a:r>
            <a:endParaRPr lang="en-US" sz="2000" dirty="0"/>
          </a:p>
        </p:txBody>
      </p:sp>
      <p:sp>
        <p:nvSpPr>
          <p:cNvPr id="13" name="band"/>
          <p:cNvSpPr/>
          <p:nvPr/>
        </p:nvSpPr>
        <p:spPr>
          <a:xfrm>
            <a:off x="8983980" y="2834640"/>
            <a:ext cx="2651760" cy="914400"/>
          </a:xfrm>
          <a:prstGeom prst="rect">
            <a:avLst>
              <a:gd name="adj" fmla="val 10000"/>
            </a:avLst>
          </a:prstGeom>
          <a:solidFill>
            <a:srgbClr val="5B8A8F"/>
          </a:solidFill>
          <a:ln w="12700">
            <a:solidFill>
              <a:srgbClr val="5B8A8F"/>
            </a:solidFill>
            <a:prstDash val="solid"/>
          </a:ln>
        </p:spPr>
      </p:sp>
      <p:sp>
        <p:nvSpPr>
          <p:cNvPr id="14" name="Text 11"/>
          <p:cNvSpPr txBox="1"/>
          <p:nvPr/>
        </p:nvSpPr>
        <p:spPr>
          <a:xfrm>
            <a:off x="8983980" y="2834640"/>
            <a:ext cx="2651760" cy="914400"/>
          </a:xfrm>
          <a:prstGeom prst="rect">
            <a:avLst/>
          </a:prstGeom>
          <a:noFill/>
          <a:ln/>
        </p:spPr>
        <p:txBody>
          <a:bodyPr wrap="square" lIns="0" tIns="0" rIns="0" bIns="0" rtlCol="0" anchor="ctr"/>
          <a:lstStyle/>
          <a:p>
            <a:pPr algn="ctr" indent="0" marL="0">
              <a:buNone/>
            </a:pPr>
            <a:r>
              <a:rPr lang="en-US" sz="2000" b="1" dirty="0">
                <a:solidFill>
                  <a:srgbClr val="15211E"/>
                </a:solidFill>
                <a:latin typeface="Calibri" pitchFamily="34" charset="0"/>
                <a:ea typeface="Calibri" pitchFamily="34" charset="-122"/>
                <a:cs typeface="Calibri" pitchFamily="34" charset="-120"/>
              </a:rPr>
              <a:t>NORMAL</a:t>
            </a:r>
            <a:endParaRPr lang="en-US" sz="2000" dirty="0"/>
          </a:p>
          <a:p>
            <a:pPr algn="ctr" indent="0" marL="0">
              <a:buNone/>
            </a:pPr>
            <a:r>
              <a:rPr lang="en-US" sz="1400" dirty="0">
                <a:solidFill>
                  <a:srgbClr val="15211E"/>
                </a:solidFill>
                <a:latin typeface="Calibri" pitchFamily="34" charset="0"/>
                <a:ea typeface="Calibri" pitchFamily="34" charset="-122"/>
                <a:cs typeface="Calibri" pitchFamily="34" charset="-120"/>
              </a:rPr>
              <a:t>score &lt; 30</a:t>
            </a:r>
            <a:endParaRPr lang="en-US" sz="2000" dirty="0"/>
          </a:p>
        </p:txBody>
      </p:sp>
      <p:sp>
        <p:nvSpPr>
          <p:cNvPr id="15" name="card"/>
          <p:cNvSpPr/>
          <p:nvPr/>
        </p:nvSpPr>
        <p:spPr>
          <a:xfrm>
            <a:off x="548640" y="4023360"/>
            <a:ext cx="5394960" cy="2103120"/>
          </a:xfrm>
          <a:prstGeom prst="rect">
            <a:avLst>
              <a:gd name="adj" fmla="val 4348"/>
            </a:avLst>
          </a:prstGeom>
          <a:solidFill>
            <a:srgbClr val="FAFBF8"/>
          </a:solidFill>
          <a:ln w="9525">
            <a:solidFill>
              <a:srgbClr val="CBD2CA"/>
            </a:solidFill>
            <a:prstDash val="solid"/>
          </a:ln>
        </p:spPr>
      </p:sp>
      <p:sp>
        <p:nvSpPr>
          <p:cNvPr id="16" name="Text 13"/>
          <p:cNvSpPr txBox="1"/>
          <p:nvPr/>
        </p:nvSpPr>
        <p:spPr>
          <a:xfrm>
            <a:off x="777240" y="4114800"/>
            <a:ext cx="493776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Anomaly flag</a:t>
            </a:r>
            <a:endParaRPr lang="en-US" sz="1800" dirty="0"/>
          </a:p>
        </p:txBody>
      </p:sp>
      <p:sp>
        <p:nvSpPr>
          <p:cNvPr id="17" name="Text 14"/>
          <p:cNvSpPr txBox="1"/>
          <p:nvPr/>
        </p:nvSpPr>
        <p:spPr>
          <a:xfrm>
            <a:off x="777240" y="4572000"/>
            <a:ext cx="4937760" cy="14630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Rainfall z ≥ 3σ above the gauge's normal</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River-level z ≥ 3σ above its mean</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River rising ≥ 0.25 m per hour</a:t>
            </a:r>
            <a:endParaRPr lang="en-US" sz="1500" dirty="0"/>
          </a:p>
        </p:txBody>
      </p:sp>
      <p:sp>
        <p:nvSpPr>
          <p:cNvPr id="18" name="card"/>
          <p:cNvSpPr/>
          <p:nvPr/>
        </p:nvSpPr>
        <p:spPr>
          <a:xfrm>
            <a:off x="6217920" y="4023360"/>
            <a:ext cx="5394960" cy="2103120"/>
          </a:xfrm>
          <a:prstGeom prst="rect">
            <a:avLst>
              <a:gd name="adj" fmla="val 4348"/>
            </a:avLst>
          </a:prstGeom>
          <a:solidFill>
            <a:srgbClr val="FAFBF8"/>
          </a:solidFill>
          <a:ln w="9525">
            <a:solidFill>
              <a:srgbClr val="CBD2CA"/>
            </a:solidFill>
            <a:prstDash val="solid"/>
          </a:ln>
        </p:spPr>
      </p:sp>
      <p:sp>
        <p:nvSpPr>
          <p:cNvPr id="19" name="Text 16"/>
          <p:cNvSpPr txBox="1"/>
          <p:nvPr/>
        </p:nvSpPr>
        <p:spPr>
          <a:xfrm>
            <a:off x="6446520" y="4114800"/>
            <a:ext cx="493776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Pipeline stages (one query)</a:t>
            </a:r>
            <a:endParaRPr lang="en-US" sz="1800" dirty="0"/>
          </a:p>
        </p:txBody>
      </p:sp>
      <p:sp>
        <p:nvSpPr>
          <p:cNvPr id="20" name="Text 17"/>
          <p:cNvSpPr txBox="1"/>
          <p:nvPr/>
        </p:nvSpPr>
        <p:spPr>
          <a:xfrm>
            <a:off x="6446520" y="4572000"/>
            <a:ext cx="4937760" cy="1371600"/>
          </a:xfrm>
          <a:prstGeom prst="rect">
            <a:avLst/>
          </a:prstGeom>
          <a:noFill/>
          <a:ln/>
        </p:spPr>
        <p:txBody>
          <a:bodyPr wrap="square" lIns="0" tIns="0" rIns="0" bIns="0" rtlCol="0" anchor="t"/>
          <a:lstStyle/>
          <a:p>
            <a:pPr indent="0" marL="0">
              <a:buNone/>
            </a:pPr>
            <a:r>
              <a:rPr lang="en-US" sz="1400" dirty="0">
                <a:solidFill>
                  <a:srgbClr val="0B5C7A"/>
                </a:solidFill>
                <a:latin typeface="Courier New" pitchFamily="34" charset="0"/>
                <a:ea typeface="Courier New" pitchFamily="34" charset="-122"/>
                <a:cs typeface="Courier New" pitchFamily="34" charset="-120"/>
              </a:rPr>
              <a:t>$match → $group → $lookup(river window)</a:t>
            </a:r>
            <a:endParaRPr lang="en-US" sz="1400" dirty="0"/>
          </a:p>
          <a:p>
            <a:pPr indent="0" marL="0">
              <a:buNone/>
            </a:pPr>
            <a:r>
              <a:rPr lang="en-US" sz="1400" dirty="0">
                <a:solidFill>
                  <a:srgbClr val="0B5C7A"/>
                </a:solidFill>
                <a:latin typeface="Courier New" pitchFamily="34" charset="0"/>
                <a:ea typeface="Courier New" pitchFamily="34" charset="-122"/>
                <a:cs typeface="Courier New" pitchFamily="34" charset="-120"/>
              </a:rPr>
              <a:t>→ $lookup(baseline) → $lookup(station)</a:t>
            </a:r>
            <a:endParaRPr lang="en-US" sz="1400" dirty="0"/>
          </a:p>
          <a:p>
            <a:pPr indent="0" marL="0">
              <a:buNone/>
            </a:pPr>
            <a:r>
              <a:rPr lang="en-US" sz="1400" dirty="0">
                <a:solidFill>
                  <a:srgbClr val="0B5C7A"/>
                </a:solidFill>
                <a:latin typeface="Courier New" pitchFamily="34" charset="0"/>
                <a:ea typeface="Courier New" pitchFamily="34" charset="-122"/>
                <a:cs typeface="Courier New" pitchFamily="34" charset="-120"/>
              </a:rPr>
              <a:t>→ $set(z-scores, score, severity) → $sort</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Live demo: interactive risk map</a:t>
            </a:r>
            <a:endParaRPr lang="en-US" dirty="0"/>
          </a:p>
        </p:txBody>
      </p:sp>
      <p:sp>
        <p:nvSpPr>
          <p:cNvPr id="4" name="Text 1"/>
          <p:cNvSpPr txBox="1"/>
          <p:nvPr/>
        </p:nvSpPr>
        <p:spPr>
          <a:xfrm>
            <a:off x="548640" y="1417320"/>
            <a:ext cx="3566160" cy="45720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Hover for rainfall, river level and risk status</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Click a gauge for full statistics</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Zones coloured by worst gauge inside</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Heatmap shows risk intensity across regions</a:t>
            </a:r>
            <a:endParaRPr lang="en-US" sz="1600" dirty="0"/>
          </a:p>
          <a:p>
            <a:pPr marL="228600" indent="-228600">
              <a:spcAft>
                <a:spcPts val="1000"/>
              </a:spcAft>
              <a:buSzPct val="100000"/>
              <a:buChar char="•"/>
            </a:pPr>
            <a:r>
              <a:rPr lang="en-US" sz="1600" dirty="0">
                <a:solidFill>
                  <a:srgbClr val="15211E"/>
                </a:solidFill>
                <a:latin typeface="Calibri" pitchFamily="34" charset="0"/>
                <a:ea typeface="Calibri" pitchFamily="34" charset="-122"/>
                <a:cs typeface="Calibri" pitchFamily="34" charset="-120"/>
              </a:rPr>
              <a:t>Filter by severity, continent or name</a:t>
            </a:r>
            <a:endParaRPr lang="en-US" sz="1600" dirty="0"/>
          </a:p>
        </p:txBody>
      </p:sp>
      <p:sp>
        <p:nvSpPr>
          <p:cNvPr id="5" name="frame"/>
          <p:cNvSpPr/>
          <p:nvPr/>
        </p:nvSpPr>
        <p:spPr>
          <a:xfrm>
            <a:off x="4334256" y="1316736"/>
            <a:ext cx="7333488" cy="4173093"/>
          </a:xfrm>
          <a:prstGeom prst="rect">
            <a:avLst>
              <a:gd name="adj" fmla="val 1315"/>
            </a:avLst>
          </a:prstGeom>
          <a:solidFill>
            <a:srgbClr val="FAFBF8"/>
          </a:solidFill>
          <a:ln w="12700">
            <a:solidFill>
              <a:srgbClr val="CBD2CA"/>
            </a:solidFill>
            <a:prstDash val="solid"/>
          </a:ln>
        </p:spPr>
      </p:sp>
      <p:pic>
        <p:nvPicPr>
          <p:cNvPr id="6" name="screenshot" descr="DRISHTI dashboard screenshot">    </p:cNvPr>
          <p:cNvPicPr>
            <a:picLocks noChangeAspect="1"/>
          </p:cNvPicPr>
          <p:nvPr/>
        </p:nvPicPr>
        <p:blipFill>
          <a:blip r:embed="rId1"/>
          <a:stretch>
            <a:fillRect/>
          </a:stretch>
        </p:blipFill>
        <p:spPr>
          <a:xfrm>
            <a:off x="4389120" y="1371600"/>
            <a:ext cx="7223760" cy="4063365"/>
          </a:xfrm>
          <a:prstGeom prst="rect">
            <a:avLst/>
          </a:prstGeom>
        </p:spPr>
      </p:pic>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Station drill-down: from alert to evidence</a:t>
            </a:r>
            <a:endParaRPr lang="en-US" dirty="0"/>
          </a:p>
        </p:txBody>
      </p:sp>
      <p:sp>
        <p:nvSpPr>
          <p:cNvPr id="4" name="frame"/>
          <p:cNvSpPr/>
          <p:nvPr/>
        </p:nvSpPr>
        <p:spPr>
          <a:xfrm>
            <a:off x="493776" y="1316736"/>
            <a:ext cx="7333488" cy="4850321"/>
          </a:xfrm>
          <a:prstGeom prst="rect">
            <a:avLst>
              <a:gd name="adj" fmla="val 1131"/>
            </a:avLst>
          </a:prstGeom>
          <a:solidFill>
            <a:srgbClr val="FAFBF8"/>
          </a:solidFill>
          <a:ln w="12700">
            <a:solidFill>
              <a:srgbClr val="CBD2CA"/>
            </a:solidFill>
            <a:prstDash val="solid"/>
          </a:ln>
        </p:spPr>
      </p:sp>
      <p:pic>
        <p:nvPicPr>
          <p:cNvPr id="5" name="screenshot" descr="DRISHTI dashboard screenshot">    </p:cNvPr>
          <p:cNvPicPr>
            <a:picLocks noChangeAspect="1"/>
          </p:cNvPicPr>
          <p:nvPr/>
        </p:nvPicPr>
        <p:blipFill>
          <a:blip r:embed="rId1"/>
          <a:stretch>
            <a:fillRect/>
          </a:stretch>
        </p:blipFill>
        <p:spPr>
          <a:xfrm>
            <a:off x="548640" y="1371600"/>
            <a:ext cx="7223760" cy="4740593"/>
          </a:xfrm>
          <a:prstGeom prst="rect">
            <a:avLst/>
          </a:prstGeom>
        </p:spPr>
      </p:pic>
      <p:sp>
        <p:nvSpPr>
          <p:cNvPr id="6" name="card"/>
          <p:cNvSpPr/>
          <p:nvPr/>
        </p:nvSpPr>
        <p:spPr>
          <a:xfrm>
            <a:off x="8092440" y="1371600"/>
            <a:ext cx="3520440" cy="1737360"/>
          </a:xfrm>
          <a:prstGeom prst="rect">
            <a:avLst>
              <a:gd name="adj" fmla="val 5263"/>
            </a:avLst>
          </a:prstGeom>
          <a:solidFill>
            <a:srgbClr val="FAFBF8"/>
          </a:solidFill>
          <a:ln w="9525">
            <a:solidFill>
              <a:srgbClr val="CBD2CA"/>
            </a:solidFill>
            <a:prstDash val="solid"/>
          </a:ln>
        </p:spPr>
      </p:sp>
      <p:sp>
        <p:nvSpPr>
          <p:cNvPr id="7" name="dot"/>
          <p:cNvSpPr/>
          <p:nvPr/>
        </p:nvSpPr>
        <p:spPr>
          <a:xfrm>
            <a:off x="8321040" y="1600200"/>
            <a:ext cx="201168" cy="201168"/>
          </a:xfrm>
          <a:prstGeom prst="rect">
            <a:avLst/>
          </a:prstGeom>
          <a:solidFill>
            <a:srgbClr val="A3102E"/>
          </a:solidFill>
          <a:ln w="12700">
            <a:solidFill>
              <a:srgbClr val="A3102E"/>
            </a:solidFill>
            <a:prstDash val="solid"/>
          </a:ln>
        </p:spPr>
      </p:sp>
      <p:sp>
        <p:nvSpPr>
          <p:cNvPr id="8" name="Text 4"/>
          <p:cNvSpPr txBox="1"/>
          <p:nvPr/>
        </p:nvSpPr>
        <p:spPr>
          <a:xfrm>
            <a:off x="8641080" y="1517904"/>
            <a:ext cx="278892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Why this gauge?</a:t>
            </a:r>
            <a:endParaRPr lang="en-US" sz="1800" dirty="0"/>
          </a:p>
        </p:txBody>
      </p:sp>
      <p:sp>
        <p:nvSpPr>
          <p:cNvPr id="9" name="Text 5"/>
          <p:cNvSpPr txBox="1"/>
          <p:nvPr/>
        </p:nvSpPr>
        <p:spPr>
          <a:xfrm>
            <a:off x="8321040" y="1965960"/>
            <a:ext cx="3063240" cy="1005840"/>
          </a:xfrm>
          <a:prstGeom prst="rect">
            <a:avLst/>
          </a:prstGeom>
          <a:noFill/>
          <a:ln/>
        </p:spPr>
        <p:txBody>
          <a:bodyPr wrap="square" lIns="0" tIns="0" rIns="0" bIns="0" rtlCol="0" anchor="t"/>
          <a:lstStyle/>
          <a:p>
            <a:pPr indent="0" marL="0">
              <a:spcAft>
                <a:spcPts val="400"/>
              </a:spcAft>
              <a:buNone/>
            </a:pPr>
            <a:r>
              <a:rPr lang="en-US" sz="1400" dirty="0">
                <a:solidFill>
                  <a:srgbClr val="4F5D58"/>
                </a:solidFill>
                <a:latin typeface="Calibri" pitchFamily="34" charset="0"/>
                <a:ea typeface="Calibri" pitchFamily="34" charset="-122"/>
                <a:cs typeface="Calibri" pitchFamily="34" charset="-120"/>
              </a:rPr>
              <a:t>Plain-language reasons: % of danger level, rise rate, rainfall σ.</a:t>
            </a:r>
            <a:endParaRPr lang="en-US" sz="1400" dirty="0"/>
          </a:p>
        </p:txBody>
      </p:sp>
      <p:sp>
        <p:nvSpPr>
          <p:cNvPr id="10" name="card"/>
          <p:cNvSpPr/>
          <p:nvPr/>
        </p:nvSpPr>
        <p:spPr>
          <a:xfrm>
            <a:off x="8092440" y="3291840"/>
            <a:ext cx="3520440" cy="1737360"/>
          </a:xfrm>
          <a:prstGeom prst="rect">
            <a:avLst>
              <a:gd name="adj" fmla="val 5263"/>
            </a:avLst>
          </a:prstGeom>
          <a:solidFill>
            <a:srgbClr val="FAFBF8"/>
          </a:solidFill>
          <a:ln w="9525">
            <a:solidFill>
              <a:srgbClr val="CBD2CA"/>
            </a:solidFill>
            <a:prstDash val="solid"/>
          </a:ln>
        </p:spPr>
      </p:sp>
      <p:sp>
        <p:nvSpPr>
          <p:cNvPr id="11" name="dot"/>
          <p:cNvSpPr/>
          <p:nvPr/>
        </p:nvSpPr>
        <p:spPr>
          <a:xfrm>
            <a:off x="8321040" y="3520440"/>
            <a:ext cx="201168" cy="201168"/>
          </a:xfrm>
          <a:prstGeom prst="rect">
            <a:avLst/>
          </a:prstGeom>
          <a:solidFill>
            <a:srgbClr val="0B5C7A"/>
          </a:solidFill>
          <a:ln w="12700">
            <a:solidFill>
              <a:srgbClr val="0B5C7A"/>
            </a:solidFill>
            <a:prstDash val="solid"/>
          </a:ln>
        </p:spPr>
      </p:sp>
      <p:sp>
        <p:nvSpPr>
          <p:cNvPr id="12" name="Text 8"/>
          <p:cNvSpPr txBox="1"/>
          <p:nvPr/>
        </p:nvSpPr>
        <p:spPr>
          <a:xfrm>
            <a:off x="8641080" y="3438144"/>
            <a:ext cx="2788920" cy="365760"/>
          </a:xfrm>
          <a:prstGeom prst="rect">
            <a:avLst/>
          </a:prstGeom>
          <a:noFill/>
          <a:ln/>
        </p:spPr>
        <p:txBody>
          <a:bodyPr wrap="square" lIns="0" tIns="0" rIns="0" bIns="0" rtlCol="0" anchor="ctr"/>
          <a:lstStyle/>
          <a:p>
            <a:pPr indent="0" marL="0">
              <a:buNone/>
            </a:pPr>
            <a:r>
              <a:rPr lang="en-US" sz="1800" b="1" dirty="0">
                <a:solidFill>
                  <a:srgbClr val="15211E"/>
                </a:solidFill>
                <a:latin typeface="Calibri" pitchFamily="34" charset="0"/>
                <a:ea typeface="Calibri" pitchFamily="34" charset="-122"/>
                <a:cs typeface="Calibri" pitchFamily="34" charset="-120"/>
              </a:rPr>
              <a:t>Hydrograph</a:t>
            </a:r>
            <a:endParaRPr lang="en-US" sz="1800" dirty="0"/>
          </a:p>
        </p:txBody>
      </p:sp>
      <p:sp>
        <p:nvSpPr>
          <p:cNvPr id="13" name="Text 9"/>
          <p:cNvSpPr txBox="1"/>
          <p:nvPr/>
        </p:nvSpPr>
        <p:spPr>
          <a:xfrm>
            <a:off x="8321040" y="3886200"/>
            <a:ext cx="3063240" cy="1005840"/>
          </a:xfrm>
          <a:prstGeom prst="rect">
            <a:avLst/>
          </a:prstGeom>
          <a:noFill/>
          <a:ln/>
        </p:spPr>
        <p:txBody>
          <a:bodyPr wrap="square" lIns="0" tIns="0" rIns="0" bIns="0" rtlCol="0" anchor="t"/>
          <a:lstStyle/>
          <a:p>
            <a:pPr indent="0" marL="0">
              <a:spcAft>
                <a:spcPts val="400"/>
              </a:spcAft>
              <a:buNone/>
            </a:pPr>
            <a:r>
              <a:rPr lang="en-US" sz="1400" dirty="0">
                <a:solidFill>
                  <a:srgbClr val="4F5D58"/>
                </a:solidFill>
                <a:latin typeface="Calibri" pitchFamily="34" charset="0"/>
                <a:ea typeface="Calibri" pitchFamily="34" charset="-122"/>
                <a:cs typeface="Calibri" pitchFamily="34" charset="-120"/>
              </a:rPr>
              <a:t>Rainfall bars with river level against warning and danger thresholds.</a:t>
            </a:r>
            <a:endParaRPr lang="en-US" sz="1400" dirty="0"/>
          </a:p>
        </p:txBody>
      </p:sp>
      <p:sp>
        <p:nvSpPr>
          <p:cNvPr id="14" name="card"/>
          <p:cNvSpPr/>
          <p:nvPr/>
        </p:nvSpPr>
        <p:spPr>
          <a:xfrm>
            <a:off x="8092440" y="5212080"/>
            <a:ext cx="3520440" cy="1097280"/>
          </a:xfrm>
          <a:prstGeom prst="rect">
            <a:avLst>
              <a:gd name="adj" fmla="val 8333"/>
            </a:avLst>
          </a:prstGeom>
          <a:solidFill>
            <a:srgbClr val="FAFBF8"/>
          </a:solidFill>
          <a:ln w="9525">
            <a:solidFill>
              <a:srgbClr val="CBD2CA"/>
            </a:solidFill>
            <a:prstDash val="solid"/>
          </a:ln>
        </p:spPr>
      </p:sp>
      <p:sp>
        <p:nvSpPr>
          <p:cNvPr id="15" name="dot"/>
          <p:cNvSpPr/>
          <p:nvPr/>
        </p:nvSpPr>
        <p:spPr>
          <a:xfrm>
            <a:off x="8321040" y="5440680"/>
            <a:ext cx="201168" cy="201168"/>
          </a:xfrm>
          <a:prstGeom prst="rect">
            <a:avLst/>
          </a:prstGeom>
          <a:solidFill>
            <a:srgbClr val="6D5BA8"/>
          </a:solidFill>
          <a:ln w="12700">
            <a:solidFill>
              <a:srgbClr val="6D5BA8"/>
            </a:solidFill>
            <a:prstDash val="solid"/>
          </a:ln>
        </p:spPr>
      </p:sp>
      <p:sp>
        <p:nvSpPr>
          <p:cNvPr id="16" name="Text 12"/>
          <p:cNvSpPr txBox="1"/>
          <p:nvPr/>
        </p:nvSpPr>
        <p:spPr>
          <a:xfrm>
            <a:off x="8641080" y="5358384"/>
            <a:ext cx="2788920" cy="365760"/>
          </a:xfrm>
          <a:prstGeom prst="rect">
            <a:avLst/>
          </a:prstGeom>
          <a:noFill/>
          <a:ln/>
        </p:spPr>
        <p:txBody>
          <a:bodyPr wrap="square" lIns="0" tIns="0" rIns="0" bIns="0" rtlCol="0" anchor="ctr"/>
          <a:lstStyle/>
          <a:p>
            <a:pPr indent="0" marL="0">
              <a:buNone/>
            </a:pPr>
            <a:r>
              <a:rPr lang="en-US" sz="1600" b="1" dirty="0">
                <a:solidFill>
                  <a:srgbClr val="15211E"/>
                </a:solidFill>
                <a:latin typeface="Calibri" pitchFamily="34" charset="0"/>
                <a:ea typeface="Calibri" pitchFamily="34" charset="-122"/>
                <a:cs typeface="Calibri" pitchFamily="34" charset="-120"/>
              </a:rPr>
              <a:t>Local history</a:t>
            </a:r>
            <a:endParaRPr lang="en-US" sz="1600" dirty="0"/>
          </a:p>
        </p:txBody>
      </p:sp>
      <p:sp>
        <p:nvSpPr>
          <p:cNvPr id="17" name="Text 13"/>
          <p:cNvSpPr txBox="1"/>
          <p:nvPr/>
        </p:nvSpPr>
        <p:spPr>
          <a:xfrm>
            <a:off x="8321040" y="5806440"/>
            <a:ext cx="3063240" cy="365760"/>
          </a:xfrm>
          <a:prstGeom prst="rect">
            <a:avLst/>
          </a:prstGeom>
          <a:noFill/>
          <a:ln/>
        </p:spPr>
        <p:txBody>
          <a:bodyPr wrap="square" lIns="0" tIns="0" rIns="0" bIns="0" rtlCol="0" anchor="t"/>
          <a:lstStyle/>
          <a:p>
            <a:pPr indent="0" marL="0">
              <a:spcAft>
                <a:spcPts val="400"/>
              </a:spcAft>
              <a:buNone/>
            </a:pPr>
            <a:r>
              <a:rPr lang="en-US" sz="1400" dirty="0">
                <a:solidFill>
                  <a:srgbClr val="4F5D58"/>
                </a:solidFill>
                <a:latin typeface="Calibri" pitchFamily="34" charset="0"/>
                <a:ea typeface="Calibri" pitchFamily="34" charset="-122"/>
                <a:cs typeface="Calibri" pitchFamily="34" charset="-120"/>
              </a:rPr>
              <a:t>Past events within 250 km via $geoNear.</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Analytics: trends, rankings and anomalies</a:t>
            </a:r>
            <a:endParaRPr lang="en-US" dirty="0"/>
          </a:p>
        </p:txBody>
      </p:sp>
      <p:sp>
        <p:nvSpPr>
          <p:cNvPr id="4" name="frame"/>
          <p:cNvSpPr/>
          <p:nvPr/>
        </p:nvSpPr>
        <p:spPr>
          <a:xfrm>
            <a:off x="493776" y="1316736"/>
            <a:ext cx="6784848" cy="4698873"/>
          </a:xfrm>
          <a:prstGeom prst="rect">
            <a:avLst>
              <a:gd name="adj" fmla="val 1168"/>
            </a:avLst>
          </a:prstGeom>
          <a:solidFill>
            <a:srgbClr val="FAFBF8"/>
          </a:solidFill>
          <a:ln w="12700">
            <a:solidFill>
              <a:srgbClr val="CBD2CA"/>
            </a:solidFill>
            <a:prstDash val="solid"/>
          </a:ln>
        </p:spPr>
      </p:sp>
      <p:pic>
        <p:nvPicPr>
          <p:cNvPr id="5" name="screenshot" descr="DRISHTI dashboard screenshot">    </p:cNvPr>
          <p:cNvPicPr>
            <a:picLocks noChangeAspect="1"/>
          </p:cNvPicPr>
          <p:nvPr/>
        </p:nvPicPr>
        <p:blipFill>
          <a:blip r:embed="rId1"/>
          <a:stretch>
            <a:fillRect/>
          </a:stretch>
        </p:blipFill>
        <p:spPr>
          <a:xfrm>
            <a:off x="548640" y="1371600"/>
            <a:ext cx="6675120" cy="4589145"/>
          </a:xfrm>
          <a:prstGeom prst="rect">
            <a:avLst/>
          </a:prstGeom>
        </p:spPr>
      </p:pic>
      <p:sp>
        <p:nvSpPr>
          <p:cNvPr id="6" name="Text 2"/>
          <p:cNvSpPr txBox="1"/>
          <p:nvPr/>
        </p:nvSpPr>
        <p:spPr>
          <a:xfrm>
            <a:off x="7680960" y="1417320"/>
            <a:ext cx="3931920" cy="41148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Hourly, daily and monthly trends by continent</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Regional risk ranking from latest snapshot</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Live anomaly table with z-scores and rise rate</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Historical events: year, type, season</a:t>
            </a:r>
            <a:endParaRPr lang="en-US" sz="15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Pipelines page and situation reports</a:t>
            </a:r>
            <a:endParaRPr lang="en-US" dirty="0"/>
          </a:p>
        </p:txBody>
      </p:sp>
      <p:sp>
        <p:nvSpPr>
          <p:cNvPr id="4" name="frame"/>
          <p:cNvSpPr/>
          <p:nvPr/>
        </p:nvSpPr>
        <p:spPr>
          <a:xfrm>
            <a:off x="493776" y="1316736"/>
            <a:ext cx="5550408" cy="3170111"/>
          </a:xfrm>
          <a:prstGeom prst="rect">
            <a:avLst>
              <a:gd name="adj" fmla="val 1731"/>
            </a:avLst>
          </a:prstGeom>
          <a:solidFill>
            <a:srgbClr val="FAFBF8"/>
          </a:solidFill>
          <a:ln w="12700">
            <a:solidFill>
              <a:srgbClr val="CBD2CA"/>
            </a:solidFill>
            <a:prstDash val="solid"/>
          </a:ln>
        </p:spPr>
      </p:sp>
      <p:pic>
        <p:nvPicPr>
          <p:cNvPr id="5" name="screenshot" descr="DRISHTI dashboard screenshot">    </p:cNvPr>
          <p:cNvPicPr>
            <a:picLocks noChangeAspect="1"/>
          </p:cNvPicPr>
          <p:nvPr/>
        </p:nvPicPr>
        <p:blipFill>
          <a:blip r:embed="rId1"/>
          <a:stretch>
            <a:fillRect/>
          </a:stretch>
        </p:blipFill>
        <p:spPr>
          <a:xfrm>
            <a:off x="548640" y="1371600"/>
            <a:ext cx="5440680" cy="3060383"/>
          </a:xfrm>
          <a:prstGeom prst="rect">
            <a:avLst/>
          </a:prstGeom>
        </p:spPr>
      </p:pic>
      <p:sp>
        <p:nvSpPr>
          <p:cNvPr id="6" name="frame"/>
          <p:cNvSpPr/>
          <p:nvPr/>
        </p:nvSpPr>
        <p:spPr>
          <a:xfrm>
            <a:off x="6163056" y="1316736"/>
            <a:ext cx="5550408" cy="3170111"/>
          </a:xfrm>
          <a:prstGeom prst="rect">
            <a:avLst>
              <a:gd name="adj" fmla="val 1731"/>
            </a:avLst>
          </a:prstGeom>
          <a:solidFill>
            <a:srgbClr val="FAFBF8"/>
          </a:solidFill>
          <a:ln w="12700">
            <a:solidFill>
              <a:srgbClr val="CBD2CA"/>
            </a:solidFill>
            <a:prstDash val="solid"/>
          </a:ln>
        </p:spPr>
      </p:sp>
      <p:pic>
        <p:nvPicPr>
          <p:cNvPr id="7" name="screenshot" descr="DRISHTI dashboard screenshot">    </p:cNvPr>
          <p:cNvPicPr>
            <a:picLocks noChangeAspect="1"/>
          </p:cNvPicPr>
          <p:nvPr/>
        </p:nvPicPr>
        <p:blipFill>
          <a:blip r:embed="rId2"/>
          <a:stretch>
            <a:fillRect/>
          </a:stretch>
        </p:blipFill>
        <p:spPr>
          <a:xfrm>
            <a:off x="6217920" y="1371600"/>
            <a:ext cx="5440680" cy="3060383"/>
          </a:xfrm>
          <a:prstGeom prst="rect">
            <a:avLst/>
          </a:prstGeom>
        </p:spPr>
      </p:pic>
      <p:sp>
        <p:nvSpPr>
          <p:cNvPr id="8" name="Text 3"/>
          <p:cNvSpPr txBox="1"/>
          <p:nvPr/>
        </p:nvSpPr>
        <p:spPr>
          <a:xfrm>
            <a:off x="548640" y="4754880"/>
            <a:ext cx="5440680" cy="731520"/>
          </a:xfrm>
          <a:prstGeom prst="rect">
            <a:avLst/>
          </a:prstGeom>
          <a:noFill/>
          <a:ln/>
        </p:spPr>
        <p:txBody>
          <a:bodyPr wrap="square" lIns="0" tIns="0" rIns="0" bIns="0" rtlCol="0" anchor="t"/>
          <a:lstStyle/>
          <a:p>
            <a:pPr indent="0" marL="0">
              <a:buNone/>
            </a:pPr>
            <a:r>
              <a:rPr lang="en-US" sz="1600" b="1" dirty="0">
                <a:solidFill>
                  <a:srgbClr val="15211E"/>
                </a:solidFill>
                <a:latin typeface="Calibri" pitchFamily="34" charset="0"/>
                <a:ea typeface="Calibri" pitchFamily="34" charset="-122"/>
                <a:cs typeface="Calibri" pitchFamily="34" charset="-120"/>
              </a:rPr>
              <a:t>Pipelines: inspect and run every aggregation with timings</a:t>
            </a:r>
            <a:endParaRPr lang="en-US" sz="1600" dirty="0"/>
          </a:p>
        </p:txBody>
      </p:sp>
      <p:sp>
        <p:nvSpPr>
          <p:cNvPr id="9" name="Text 4"/>
          <p:cNvSpPr txBox="1"/>
          <p:nvPr/>
        </p:nvSpPr>
        <p:spPr>
          <a:xfrm>
            <a:off x="6217920" y="4754880"/>
            <a:ext cx="5440680" cy="731520"/>
          </a:xfrm>
          <a:prstGeom prst="rect">
            <a:avLst/>
          </a:prstGeom>
          <a:noFill/>
          <a:ln/>
        </p:spPr>
        <p:txBody>
          <a:bodyPr wrap="square" lIns="0" tIns="0" rIns="0" bIns="0" rtlCol="0" anchor="t"/>
          <a:lstStyle/>
          <a:p>
            <a:pPr indent="0" marL="0">
              <a:buNone/>
            </a:pPr>
            <a:r>
              <a:rPr lang="en-US" sz="1600" b="1" dirty="0">
                <a:solidFill>
                  <a:srgbClr val="15211E"/>
                </a:solidFill>
                <a:latin typeface="Calibri" pitchFamily="34" charset="0"/>
                <a:ea typeface="Calibri" pitchFamily="34" charset="-122"/>
                <a:cs typeface="Calibri" pitchFamily="34" charset="-120"/>
              </a:rPr>
              <a:t>Situation report: severity summary, top gauges, regions of concern, recommended actions</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Project modules and how they were built</a:t>
            </a:r>
            <a:endParaRPr lang="en-US"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gridCol w="7132320"/>
              </a:tblGrid>
              <a:tr h="566928">
                <a:tc>
                  <a:txBody>
                    <a:bodyPr/>
                    <a:lstStyle/>
                    <a:p>
                      <a:pPr indent="0" marL="0">
                        <a:buNone/>
                      </a:pPr>
                      <a:r>
                        <a:rPr lang="en-US" sz="1400" b="1" dirty="0">
                          <a:solidFill>
                            <a:srgbClr val="0B5C7A"/>
                          </a:solidFill>
                          <a:latin typeface="Calibri" pitchFamily="34" charset="0"/>
                          <a:ea typeface="Calibri" pitchFamily="34" charset="-122"/>
                          <a:cs typeface="Calibri" pitchFamily="34" charset="-120"/>
                        </a:rPr>
                        <a:t>Synopsis module</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E6EAE4"/>
                    </a:solidFill>
                  </a:tcPr>
                </a:tc>
                <a:tc>
                  <a:txBody>
                    <a:bodyPr/>
                    <a:lstStyle/>
                    <a:p>
                      <a:pPr indent="0" marL="0">
                        <a:buNone/>
                      </a:pPr>
                      <a:r>
                        <a:rPr lang="en-US" sz="1400" b="1" dirty="0">
                          <a:solidFill>
                            <a:srgbClr val="0B5C7A"/>
                          </a:solidFill>
                          <a:latin typeface="Calibri" pitchFamily="34" charset="0"/>
                          <a:ea typeface="Calibri" pitchFamily="34" charset="-122"/>
                          <a:cs typeface="Calibri" pitchFamily="34" charset="-120"/>
                        </a:rPr>
                        <a:t>Implementation</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E6EAE4"/>
                    </a:solidFill>
                  </a:tcPr>
                </a:tc>
              </a:tr>
              <a:tr h="566928">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6.1 Data collection &amp; preprocessing</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Seeder + simulator generate and validate station, rainfall, river and weather records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566928">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6.2 MongoDB data storage</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Time-series and standard collections with 2dsphere indexes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566928">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6.3 Processing &amp; aggregation</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Pipelines for totals, trends, rankings, rate of change, baselines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566928">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6.4 Risk zone &amp; anomaly detection</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Risk score, severity bands, z-score and rise-rate anomaly flags, alerts</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566928">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6.5 Interactive map &amp; dashboard</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React-Leaflet map, heatmap, KPI cards, Recharts, station drill-down</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r h="566928">
                <a:tc>
                  <a:txBody>
                    <a:bodyPr/>
                    <a:lstStyle/>
                    <a:p>
                      <a:pPr indent="0" marL="0">
                        <a:buNone/>
                      </a:pPr>
                      <a:r>
                        <a:rPr lang="en-US" sz="1400" b="1" dirty="0">
                          <a:solidFill>
                            <a:srgbClr val="15211E"/>
                          </a:solidFill>
                          <a:latin typeface="Calibri" pitchFamily="34" charset="0"/>
                          <a:ea typeface="Calibri" pitchFamily="34" charset="-122"/>
                          <a:cs typeface="Calibri" pitchFamily="34" charset="-120"/>
                        </a:rPr>
                        <a:t>6.6 Analytics &amp; reporting</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c>
                  <a:txBody>
                    <a:bodyPr/>
                    <a:lstStyle/>
                    <a:p>
                      <a:pPr indent="0" marL="0">
                        <a:buNone/>
                      </a:pPr>
                      <a:r>
                        <a:rPr lang="en-US" sz="1400" dirty="0">
                          <a:solidFill>
                            <a:srgbClr val="15211E"/>
                          </a:solidFill>
                          <a:latin typeface="Calibri" pitchFamily="34" charset="0"/>
                          <a:ea typeface="Calibri" pitchFamily="34" charset="-122"/>
                          <a:cs typeface="Calibri" pitchFamily="34" charset="-120"/>
                        </a:rPr>
                        <a:t>Analysis page, stored situation reports, printable PDF view</a:t>
                      </a:r>
                      <a:endParaRPr lang="en-US" sz="1400" dirty="0">
                        <a:latin typeface="Calibri" charset="0"/>
                        <a:ea typeface="Calibri" charset="0"/>
                        <a:cs typeface="Calibri" charset="0"/>
                      </a:endParaRPr>
                    </a:p>
                  </a:txBody>
                  <a:tcPr marL="109728" marR="109728" marT="0" marB="0" anchor="ctr">
                    <a:lnL w="9525" cap="flat" cmpd="sng" algn="ctr">
                      <a:solidFill>
                        <a:srgbClr val="CBD2CA"/>
                      </a:solidFill>
                      <a:prstDash val="solid"/>
                      <a:round/>
                      <a:headEnd type="none" w="med" len="med"/>
                      <a:tailEnd type="none" w="med" len="med"/>
                    </a:lnL>
                    <a:lnR w="9525" cap="flat" cmpd="sng" algn="ctr">
                      <a:solidFill>
                        <a:srgbClr val="CBD2CA"/>
                      </a:solidFill>
                      <a:prstDash val="solid"/>
                      <a:round/>
                      <a:headEnd type="none" w="med" len="med"/>
                      <a:tailEnd type="none" w="med" len="med"/>
                    </a:lnR>
                    <a:lnT w="9525" cap="flat" cmpd="sng" algn="ctr">
                      <a:solidFill>
                        <a:srgbClr val="CBD2CA"/>
                      </a:solidFill>
                      <a:prstDash val="solid"/>
                      <a:round/>
                      <a:headEnd type="none" w="med" len="med"/>
                      <a:tailEnd type="none" w="med" len="med"/>
                    </a:lnT>
                    <a:lnB w="9525" cap="flat" cmpd="sng" algn="ctr">
                      <a:solidFill>
                        <a:srgbClr val="CBD2CA"/>
                      </a:solidFill>
                      <a:prstDash val="solid"/>
                      <a:round/>
                      <a:headEnd type="none" w="med" len="med"/>
                      <a:tailEnd type="none" w="med" len="med"/>
                    </a:lnB>
                    <a:solidFill>
                      <a:srgbClr val="FAFBF8"/>
                    </a:solidFill>
                  </a:tcPr>
                </a:tc>
              </a:tr>
            </a:tbl>
          </a:graphicData>
        </a:graphic>
      </p:graphicFrame>
      <p:sp>
        <p:nvSpPr>
          <p:cNvPr id="5" name="Text 1"/>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600" dirty="0">
                <a:solidFill>
                  <a:srgbClr val="4F5D58"/>
                </a:solidFill>
                <a:latin typeface="Calibri" pitchFamily="34" charset="0"/>
                <a:ea typeface="Calibri" pitchFamily="34" charset="-122"/>
                <a:cs typeface="Calibri" pitchFamily="34" charset="-120"/>
              </a:rPr>
              <a:t>Stack: React 19 + Vite · Recharts · React-Leaflet · Node.js + Express · MongoDB 7</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Historical disaster patterns</a:t>
            </a:r>
            <a:endParaRPr lang="en-US" dirty="0"/>
          </a:p>
        </p:txBody>
      </p:sp>
      <p:graphicFrame>
        <p:nvGraphicFramePr>
          <p:cNvPr id="4" name="Chart 0" descr=""/>
          <p:cNvGraphicFramePr/>
          <p:nvPr/>
        </p:nvGraphicFramePr>
        <p:xfrm>
          <a:off x="548640" y="1371600"/>
          <a:ext cx="548640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371600"/>
          <a:ext cx="5394960" cy="438912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400" dirty="0">
                <a:solidFill>
                  <a:srgbClr val="4F5D58"/>
                </a:solidFill>
                <a:latin typeface="Calibri" pitchFamily="34" charset="0"/>
                <a:ea typeface="Calibri" pitchFamily="34" charset="-122"/>
                <a:cs typeface="Calibri" pitchFamily="34" charset="-120"/>
              </a:rPr>
              <a:t>900 events · 150,969 lives lost · 509 M people affected · computed in 42 ms with one $facet pass (synthetic data)</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Outcomes and future scope</a:t>
            </a:r>
            <a:endParaRPr lang="en-US" dirty="0"/>
          </a:p>
        </p:txBody>
      </p:sp>
      <p:sp>
        <p:nvSpPr>
          <p:cNvPr id="4" name="card"/>
          <p:cNvSpPr/>
          <p:nvPr/>
        </p:nvSpPr>
        <p:spPr>
          <a:xfrm>
            <a:off x="548640" y="1371600"/>
            <a:ext cx="5486400" cy="4754880"/>
          </a:xfrm>
          <a:prstGeom prst="rect">
            <a:avLst>
              <a:gd name="adj" fmla="val 1923"/>
            </a:avLst>
          </a:prstGeom>
          <a:solidFill>
            <a:srgbClr val="FAFBF8"/>
          </a:solidFill>
          <a:ln w="9525">
            <a:solidFill>
              <a:srgbClr val="CBD2CA"/>
            </a:solidFill>
            <a:prstDash val="solid"/>
          </a:ln>
        </p:spPr>
      </p:sp>
      <p:sp>
        <p:nvSpPr>
          <p:cNvPr id="5" name="Text 2"/>
          <p:cNvSpPr txBox="1"/>
          <p:nvPr/>
        </p:nvSpPr>
        <p:spPr>
          <a:xfrm>
            <a:off x="822960" y="1508760"/>
            <a:ext cx="4937760" cy="411480"/>
          </a:xfrm>
          <a:prstGeom prst="rect">
            <a:avLst/>
          </a:prstGeom>
          <a:noFill/>
          <a:ln/>
        </p:spPr>
        <p:txBody>
          <a:bodyPr wrap="square" lIns="0" tIns="0" rIns="0" bIns="0" rtlCol="0" anchor="ctr"/>
          <a:lstStyle/>
          <a:p>
            <a:pPr indent="0" marL="0">
              <a:buNone/>
            </a:pPr>
            <a:r>
              <a:rPr lang="en-US" sz="2200" b="1" dirty="0">
                <a:solidFill>
                  <a:srgbClr val="5B8A8F"/>
                </a:solidFill>
                <a:latin typeface="Calibri" pitchFamily="34" charset="0"/>
                <a:ea typeface="Calibri" pitchFamily="34" charset="-122"/>
                <a:cs typeface="Calibri" pitchFamily="34" charset="-120"/>
              </a:rPr>
              <a:t>Delivered</a:t>
            </a:r>
            <a:endParaRPr lang="en-US" sz="2200" dirty="0"/>
          </a:p>
        </p:txBody>
      </p:sp>
      <p:sp>
        <p:nvSpPr>
          <p:cNvPr id="6" name="Text 3"/>
          <p:cNvSpPr txBox="1"/>
          <p:nvPr/>
        </p:nvSpPr>
        <p:spPr>
          <a:xfrm>
            <a:off x="822960" y="2103120"/>
            <a:ext cx="4937760" cy="39319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Centralised MongoDB with 3.6 M records</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Database-driven interactive risk map and heatmap</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Anomaly detection and risk scoring in aggregation pipelines</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Hourly, daily and monthly trends</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KPI dashboard, alerts and stored reports</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Pipelines page showing every query</a:t>
            </a:r>
            <a:endParaRPr lang="en-US" sz="1500" dirty="0"/>
          </a:p>
        </p:txBody>
      </p:sp>
      <p:sp>
        <p:nvSpPr>
          <p:cNvPr id="7" name="card"/>
          <p:cNvSpPr/>
          <p:nvPr/>
        </p:nvSpPr>
        <p:spPr>
          <a:xfrm>
            <a:off x="6217920" y="1371600"/>
            <a:ext cx="5394960" cy="4754880"/>
          </a:xfrm>
          <a:prstGeom prst="rect">
            <a:avLst>
              <a:gd name="adj" fmla="val 1923"/>
            </a:avLst>
          </a:prstGeom>
          <a:solidFill>
            <a:srgbClr val="FAFBF8"/>
          </a:solidFill>
          <a:ln w="9525">
            <a:solidFill>
              <a:srgbClr val="CBD2CA"/>
            </a:solidFill>
            <a:prstDash val="solid"/>
          </a:ln>
        </p:spPr>
      </p:sp>
      <p:sp>
        <p:nvSpPr>
          <p:cNvPr id="8" name="Text 5"/>
          <p:cNvSpPr txBox="1"/>
          <p:nvPr/>
        </p:nvSpPr>
        <p:spPr>
          <a:xfrm>
            <a:off x="6492240" y="1508760"/>
            <a:ext cx="4846320" cy="411480"/>
          </a:xfrm>
          <a:prstGeom prst="rect">
            <a:avLst/>
          </a:prstGeom>
          <a:noFill/>
          <a:ln/>
        </p:spPr>
        <p:txBody>
          <a:bodyPr wrap="square" lIns="0" tIns="0" rIns="0" bIns="0" rtlCol="0" anchor="ctr"/>
          <a:lstStyle/>
          <a:p>
            <a:pPr indent="0" marL="0">
              <a:buNone/>
            </a:pPr>
            <a:r>
              <a:rPr lang="en-US" sz="2200" b="1" dirty="0">
                <a:solidFill>
                  <a:srgbClr val="0B5C7A"/>
                </a:solidFill>
                <a:latin typeface="Calibri" pitchFamily="34" charset="0"/>
                <a:ea typeface="Calibri" pitchFamily="34" charset="-122"/>
                <a:cs typeface="Calibri" pitchFamily="34" charset="-120"/>
              </a:rPr>
              <a:t>Future scope</a:t>
            </a:r>
            <a:endParaRPr lang="en-US" sz="2200" dirty="0"/>
          </a:p>
        </p:txBody>
      </p:sp>
      <p:sp>
        <p:nvSpPr>
          <p:cNvPr id="9" name="Text 6"/>
          <p:cNvSpPr txBox="1"/>
          <p:nvPr/>
        </p:nvSpPr>
        <p:spPr>
          <a:xfrm>
            <a:off x="6492240" y="2103120"/>
            <a:ext cx="4846320" cy="39319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Real IoT and satellite feeds replacing the simulator</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Predictive flood forecasting with ML</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SMS and push alerting to authorities</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Sharded MongoDB cluster for national scale</a:t>
            </a:r>
            <a:endParaRPr lang="en-US" sz="1500" dirty="0"/>
          </a:p>
          <a:p>
            <a:pPr marL="228600" indent="-228600">
              <a:spcAft>
                <a:spcPts val="1000"/>
              </a:spcAft>
              <a:buSzPct val="100000"/>
              <a:buChar char="•"/>
            </a:pPr>
            <a:r>
              <a:rPr lang="en-US" sz="1500" dirty="0">
                <a:solidFill>
                  <a:srgbClr val="15211E"/>
                </a:solidFill>
                <a:latin typeface="Calibri" pitchFamily="34" charset="0"/>
                <a:ea typeface="Calibri" pitchFamily="34" charset="-122"/>
                <a:cs typeface="Calibri" pitchFamily="34" charset="-120"/>
              </a:rPr>
              <a:t>Integration with emergency-response systems</a:t>
            </a:r>
            <a:endParaRPr lang="en-US" sz="15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D5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1097280"/>
            <a:ext cx="10972800" cy="1097280"/>
          </a:xfrm>
          <a:prstGeom prst="rect">
            <a:avLst/>
          </a:prstGeom>
          <a:noFill/>
          <a:ln/>
        </p:spPr>
        <p:txBody>
          <a:bodyPr wrap="square" lIns="0" tIns="0" rIns="0" bIns="0" rtlCol="0" anchor="ctr"/>
          <a:lstStyle/>
          <a:p>
            <a:pPr indent="0" marL="0">
              <a:buNone/>
            </a:pPr>
            <a:r>
              <a:rPr lang="en-US" sz="6000" b="1" dirty="0">
                <a:solidFill>
                  <a:srgbClr val="15211E"/>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640080" y="2194560"/>
            <a:ext cx="10972800" cy="731520"/>
          </a:xfrm>
          <a:prstGeom prst="rect">
            <a:avLst/>
          </a:prstGeom>
          <a:noFill/>
          <a:ln/>
        </p:spPr>
        <p:txBody>
          <a:bodyPr wrap="square" lIns="0" tIns="0" rIns="0" bIns="0" rtlCol="0" anchor="ctr"/>
          <a:lstStyle/>
          <a:p>
            <a:pPr indent="0" marL="0">
              <a:buNone/>
            </a:pPr>
            <a:r>
              <a:rPr lang="en-US" sz="3000" dirty="0">
                <a:solidFill>
                  <a:srgbClr val="0B5C7A"/>
                </a:solidFill>
                <a:latin typeface="Calibri" pitchFamily="34" charset="0"/>
                <a:ea typeface="Calibri" pitchFamily="34" charset="-122"/>
                <a:cs typeface="Calibri" pitchFamily="34" charset="-120"/>
              </a:rPr>
              <a:t>Questions?</a:t>
            </a:r>
            <a:endParaRPr lang="en-US" sz="3000" dirty="0"/>
          </a:p>
        </p:txBody>
      </p:sp>
      <p:sp>
        <p:nvSpPr>
          <p:cNvPr id="4" name="card"/>
          <p:cNvSpPr/>
          <p:nvPr/>
        </p:nvSpPr>
        <p:spPr>
          <a:xfrm>
            <a:off x="640080" y="3474720"/>
            <a:ext cx="7498080" cy="1554480"/>
          </a:xfrm>
          <a:prstGeom prst="rect">
            <a:avLst>
              <a:gd name="adj" fmla="val 5882"/>
            </a:avLst>
          </a:prstGeom>
          <a:solidFill>
            <a:srgbClr val="FAFBF8"/>
          </a:solidFill>
          <a:ln w="9525">
            <a:solidFill>
              <a:srgbClr val="CBD2CA"/>
            </a:solidFill>
            <a:prstDash val="solid"/>
          </a:ln>
        </p:spPr>
      </p:sp>
      <p:sp>
        <p:nvSpPr>
          <p:cNvPr id="5" name="Text 3"/>
          <p:cNvSpPr txBox="1"/>
          <p:nvPr/>
        </p:nvSpPr>
        <p:spPr>
          <a:xfrm>
            <a:off x="914400" y="3611880"/>
            <a:ext cx="6949440" cy="365760"/>
          </a:xfrm>
          <a:prstGeom prst="rect">
            <a:avLst/>
          </a:prstGeom>
          <a:noFill/>
          <a:ln/>
        </p:spPr>
        <p:txBody>
          <a:bodyPr wrap="square" lIns="0" tIns="0" rIns="0" bIns="0" rtlCol="0" anchor="ctr"/>
          <a:lstStyle/>
          <a:p>
            <a:pPr indent="0" marL="0">
              <a:buNone/>
            </a:pPr>
            <a:r>
              <a:rPr lang="en-US" sz="1600" dirty="0">
                <a:solidFill>
                  <a:srgbClr val="4F5D58"/>
                </a:solidFill>
                <a:latin typeface="Calibri" pitchFamily="34" charset="0"/>
                <a:ea typeface="Calibri" pitchFamily="34" charset="-122"/>
                <a:cs typeface="Calibri" pitchFamily="34" charset="-120"/>
              </a:rPr>
              <a:t>Try the live system</a:t>
            </a:r>
            <a:endParaRPr lang="en-US" sz="1600" dirty="0"/>
          </a:p>
        </p:txBody>
      </p:sp>
      <p:sp>
        <p:nvSpPr>
          <p:cNvPr id="6" name="Text 4">
            <a:hlinkClick r:id="rId1" tooltip=""/>
          </p:cNvPr>
          <p:cNvSpPr txBox="1"/>
          <p:nvPr/>
        </p:nvSpPr>
        <p:spPr>
          <a:xfrm>
            <a:off x="914400" y="4023360"/>
            <a:ext cx="6949440" cy="548640"/>
          </a:xfrm>
          <a:prstGeom prst="rect">
            <a:avLst/>
          </a:prstGeom>
          <a:noFill/>
          <a:ln/>
        </p:spPr>
        <p:txBody>
          <a:bodyPr wrap="square" lIns="0" tIns="0" rIns="0" bIns="0" rtlCol="0" anchor="ctr"/>
          <a:lstStyle/>
          <a:p>
            <a:pPr indent="0" marL="0">
              <a:buNone/>
            </a:pPr>
            <a:r>
              <a:rPr lang="en-US" sz="2400" b="1" u="sng" dirty="0">
                <a:solidFill>
                  <a:srgbClr val="0B5C7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https://windows.tailb18f6e.ts.net:8443</a:t>
            </a:r>
            <a:endParaRPr lang="en-US" sz="2400" dirty="0"/>
          </a:p>
        </p:txBody>
      </p:sp>
      <p:sp>
        <p:nvSpPr>
          <p:cNvPr id="7" name="Text 5"/>
          <p:cNvSpPr txBox="1"/>
          <p:nvPr/>
        </p:nvSpPr>
        <p:spPr>
          <a:xfrm>
            <a:off x="914400" y="4572000"/>
            <a:ext cx="6949440" cy="320040"/>
          </a:xfrm>
          <a:prstGeom prst="rect">
            <a:avLst/>
          </a:prstGeom>
          <a:noFill/>
          <a:ln/>
        </p:spPr>
        <p:txBody>
          <a:bodyPr wrap="square" lIns="0" tIns="0" rIns="0" bIns="0" rtlCol="0" anchor="ctr"/>
          <a:lstStyle/>
          <a:p>
            <a:pPr indent="0" marL="0">
              <a:buNone/>
            </a:pPr>
            <a:r>
              <a:rPr lang="en-US" sz="1400" dirty="0">
                <a:solidFill>
                  <a:srgbClr val="4F5D58"/>
                </a:solidFill>
                <a:latin typeface="Calibri" pitchFamily="34" charset="0"/>
                <a:ea typeface="Calibri" pitchFamily="34" charset="-122"/>
                <a:cs typeface="Calibri" pitchFamily="34" charset="-120"/>
              </a:rPr>
              <a:t>Served from the team laptop via Tailscale Funnel</a:t>
            </a:r>
            <a:endParaRPr lang="en-US" sz="1400" dirty="0"/>
          </a:p>
        </p:txBody>
      </p:sp>
      <p:sp>
        <p:nvSpPr>
          <p:cNvPr id="8" name="Text 6"/>
          <p:cNvSpPr txBox="1"/>
          <p:nvPr/>
        </p:nvSpPr>
        <p:spPr>
          <a:xfrm>
            <a:off x="640080" y="6035040"/>
            <a:ext cx="10972800" cy="365760"/>
          </a:xfrm>
          <a:prstGeom prst="rect">
            <a:avLst/>
          </a:prstGeom>
          <a:noFill/>
          <a:ln/>
        </p:spPr>
        <p:txBody>
          <a:bodyPr wrap="square" lIns="0" tIns="0" rIns="0" bIns="0" rtlCol="0" anchor="ctr"/>
          <a:lstStyle/>
          <a:p>
            <a:pPr indent="0" marL="0">
              <a:buNone/>
            </a:pPr>
            <a:r>
              <a:rPr lang="en-US" sz="1400" dirty="0">
                <a:solidFill>
                  <a:srgbClr val="4F5D58"/>
                </a:solidFill>
                <a:latin typeface="Nirmala UI" pitchFamily="34" charset="0"/>
                <a:ea typeface="Nirmala UI" pitchFamily="34" charset="-122"/>
                <a:cs typeface="Nirmala UI" pitchFamily="34" charset="-120"/>
              </a:rPr>
              <a:t>DRISHTI · दृष्टि  —  Vichitra Attri · Vidhyashree S · Vidya Bai K · Vikram 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Bangalore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 - Disaster &amp; Emergency Intelligence System</dc:title>
  <dc:subject>PptxGenJS Presentation</dc:subject>
  <dc:creator>Vichitra Attri, Vidhyashree S, Vidya Bai K, Vikram K</dc:creator>
  <cp:lastModifiedBy>Vichitra Attri, Vidhyashree S, Vidya Bai K, Vikram K</cp:lastModifiedBy>
  <cp:revision>1</cp:revision>
  <dcterms:created xsi:type="dcterms:W3CDTF">2026-10-12T18:03:14Z</dcterms:created>
  <dcterms:modified xsi:type="dcterms:W3CDTF">2026-10-12T18:03:14Z</dcterms:modified>
</cp:coreProperties>
</file>