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e8940288-8a10-0225-94de-14684c778384}">
          <p14:sldIdLst>
            <p14:sldId id="256"/>
            <p14:sldId id="257"/>
            <p14:sldId id="258"/>
            <p14:sldId id="259"/>
          </p14:sldIdLst>
        </p14:section>
        <p14:section name="Solution" id="{5f4a692b-e7a3-827b-6491-dda85447c102}">
          <p14:sldIdLst>
            <p14:sldId id="260"/>
          </p14:sldIdLst>
        </p14:section>
        <p14:section name="Design" id="{e701a3b3-89f1-8304-adec-94b29a996265}">
          <p14:sldIdLst>
            <p14:sldId id="261"/>
            <p14:sldId id="262"/>
          </p14:sldIdLst>
        </p14:section>
        <p14:section name="Big Data" id="{d8c6c90d-efba-e306-a521-dd2038a5a3bc}">
          <p14:sldIdLst>
            <p14:sldId id="263"/>
            <p14:sldId id="264"/>
          </p14:sldIdLst>
        </p14:section>
        <p14:section name="Analytics" id="{cd8abc71-8553-d47e-3d73-ad597a0eb190}">
          <p14:sldIdLst>
            <p14:sldId id="265"/>
          </p14:sldIdLst>
        </p14:section>
        <p14:section name="Demo" id="{b4ac23df-e1b5-1acc-2b25-0a7de29d1783}">
          <p14:sldIdLst>
            <p14:sldId id="266"/>
            <p14:sldId id="267"/>
            <p14:sldId id="268"/>
            <p14:sldId id="269"/>
          </p14:sldIdLst>
        </p14:section>
        <p14:section name="Implementation" id="{4e611698-d67a-de02-4f91-ff492c351bd4}">
          <p14:sldIdLst>
            <p14:sldId id="270"/>
          </p14:sldIdLst>
        </p14:section>
        <p14:section name="Results" id="{1ad61c18-7062-4c58-0cf0-1f9210be5490}">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E8EEFB"/>
                </a:solidFill>
                <a:latin typeface="Calibri"/>
              </a:defRPr>
            </a:pPr>
            <a:r>
              <a:rPr sz="1600" b="0" i="0" u="none" strike="noStrike">
                <a:solidFill>
                  <a:srgbClr val="E8EEFB"/>
                </a:solidFill>
                <a:latin typeface="Calibri"/>
              </a:rPr>
              <a:t>Events by hazard type (2000-2026)</a:t>
            </a:r>
          </a:p>
        </c:rich>
      </c:tx>
      <c:layout/>
      <c:overlay val="0"/>
    </c:title>
    <c:autoTitleDeleted val="0"/>
    <c:plotArea>
      <c:layout/>
      <c:barChart>
        <c:barDir val="bar"/>
        <c:grouping val="clustered"/>
        <c:varyColors val="0"/>
        <c:ser>
          <c:idx val="0"/>
          <c:order val="0"/>
          <c:tx>
            <c:strRef>
              <c:f>Sheet1!$B$1</c:f>
              <c:strCache>
                <c:ptCount val="1"/>
                <c:pt idx="0">
                  <c:v>Events</c:v>
                </c:pt>
              </c:strCache>
            </c:strRef>
          </c:tx>
          <c:spPr>
            <a:solidFill>
              <a:srgbClr val="3CC8FF"/>
            </a:solidFill>
            <a:effectLst/>
          </c:spPr>
          <c:invertIfNegative val="0"/>
          <c:dLbls>
            <c:numFmt formatCode="#,##0" sourceLinked="0"/>
            <c:txPr>
              <a:bodyPr/>
              <a:lstStyle/>
              <a:p>
                <a:pPr>
                  <a:defRPr b="0" i="0" strike="noStrike" sz="1200" u="none">
                    <a:solidFill>
                      <a:srgbClr val="E8EEF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Flood</c:v>
                  </c:pt>
                  <c:pt idx="1">
                    <c:v>Flash Flood</c:v>
                  </c:pt>
                  <c:pt idx="2">
                    <c:v>Landslide</c:v>
                  </c:pt>
                  <c:pt idx="3">
                    <c:v>Cyclone</c:v>
                  </c:pt>
                  <c:pt idx="4">
                    <c:v>Storm Surge</c:v>
                  </c:pt>
                </c:lvl>
              </c:multiLvlStrCache>
            </c:multiLvlStrRef>
          </c:cat>
          <c:val>
            <c:numRef>
              <c:f>Sheet1!$B$2:$B$6</c:f>
              <c:numCache>
                <c:formatCode>General</c:formatCode>
                <c:ptCount val="5"/>
                <c:pt idx="0">
                  <c:v>510</c:v>
                </c:pt>
                <c:pt idx="1">
                  <c:v>179</c:v>
                </c:pt>
                <c:pt idx="2">
                  <c:v>120</c:v>
                </c:pt>
                <c:pt idx="3">
                  <c:v>49</c:v>
                </c:pt>
                <c:pt idx="4">
                  <c:v>42</c:v>
                </c:pt>
              </c:numCache>
            </c:numRef>
          </c:val>
        </c:ser>
        <c:dLbls>
          <c:numFmt formatCode="#,##0" sourceLinked="0"/>
          <c:txPr>
            <a:bodyPr/>
            <a:lstStyle/>
            <a:p>
              <a:pPr>
                <a:defRPr b="0" i="0" strike="noStrike" sz="1200" u="none">
                  <a:solidFill>
                    <a:srgbClr val="E8EEF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8DA0C2"/>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22314F"/>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8DA0C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E8EEFB"/>
                </a:solidFill>
                <a:latin typeface="Calibri"/>
              </a:defRPr>
            </a:pPr>
            <a:r>
              <a:rPr sz="1600" b="0" i="0" u="none" strike="noStrike">
                <a:solidFill>
                  <a:srgbClr val="E8EEFB"/>
                </a:solidFill>
                <a:latin typeface="Calibri"/>
              </a:rPr>
              <a:t>Seasonality: events by month</a:t>
            </a:r>
          </a:p>
        </c:rich>
      </c:tx>
      <c:layout/>
      <c:overlay val="0"/>
    </c:title>
    <c:autoTitleDeleted val="0"/>
    <c:plotArea>
      <c:layout/>
      <c:barChart>
        <c:barDir val="col"/>
        <c:grouping val="clustered"/>
        <c:varyColors val="0"/>
        <c:ser>
          <c:idx val="0"/>
          <c:order val="0"/>
          <c:tx>
            <c:strRef>
              <c:f>Sheet1!$B$1</c:f>
              <c:strCache>
                <c:ptCount val="1"/>
                <c:pt idx="0">
                  <c:v>Events</c:v>
                </c:pt>
              </c:strCache>
            </c:strRef>
          </c:tx>
          <c:spPr>
            <a:solidFill>
              <a:srgbClr val="B18CFF"/>
            </a:solidFill>
            <a:effectLst/>
          </c:spPr>
          <c:invertIfNegative val="0"/>
          <c:dLbls>
            <c:numFmt formatCode="#,##0" sourceLinked="0"/>
            <c:txPr>
              <a:bodyPr/>
              <a:lstStyle/>
              <a:p>
                <a:pPr>
                  <a:defRPr b="0" i="0" strike="noStrike" sz="1200" u="none">
                    <a:solidFill>
                      <a:srgbClr val="E8EEFB"/>
                    </a:solidFill>
                    <a:latin typeface="Calibri"/>
                  </a:defRPr>
                </a:pPr>
              </a:p>
            </c:txPr>
            <c:showLegendKey val="0"/>
            <c:showVal val="1"/>
            <c:showCatName val="0"/>
            <c:showSerName val="0"/>
            <c:showPercent val="0"/>
            <c:showBubbleSize val="0"/>
            <c:showLeaderLines val="0"/>
          </c:dLbls>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59</c:v>
                </c:pt>
                <c:pt idx="1">
                  <c:v>40</c:v>
                </c:pt>
                <c:pt idx="2">
                  <c:v>46</c:v>
                </c:pt>
                <c:pt idx="3">
                  <c:v>46</c:v>
                </c:pt>
                <c:pt idx="4">
                  <c:v>82</c:v>
                </c:pt>
                <c:pt idx="5">
                  <c:v>103</c:v>
                </c:pt>
                <c:pt idx="6">
                  <c:v>121</c:v>
                </c:pt>
                <c:pt idx="7">
                  <c:v>122</c:v>
                </c:pt>
                <c:pt idx="8">
                  <c:v>112</c:v>
                </c:pt>
                <c:pt idx="9">
                  <c:v>68</c:v>
                </c:pt>
                <c:pt idx="10">
                  <c:v>58</c:v>
                </c:pt>
                <c:pt idx="11">
                  <c:v>43</c:v>
                </c:pt>
              </c:numCache>
            </c:numRef>
          </c:val>
        </c:ser>
        <c:dLbls>
          <c:numFmt formatCode="#,##0" sourceLinked="0"/>
          <c:txPr>
            <a:bodyPr/>
            <a:lstStyle/>
            <a:p>
              <a:pPr>
                <a:defRPr b="0" i="0" strike="noStrike" sz="1200" u="none">
                  <a:solidFill>
                    <a:srgbClr val="E8EEFB"/>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8DA0C2"/>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22314F"/>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8DA0C2"/>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project. DRISHTI means "vision / sight" in Hindi - the system gives authorities the ability to SEE disaster risk early. Full form: Disaster Risk Intelligence &amp; Situational Hazard Tracking Interface.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Floods, cyclones and extreme rainfall are among the most frequent and destructive natural disasters. A few hours of delay in noticing a rising river changes the outcome of the response. The problem is not lack of data - it is lack of an integrated, analysable view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drawbacks. The synopsis problem statement: there is no centralised, interactive, analytics-oriented disaster-intelligence platform that combines MongoDB storage and aggregation with map-based visualisation.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map one-to-one to the synopsis objectives. Every one is demonstrable in the live dashboard.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application, running on a MongoDB with 3.6 million records. Left: key capabilities. Right: the command centre with KPIs, world risk map and live alerts.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flow left to right. Data enters, is validated and stored as documents in MongoDB, aggregation pipelines compute risk and anomalies inside the database, Express exposes REST APIs and React renders the map and charts.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six are the collections named in the synopsis chapter 6.2. The rest support analytics: baselines, risk history, alerts and reports. Three sensor collections are MongoDB time-series collections.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numbers are measured on the running system on a single laptop. Be clear the readings are synthetic, as allowed by the synopsis, so we could demonstrate volume. Aggregation timings come from the Pipeline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card is a MongoDB feature used in the code, not a claim. Time-series collections for sensor data, the aggregation framework for analytics, window functions for rate of change, 2dsphere for geo queries, statistical accumulators for baselines, flexible schema for varied sensors.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 blends three normalised signals. Level percentage: how close the river is to its danger level. Rain z-score: how unusual the last six hours of rain are for this gauge. Rise rate: how fast the river is climbing. Severity bands map score to colours. An anomaly is flagged on statistical outliers independent of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hover a gauge for the tooltip, toggle heatmap, filter by severity or continent, risk zones coloured by worst gauge inside them. Pulsing rings mark CRITICAL and HIGH gauges.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any alert and the drill-down shows the reasoning: how close to danger level, how fast rising, how unusual the rainfall is. The hydrograph shows rainfall hyetograph inverted above the river level with warning and danger lines.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here is computed on the fly by aggregation pipelines. Switch between hourly, daily and monthly granularity; the system reports how long the aggregation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Lab exposes the exact aggregation pipelines and lets the audience run them against live data with timing. Reports are generated from the same results and stored in MongoDB.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maps the six synopsis modules onto the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Generated by a single $facet aggregation over the disaster_events collection. The data is synthetic, but the pipeline is the same one that would run on a real catalogue. Point out the monsoon-season peak July to September.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what was delivered versus the synopsis expected outcomes. Right: natural extensions.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live link on the projector, or fall back to localhost:5055 if the network is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A101D"/>
        </a:solidFill>
      </p:bgPr>
    </p:bg>
    <p:spTree>
      <p:nvGrpSpPr>
        <p:cNvPr id="1" name=""/>
        <p:cNvGrpSpPr/>
        <p:nvPr/>
      </p:nvGrpSpPr>
      <p:grpSpPr>
        <a:xfrm>
          <a:off x="0" y="0"/>
          <a:ext cx="0" cy="0"/>
          <a:chOff x="0" y="0"/>
          <a:chExt cx="0" cy="0"/>
        </a:xfrm>
      </p:grpSpPr>
      <p:sp>
        <p:nvSpPr>
          <p:cNvPr id="2" name="Text 0"/>
          <p:cNvSpPr/>
          <p:nvPr/>
        </p:nvSpPr>
        <p:spPr>
          <a:xfrm>
            <a:off x="548640" y="6473952"/>
            <a:ext cx="7315200" cy="274320"/>
          </a:xfrm>
          <a:prstGeom prst="rect">
            <a:avLst/>
          </a:prstGeom>
          <a:noFill/>
          <a:ln/>
        </p:spPr>
        <p:txBody>
          <a:bodyPr wrap="square" lIns="0" tIns="0" rIns="0" bIns="0" rtlCol="0" anchor="ctr"/>
          <a:lstStyle/>
          <a:p>
            <a:pPr indent="0" marL="0">
              <a:buNone/>
            </a:pPr>
            <a:r>
              <a:rPr lang="en-US" sz="1000" dirty="0">
                <a:solidFill>
                  <a:srgbClr val="8DA0C2"/>
                </a:solidFill>
                <a:latin typeface="Calibri" pitchFamily="34" charset="0"/>
                <a:ea typeface="Calibri" pitchFamily="34" charset="-122"/>
                <a:cs typeface="Calibri" pitchFamily="34" charset="-120"/>
              </a:rPr>
              <a:t>DRISHTI  ·  BIS701 Big Data Analytics  ·  Dept. of ISE, BIT</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0A101D"/>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2.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hyperlink" Target="https://windows.tailb18f6e.ts.net:8443" TargetMode="Externa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ring1"/>
          <p:cNvSpPr/>
          <p:nvPr/>
        </p:nvSpPr>
        <p:spPr>
          <a:xfrm>
            <a:off x="7955280" y="1097280"/>
            <a:ext cx="3840480" cy="3840480"/>
          </a:xfrm>
          <a:prstGeom prst="ellipse">
            <a:avLst/>
          </a:prstGeom>
          <a:solidFill>
            <a:srgbClr val="111B2F"/>
          </a:solidFill>
          <a:ln w="12700">
            <a:solidFill>
              <a:srgbClr val="22314F"/>
            </a:solidFill>
            <a:prstDash val="solid"/>
          </a:ln>
        </p:spPr>
      </p:sp>
      <p:sp>
        <p:nvSpPr>
          <p:cNvPr id="3" name="ring2"/>
          <p:cNvSpPr/>
          <p:nvPr/>
        </p:nvSpPr>
        <p:spPr>
          <a:xfrm>
            <a:off x="8595360" y="1737360"/>
            <a:ext cx="2560320" cy="2560320"/>
          </a:xfrm>
          <a:prstGeom prst="ellipse">
            <a:avLst/>
          </a:prstGeom>
          <a:solidFill>
            <a:srgbClr val="16223A"/>
          </a:solidFill>
          <a:ln w="25400">
            <a:solidFill>
              <a:srgbClr val="3CC8FF"/>
            </a:solidFill>
            <a:prstDash val="solid"/>
          </a:ln>
        </p:spPr>
      </p:sp>
      <p:sp>
        <p:nvSpPr>
          <p:cNvPr id="4" name="pupil"/>
          <p:cNvSpPr/>
          <p:nvPr/>
        </p:nvSpPr>
        <p:spPr>
          <a:xfrm>
            <a:off x="9281160" y="2423160"/>
            <a:ext cx="1188720" cy="1188720"/>
          </a:xfrm>
          <a:prstGeom prst="ellipse">
            <a:avLst/>
          </a:prstGeom>
          <a:solidFill>
            <a:srgbClr val="FF3B5C"/>
          </a:solidFill>
          <a:ln w="12700">
            <a:solidFill>
              <a:srgbClr val="FF3B5C"/>
            </a:solidFill>
            <a:prstDash val="solid"/>
          </a:ln>
        </p:spPr>
      </p:sp>
      <p:sp>
        <p:nvSpPr>
          <p:cNvPr id="5" name="pupil-core"/>
          <p:cNvSpPr/>
          <p:nvPr/>
        </p:nvSpPr>
        <p:spPr>
          <a:xfrm>
            <a:off x="9674352" y="2816352"/>
            <a:ext cx="402336" cy="402336"/>
          </a:xfrm>
          <a:prstGeom prst="ellipse">
            <a:avLst/>
          </a:prstGeom>
          <a:solidFill>
            <a:srgbClr val="0A101D"/>
          </a:solidFill>
          <a:ln w="12700">
            <a:solidFill>
              <a:srgbClr val="0A101D"/>
            </a:solidFill>
            <a:prstDash val="solid"/>
          </a:ln>
        </p:spPr>
      </p:sp>
      <p:sp>
        <p:nvSpPr>
          <p:cNvPr id="6" name="Text 4"/>
          <p:cNvSpPr txBox="1"/>
          <p:nvPr/>
        </p:nvSpPr>
        <p:spPr>
          <a:xfrm>
            <a:off x="640080" y="640080"/>
            <a:ext cx="7315200" cy="365760"/>
          </a:xfrm>
          <a:prstGeom prst="rect">
            <a:avLst/>
          </a:prstGeom>
          <a:noFill/>
          <a:ln/>
        </p:spPr>
        <p:txBody>
          <a:bodyPr wrap="square" lIns="0" tIns="0" rIns="0" bIns="0" rtlCol="0" anchor="ctr"/>
          <a:lstStyle/>
          <a:p>
            <a:pPr indent="0" marL="0">
              <a:buNone/>
            </a:pPr>
            <a:r>
              <a:rPr lang="en-US" sz="1400" b="1" spc="300" kern="0" dirty="0">
                <a:solidFill>
                  <a:srgbClr val="3CC8FF"/>
                </a:solidFill>
                <a:latin typeface="Calibri" pitchFamily="34" charset="0"/>
                <a:ea typeface="Calibri" pitchFamily="34" charset="-122"/>
                <a:cs typeface="Calibri" pitchFamily="34" charset="-120"/>
              </a:rPr>
              <a:t>BIG DATA ANALYTICS (BIS701)  ·  PROJECT PRESENTATION</a:t>
            </a:r>
            <a:endParaRPr lang="en-US" sz="1400" dirty="0"/>
          </a:p>
        </p:txBody>
      </p:sp>
      <p:sp>
        <p:nvSpPr>
          <p:cNvPr id="7" name="Text 5"/>
          <p:cNvSpPr txBox="1"/>
          <p:nvPr/>
        </p:nvSpPr>
        <p:spPr>
          <a:xfrm>
            <a:off x="640080" y="1188720"/>
            <a:ext cx="7772400" cy="1097280"/>
          </a:xfrm>
          <a:prstGeom prst="rect">
            <a:avLst/>
          </a:prstGeom>
          <a:noFill/>
          <a:ln/>
        </p:spPr>
        <p:txBody>
          <a:bodyPr wrap="square" lIns="0" tIns="0" rIns="0" bIns="0" rtlCol="0" anchor="ctr"/>
          <a:lstStyle/>
          <a:p>
            <a:pPr indent="0" marL="0">
              <a:buNone/>
            </a:pPr>
            <a:r>
              <a:rPr lang="en-US" sz="7200" b="1" dirty="0">
                <a:solidFill>
                  <a:srgbClr val="E8EEFB"/>
                </a:solidFill>
                <a:latin typeface="Calibri" pitchFamily="34" charset="0"/>
                <a:ea typeface="Calibri" pitchFamily="34" charset="-122"/>
                <a:cs typeface="Calibri" pitchFamily="34" charset="-120"/>
              </a:rPr>
              <a:t>DRISHTI</a:t>
            </a:r>
            <a:pPr indent="0" marL="0">
              <a:buNone/>
            </a:pPr>
            <a:r>
              <a:rPr lang="en-US" sz="4000" b="1" dirty="0">
                <a:solidFill>
                  <a:srgbClr val="3CC8FF"/>
                </a:solidFill>
                <a:latin typeface="Nirmala UI" pitchFamily="34" charset="0"/>
                <a:ea typeface="Nirmala UI" pitchFamily="34" charset="-122"/>
                <a:cs typeface="Nirmala UI" pitchFamily="34" charset="-120"/>
              </a:rPr>
              <a:t>  दृष्टि</a:t>
            </a:r>
            <a:endParaRPr lang="en-US" sz="7200" dirty="0"/>
          </a:p>
        </p:txBody>
      </p:sp>
      <p:sp>
        <p:nvSpPr>
          <p:cNvPr id="8" name="Text 6"/>
          <p:cNvSpPr txBox="1"/>
          <p:nvPr/>
        </p:nvSpPr>
        <p:spPr>
          <a:xfrm>
            <a:off x="640080" y="2331720"/>
            <a:ext cx="7680960" cy="822960"/>
          </a:xfrm>
          <a:prstGeom prst="rect">
            <a:avLst/>
          </a:prstGeom>
          <a:noFill/>
          <a:ln/>
        </p:spPr>
        <p:txBody>
          <a:bodyPr wrap="square" lIns="0" tIns="0" rIns="0" bIns="0" rtlCol="0" anchor="t"/>
          <a:lstStyle/>
          <a:p>
            <a:pPr indent="0" marL="0">
              <a:buNone/>
            </a:pPr>
            <a:r>
              <a:rPr lang="en-US" sz="2400" dirty="0">
                <a:solidFill>
                  <a:srgbClr val="E8EEFB"/>
                </a:solidFill>
                <a:latin typeface="Calibri" pitchFamily="34" charset="0"/>
                <a:ea typeface="Calibri" pitchFamily="34" charset="-122"/>
                <a:cs typeface="Calibri" pitchFamily="34" charset="-120"/>
              </a:rPr>
              <a:t>Disaster Risk Intelligence &amp; Situational Hazard Tracking Interface</a:t>
            </a:r>
            <a:endParaRPr lang="en-US" sz="2400" dirty="0"/>
          </a:p>
        </p:txBody>
      </p:sp>
      <p:sp>
        <p:nvSpPr>
          <p:cNvPr id="9" name="Text 7"/>
          <p:cNvSpPr txBox="1"/>
          <p:nvPr/>
        </p:nvSpPr>
        <p:spPr>
          <a:xfrm>
            <a:off x="640080" y="3291840"/>
            <a:ext cx="7498080" cy="731520"/>
          </a:xfrm>
          <a:prstGeom prst="rect">
            <a:avLst/>
          </a:prstGeom>
          <a:noFill/>
          <a:ln/>
        </p:spPr>
        <p:txBody>
          <a:bodyPr wrap="square" lIns="0" tIns="0" rIns="0" bIns="0" rtlCol="0" anchor="t"/>
          <a:lstStyle/>
          <a:p>
            <a:pPr indent="0" marL="0">
              <a:buNone/>
            </a:pPr>
            <a:r>
              <a:rPr lang="en-US" sz="1600" i="1" dirty="0">
                <a:solidFill>
                  <a:srgbClr val="8DA0C2"/>
                </a:solidFill>
                <a:latin typeface="Calibri" pitchFamily="34" charset="0"/>
                <a:ea typeface="Calibri" pitchFamily="34" charset="-122"/>
                <a:cs typeface="Calibri" pitchFamily="34" charset="-120"/>
              </a:rPr>
              <a:t>Disaster &amp; Emergency Intelligence System: A MongoDB-Based Big Data Analytics Platform</a:t>
            </a:r>
            <a:endParaRPr lang="en-US" sz="1600" dirty="0"/>
          </a:p>
        </p:txBody>
      </p:sp>
      <p:sp>
        <p:nvSpPr>
          <p:cNvPr id="10" name="Text 8"/>
          <p:cNvSpPr txBox="1"/>
          <p:nvPr/>
        </p:nvSpPr>
        <p:spPr>
          <a:xfrm>
            <a:off x="640080" y="4343400"/>
            <a:ext cx="3840480" cy="1280160"/>
          </a:xfrm>
          <a:prstGeom prst="rect">
            <a:avLst/>
          </a:prstGeom>
          <a:noFill/>
          <a:ln/>
        </p:spPr>
        <p:txBody>
          <a:bodyPr wrap="square" lIns="0" tIns="0" rIns="0" bIns="0" rtlCol="0" anchor="t"/>
          <a:lstStyle/>
          <a:p>
            <a:pPr indent="0" marL="0">
              <a:buNone/>
            </a:pPr>
            <a:r>
              <a:rPr lang="en-US" sz="1500" dirty="0">
                <a:solidFill>
                  <a:srgbClr val="E8EEFB"/>
                </a:solidFill>
                <a:latin typeface="Calibri" pitchFamily="34" charset="0"/>
                <a:ea typeface="Calibri" pitchFamily="34" charset="-122"/>
                <a:cs typeface="Calibri" pitchFamily="34" charset="-120"/>
              </a:rPr>
              <a:t>Vichitra Attri  1BI23IS135</a:t>
            </a:r>
            <a:endParaRPr lang="en-US" sz="1500" dirty="0"/>
          </a:p>
          <a:p>
            <a:pPr indent="0" marL="0">
              <a:buNone/>
            </a:pPr>
            <a:r>
              <a:rPr lang="en-US" sz="1500" dirty="0">
                <a:solidFill>
                  <a:srgbClr val="E8EEFB"/>
                </a:solidFill>
                <a:latin typeface="Calibri" pitchFamily="34" charset="0"/>
                <a:ea typeface="Calibri" pitchFamily="34" charset="-122"/>
                <a:cs typeface="Calibri" pitchFamily="34" charset="-120"/>
              </a:rPr>
              <a:t>Vidhyashree S  1BI23IS136</a:t>
            </a:r>
            <a:endParaRPr lang="en-US" sz="1500" dirty="0"/>
          </a:p>
          <a:p>
            <a:pPr indent="0" marL="0">
              <a:buNone/>
            </a:pPr>
            <a:r>
              <a:rPr lang="en-US" sz="1500" dirty="0">
                <a:solidFill>
                  <a:srgbClr val="E8EEFB"/>
                </a:solidFill>
                <a:latin typeface="Calibri" pitchFamily="34" charset="0"/>
                <a:ea typeface="Calibri" pitchFamily="34" charset="-122"/>
                <a:cs typeface="Calibri" pitchFamily="34" charset="-120"/>
              </a:rPr>
              <a:t>Vidya Bai K  1BI23IS137</a:t>
            </a:r>
            <a:endParaRPr lang="en-US" sz="1500" dirty="0"/>
          </a:p>
          <a:p>
            <a:pPr indent="0" marL="0">
              <a:buNone/>
            </a:pPr>
            <a:r>
              <a:rPr lang="en-US" sz="1500" dirty="0">
                <a:solidFill>
                  <a:srgbClr val="E8EEFB"/>
                </a:solidFill>
                <a:latin typeface="Calibri" pitchFamily="34" charset="0"/>
                <a:ea typeface="Calibri" pitchFamily="34" charset="-122"/>
                <a:cs typeface="Calibri" pitchFamily="34" charset="-120"/>
              </a:rPr>
              <a:t>Vikram K  1BI23IS138</a:t>
            </a:r>
            <a:endParaRPr lang="en-US" sz="1500" dirty="0"/>
          </a:p>
        </p:txBody>
      </p:sp>
      <p:sp>
        <p:nvSpPr>
          <p:cNvPr id="11" name="Text 9"/>
          <p:cNvSpPr txBox="1"/>
          <p:nvPr/>
        </p:nvSpPr>
        <p:spPr>
          <a:xfrm>
            <a:off x="4754880" y="4343400"/>
            <a:ext cx="3840480" cy="1280160"/>
          </a:xfrm>
          <a:prstGeom prst="rect">
            <a:avLst/>
          </a:prstGeom>
          <a:noFill/>
          <a:ln/>
        </p:spPr>
        <p:txBody>
          <a:bodyPr wrap="square" lIns="0" tIns="0" rIns="0" bIns="0" rtlCol="0" anchor="t"/>
          <a:lstStyle/>
          <a:p>
            <a:pPr indent="0" marL="0">
              <a:buNone/>
            </a:pPr>
            <a:r>
              <a:rPr lang="en-US" sz="1500" dirty="0">
                <a:solidFill>
                  <a:srgbClr val="8DA0C2"/>
                </a:solidFill>
                <a:latin typeface="Calibri" pitchFamily="34" charset="0"/>
                <a:ea typeface="Calibri" pitchFamily="34" charset="-122"/>
                <a:cs typeface="Calibri" pitchFamily="34" charset="-120"/>
              </a:rPr>
              <a:t>Under the guidance of</a:t>
            </a:r>
            <a:endParaRPr lang="en-US" sz="1500" dirty="0"/>
          </a:p>
          <a:p>
            <a:pPr indent="0" marL="0">
              <a:buNone/>
            </a:pPr>
            <a:r>
              <a:rPr lang="en-US" sz="1500" b="1" dirty="0">
                <a:solidFill>
                  <a:srgbClr val="E8EEFB"/>
                </a:solidFill>
                <a:latin typeface="Calibri" pitchFamily="34" charset="0"/>
                <a:ea typeface="Calibri" pitchFamily="34" charset="-122"/>
                <a:cs typeface="Calibri" pitchFamily="34" charset="-120"/>
              </a:rPr>
              <a:t>Prof. Roopa B</a:t>
            </a:r>
            <a:endParaRPr lang="en-US" sz="1500" dirty="0"/>
          </a:p>
          <a:p>
            <a:pPr indent="0" marL="0">
              <a:buNone/>
            </a:pPr>
            <a:r>
              <a:rPr lang="en-US" sz="1500" dirty="0">
                <a:solidFill>
                  <a:srgbClr val="E8EEFB"/>
                </a:solidFill>
                <a:latin typeface="Calibri" pitchFamily="34" charset="0"/>
                <a:ea typeface="Calibri" pitchFamily="34" charset="-122"/>
                <a:cs typeface="Calibri" pitchFamily="34" charset="-120"/>
              </a:rPr>
              <a:t>Assistant Professor, Dept. of ISE</a:t>
            </a:r>
            <a:endParaRPr lang="en-US" sz="1500" dirty="0"/>
          </a:p>
        </p:txBody>
      </p:sp>
      <p:sp>
        <p:nvSpPr>
          <p:cNvPr id="12" name="Text 10"/>
          <p:cNvSpPr txBox="1"/>
          <p:nvPr/>
        </p:nvSpPr>
        <p:spPr>
          <a:xfrm>
            <a:off x="640080" y="6126480"/>
            <a:ext cx="10058400" cy="320040"/>
          </a:xfrm>
          <a:prstGeom prst="rect">
            <a:avLst/>
          </a:prstGeom>
          <a:noFill/>
          <a:ln/>
        </p:spPr>
        <p:txBody>
          <a:bodyPr wrap="square" lIns="0" tIns="0" rIns="0" bIns="0" rtlCol="0" anchor="ctr"/>
          <a:lstStyle/>
          <a:p>
            <a:pPr indent="0" marL="0">
              <a:buNone/>
            </a:pPr>
            <a:r>
              <a:rPr lang="en-US" sz="1200" dirty="0">
                <a:solidFill>
                  <a:srgbClr val="8DA0C2"/>
                </a:solidFill>
                <a:latin typeface="Calibri" pitchFamily="34" charset="0"/>
                <a:ea typeface="Calibri" pitchFamily="34" charset="-122"/>
                <a:cs typeface="Calibri" pitchFamily="34" charset="-120"/>
              </a:rPr>
              <a:t>Department of Information Science &amp; Engineering  ·  Bangalore Institute of Technology  ·  2026-27</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Floods move fast. Decisions are slow.</a:t>
            </a:r>
            <a:endParaRPr lang="en-US" dirty="0"/>
          </a:p>
        </p:txBody>
      </p:sp>
      <p:sp>
        <p:nvSpPr>
          <p:cNvPr id="4" name="Text 1"/>
          <p:cNvSpPr txBox="1"/>
          <p:nvPr/>
        </p:nvSpPr>
        <p:spPr>
          <a:xfrm>
            <a:off x="548640" y="1371600"/>
            <a:ext cx="4480560" cy="2377440"/>
          </a:xfrm>
          <a:prstGeom prst="rect">
            <a:avLst/>
          </a:prstGeom>
          <a:noFill/>
          <a:ln/>
        </p:spPr>
        <p:txBody>
          <a:bodyPr wrap="square" lIns="0" tIns="0" rIns="0" bIns="0" rtlCol="0" anchor="t"/>
          <a:lstStyle/>
          <a:p>
            <a:pPr indent="0" marL="0">
              <a:buNone/>
            </a:pPr>
            <a:r>
              <a:rPr lang="en-US" sz="2600" dirty="0">
                <a:solidFill>
                  <a:srgbClr val="E8EEFB"/>
                </a:solidFill>
                <a:latin typeface="Calibri" pitchFamily="34" charset="0"/>
                <a:ea typeface="Calibri" pitchFamily="34" charset="-122"/>
                <a:cs typeface="Calibri" pitchFamily="34" charset="-120"/>
              </a:rPr>
              <a:t>A few hours of delay in spotting heavy rainfall or a rising river can decide how an emergency response ends.</a:t>
            </a:r>
            <a:endParaRPr lang="en-US" sz="2600" dirty="0"/>
          </a:p>
        </p:txBody>
      </p:sp>
      <p:sp>
        <p:nvSpPr>
          <p:cNvPr id="5" name="Text 2"/>
          <p:cNvSpPr txBox="1"/>
          <p:nvPr/>
        </p:nvSpPr>
        <p:spPr>
          <a:xfrm>
            <a:off x="548640" y="3931920"/>
            <a:ext cx="4480560" cy="1097280"/>
          </a:xfrm>
          <a:prstGeom prst="rect">
            <a:avLst/>
          </a:prstGeom>
          <a:noFill/>
          <a:ln/>
        </p:spPr>
        <p:txBody>
          <a:bodyPr wrap="square" lIns="0" tIns="0" rIns="0" bIns="0" rtlCol="0" anchor="t"/>
          <a:lstStyle/>
          <a:p>
            <a:pPr indent="0" marL="0">
              <a:buNone/>
            </a:pPr>
            <a:r>
              <a:rPr lang="en-US" sz="1600" dirty="0">
                <a:solidFill>
                  <a:srgbClr val="8DA0C2"/>
                </a:solidFill>
                <a:latin typeface="Calibri" pitchFamily="34" charset="0"/>
                <a:ea typeface="Calibri" pitchFamily="34" charset="-122"/>
                <a:cs typeface="Calibri" pitchFamily="34" charset="-120"/>
              </a:rPr>
              <a:t>Rising urbanisation and unpredictable climate patterns make early detection harder every year.</a:t>
            </a:r>
            <a:endParaRPr lang="en-US" sz="1600" dirty="0"/>
          </a:p>
        </p:txBody>
      </p:sp>
      <p:sp>
        <p:nvSpPr>
          <p:cNvPr id="6" name="card"/>
          <p:cNvSpPr/>
          <p:nvPr/>
        </p:nvSpPr>
        <p:spPr>
          <a:xfrm>
            <a:off x="5486400" y="1371600"/>
            <a:ext cx="6126480" cy="1463040"/>
          </a:xfrm>
          <a:prstGeom prst="roundRect">
            <a:avLst>
              <a:gd name="adj" fmla="val 625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7" name="dot"/>
          <p:cNvSpPr/>
          <p:nvPr/>
        </p:nvSpPr>
        <p:spPr>
          <a:xfrm>
            <a:off x="5715000" y="1600200"/>
            <a:ext cx="201168" cy="201168"/>
          </a:xfrm>
          <a:prstGeom prst="ellipse">
            <a:avLst/>
          </a:prstGeom>
          <a:solidFill>
            <a:srgbClr val="FF3B5C"/>
          </a:solidFill>
          <a:ln w="12700">
            <a:solidFill>
              <a:srgbClr val="FF3B5C"/>
            </a:solidFill>
            <a:prstDash val="solid"/>
          </a:ln>
        </p:spPr>
      </p:sp>
      <p:sp>
        <p:nvSpPr>
          <p:cNvPr id="8" name="Text 5"/>
          <p:cNvSpPr txBox="1"/>
          <p:nvPr/>
        </p:nvSpPr>
        <p:spPr>
          <a:xfrm>
            <a:off x="6035040" y="1517904"/>
            <a:ext cx="539496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Hours matter</a:t>
            </a:r>
            <a:endParaRPr lang="en-US" sz="1800" dirty="0"/>
          </a:p>
        </p:txBody>
      </p:sp>
      <p:sp>
        <p:nvSpPr>
          <p:cNvPr id="9" name="Text 6"/>
          <p:cNvSpPr txBox="1"/>
          <p:nvPr/>
        </p:nvSpPr>
        <p:spPr>
          <a:xfrm>
            <a:off x="5715000" y="1965960"/>
            <a:ext cx="5669280" cy="731520"/>
          </a:xfrm>
          <a:prstGeom prst="rect">
            <a:avLst/>
          </a:prstGeom>
          <a:noFill/>
          <a:ln/>
        </p:spPr>
        <p:txBody>
          <a:bodyPr wrap="square" lIns="0" tIns="0" rIns="0" bIns="0" rtlCol="0" anchor="t"/>
          <a:lstStyle/>
          <a:p>
            <a:pPr indent="0" marL="0">
              <a:spcAft>
                <a:spcPts val="400"/>
              </a:spcAft>
              <a:buNone/>
            </a:pPr>
            <a:r>
              <a:rPr lang="en-US" sz="1400" dirty="0">
                <a:solidFill>
                  <a:srgbClr val="8DA0C2"/>
                </a:solidFill>
                <a:latin typeface="Calibri" pitchFamily="34" charset="0"/>
                <a:ea typeface="Calibri" pitchFamily="34" charset="-122"/>
                <a:cs typeface="Calibri" pitchFamily="34" charset="-120"/>
              </a:rPr>
              <a:t>Early warning signs - heavy rain, fast-rising rivers - must be caught as they happen, not in next week's report.</a:t>
            </a:r>
            <a:endParaRPr lang="en-US" sz="1400" dirty="0"/>
          </a:p>
        </p:txBody>
      </p:sp>
      <p:sp>
        <p:nvSpPr>
          <p:cNvPr id="10" name="card"/>
          <p:cNvSpPr/>
          <p:nvPr/>
        </p:nvSpPr>
        <p:spPr>
          <a:xfrm>
            <a:off x="5486400" y="3017520"/>
            <a:ext cx="6126480" cy="1463040"/>
          </a:xfrm>
          <a:prstGeom prst="roundRect">
            <a:avLst>
              <a:gd name="adj" fmla="val 625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1" name="dot"/>
          <p:cNvSpPr/>
          <p:nvPr/>
        </p:nvSpPr>
        <p:spPr>
          <a:xfrm>
            <a:off x="5715000" y="3246120"/>
            <a:ext cx="201168" cy="201168"/>
          </a:xfrm>
          <a:prstGeom prst="ellipse">
            <a:avLst/>
          </a:prstGeom>
          <a:solidFill>
            <a:srgbClr val="FF8A3D"/>
          </a:solidFill>
          <a:ln w="12700">
            <a:solidFill>
              <a:srgbClr val="FF8A3D"/>
            </a:solidFill>
            <a:prstDash val="solid"/>
          </a:ln>
        </p:spPr>
      </p:sp>
      <p:sp>
        <p:nvSpPr>
          <p:cNvPr id="12" name="Text 9"/>
          <p:cNvSpPr txBox="1"/>
          <p:nvPr/>
        </p:nvSpPr>
        <p:spPr>
          <a:xfrm>
            <a:off x="6035040" y="3163824"/>
            <a:ext cx="539496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Data is scattered</a:t>
            </a:r>
            <a:endParaRPr lang="en-US" sz="1800" dirty="0"/>
          </a:p>
        </p:txBody>
      </p:sp>
      <p:sp>
        <p:nvSpPr>
          <p:cNvPr id="13" name="Text 10"/>
          <p:cNvSpPr txBox="1"/>
          <p:nvPr/>
        </p:nvSpPr>
        <p:spPr>
          <a:xfrm>
            <a:off x="5715000" y="3611880"/>
            <a:ext cx="5669280" cy="731520"/>
          </a:xfrm>
          <a:prstGeom prst="rect">
            <a:avLst/>
          </a:prstGeom>
          <a:noFill/>
          <a:ln/>
        </p:spPr>
        <p:txBody>
          <a:bodyPr wrap="square" lIns="0" tIns="0" rIns="0" bIns="0" rtlCol="0" anchor="t"/>
          <a:lstStyle/>
          <a:p>
            <a:pPr indent="0" marL="0">
              <a:spcAft>
                <a:spcPts val="400"/>
              </a:spcAft>
              <a:buNone/>
            </a:pPr>
            <a:r>
              <a:rPr lang="en-US" sz="1400" dirty="0">
                <a:solidFill>
                  <a:srgbClr val="8DA0C2"/>
                </a:solidFill>
                <a:latin typeface="Calibri" pitchFamily="34" charset="0"/>
                <a:ea typeface="Calibri" pitchFamily="34" charset="-122"/>
                <a:cs typeface="Calibri" pitchFamily="34" charset="-120"/>
              </a:rPr>
              <a:t>Spreadsheets, paper reports and disconnected monitoring tools force analysts to piece the picture together by hand.</a:t>
            </a:r>
            <a:endParaRPr lang="en-US" sz="1400" dirty="0"/>
          </a:p>
        </p:txBody>
      </p:sp>
      <p:sp>
        <p:nvSpPr>
          <p:cNvPr id="14" name="card"/>
          <p:cNvSpPr/>
          <p:nvPr/>
        </p:nvSpPr>
        <p:spPr>
          <a:xfrm>
            <a:off x="5486400" y="4663440"/>
            <a:ext cx="6126480" cy="1463040"/>
          </a:xfrm>
          <a:prstGeom prst="roundRect">
            <a:avLst>
              <a:gd name="adj" fmla="val 625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5" name="dot"/>
          <p:cNvSpPr/>
          <p:nvPr/>
        </p:nvSpPr>
        <p:spPr>
          <a:xfrm>
            <a:off x="5715000" y="4892040"/>
            <a:ext cx="201168" cy="201168"/>
          </a:xfrm>
          <a:prstGeom prst="ellipse">
            <a:avLst/>
          </a:prstGeom>
          <a:solidFill>
            <a:srgbClr val="3CC8FF"/>
          </a:solidFill>
          <a:ln w="12700">
            <a:solidFill>
              <a:srgbClr val="3CC8FF"/>
            </a:solidFill>
            <a:prstDash val="solid"/>
          </a:ln>
        </p:spPr>
      </p:sp>
      <p:sp>
        <p:nvSpPr>
          <p:cNvPr id="16" name="Text 13"/>
          <p:cNvSpPr txBox="1"/>
          <p:nvPr/>
        </p:nvSpPr>
        <p:spPr>
          <a:xfrm>
            <a:off x="6035040" y="4809744"/>
            <a:ext cx="539496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Data keeps growing</a:t>
            </a:r>
            <a:endParaRPr lang="en-US" sz="1800" dirty="0"/>
          </a:p>
        </p:txBody>
      </p:sp>
      <p:sp>
        <p:nvSpPr>
          <p:cNvPr id="17" name="Text 14"/>
          <p:cNvSpPr txBox="1"/>
          <p:nvPr/>
        </p:nvSpPr>
        <p:spPr>
          <a:xfrm>
            <a:off x="5715000" y="5257800"/>
            <a:ext cx="5669280" cy="731520"/>
          </a:xfrm>
          <a:prstGeom prst="rect">
            <a:avLst/>
          </a:prstGeom>
          <a:noFill/>
          <a:ln/>
        </p:spPr>
        <p:txBody>
          <a:bodyPr wrap="square" lIns="0" tIns="0" rIns="0" bIns="0" rtlCol="0" anchor="t"/>
          <a:lstStyle/>
          <a:p>
            <a:pPr indent="0" marL="0">
              <a:spcAft>
                <a:spcPts val="400"/>
              </a:spcAft>
              <a:buNone/>
            </a:pPr>
            <a:r>
              <a:rPr lang="en-US" sz="1400" dirty="0">
                <a:solidFill>
                  <a:srgbClr val="8DA0C2"/>
                </a:solidFill>
                <a:latin typeface="Calibri" pitchFamily="34" charset="0"/>
                <a:ea typeface="Calibri" pitchFamily="34" charset="-122"/>
                <a:cs typeface="Calibri" pitchFamily="34" charset="-120"/>
              </a:rPr>
              <a:t>IoT sensors, weather stations and satellites produce large, varied, fast-growing records that need scalable storage.</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Problem statement: why existing systems fall short</a:t>
            </a:r>
            <a:endParaRPr lang="en-US" dirty="0"/>
          </a:p>
        </p:txBody>
      </p:sp>
      <p:sp>
        <p:nvSpPr>
          <p:cNvPr id="4" name="card"/>
          <p:cNvSpPr/>
          <p:nvPr/>
        </p:nvSpPr>
        <p:spPr>
          <a:xfrm>
            <a:off x="548640" y="1371600"/>
            <a:ext cx="11064240" cy="822960"/>
          </a:xfrm>
          <a:prstGeom prst="roundRect">
            <a:avLst>
              <a:gd name="adj" fmla="val 11111"/>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badge"/>
          <p:cNvSpPr/>
          <p:nvPr/>
        </p:nvSpPr>
        <p:spPr>
          <a:xfrm>
            <a:off x="731520" y="1554480"/>
            <a:ext cx="457200" cy="457200"/>
          </a:xfrm>
          <a:prstGeom prst="ellipse">
            <a:avLst/>
          </a:prstGeom>
          <a:solidFill>
            <a:srgbClr val="3CC8FF"/>
          </a:solidFill>
          <a:ln w="12700">
            <a:solidFill>
              <a:srgbClr val="3CC8FF"/>
            </a:solidFill>
            <a:prstDash val="solid"/>
          </a:ln>
        </p:spPr>
      </p:sp>
      <p:sp>
        <p:nvSpPr>
          <p:cNvPr id="6" name="Text 3"/>
          <p:cNvSpPr txBox="1"/>
          <p:nvPr/>
        </p:nvSpPr>
        <p:spPr>
          <a:xfrm>
            <a:off x="731520" y="1554480"/>
            <a:ext cx="457200" cy="457200"/>
          </a:xfrm>
          <a:prstGeom prst="rect">
            <a:avLst/>
          </a:prstGeom>
          <a:noFill/>
          <a:ln/>
        </p:spPr>
        <p:txBody>
          <a:bodyPr wrap="square" lIns="0" tIns="0" rIns="0" bIns="0" rtlCol="0" anchor="ctr"/>
          <a:lstStyle/>
          <a:p>
            <a:pPr algn="ctr" indent="0" marL="0">
              <a:buNone/>
            </a:pPr>
            <a:r>
              <a:rPr lang="en-US" sz="1600" b="1" dirty="0">
                <a:solidFill>
                  <a:srgbClr val="0A101D"/>
                </a:solidFill>
                <a:latin typeface="Calibri" pitchFamily="34" charset="0"/>
                <a:ea typeface="Calibri" pitchFamily="34" charset="-122"/>
                <a:cs typeface="Calibri" pitchFamily="34" charset="-120"/>
              </a:rPr>
              <a:t>1</a:t>
            </a:r>
            <a:endParaRPr lang="en-US" sz="1600" dirty="0"/>
          </a:p>
        </p:txBody>
      </p:sp>
      <p:sp>
        <p:nvSpPr>
          <p:cNvPr id="7" name="Text 4"/>
          <p:cNvSpPr txBox="1"/>
          <p:nvPr/>
        </p:nvSpPr>
        <p:spPr>
          <a:xfrm>
            <a:off x="1463040" y="1371600"/>
            <a:ext cx="3291840" cy="8229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Limited data processing</a:t>
            </a:r>
            <a:endParaRPr lang="en-US" sz="1800" dirty="0"/>
          </a:p>
        </p:txBody>
      </p:sp>
      <p:sp>
        <p:nvSpPr>
          <p:cNvPr id="8" name="Text 5"/>
          <p:cNvSpPr txBox="1"/>
          <p:nvPr/>
        </p:nvSpPr>
        <p:spPr>
          <a:xfrm>
            <a:off x="4846320" y="1371600"/>
            <a:ext cx="6583680" cy="822960"/>
          </a:xfrm>
          <a:prstGeom prst="rect">
            <a:avLst/>
          </a:prstGeom>
          <a:noFill/>
          <a:ln/>
        </p:spPr>
        <p:txBody>
          <a:bodyPr wrap="square" lIns="0" tIns="0" rIns="0" bIns="0" rtlCol="0" anchor="ctr"/>
          <a:lstStyle/>
          <a:p>
            <a:pPr indent="0" marL="0">
              <a:buNone/>
            </a:pPr>
            <a:r>
              <a:rPr lang="en-US" sz="1500" dirty="0">
                <a:solidFill>
                  <a:srgbClr val="8DA0C2"/>
                </a:solidFill>
                <a:latin typeface="Calibri" pitchFamily="34" charset="0"/>
                <a:ea typeface="Calibri" pitchFamily="34" charset="-122"/>
                <a:cs typeface="Calibri" pitchFamily="34" charset="-120"/>
              </a:rPr>
              <a:t>Static datasets support record-keeping, not large-scale processing of rainfall, river and weather records.</a:t>
            </a:r>
            <a:endParaRPr lang="en-US" sz="1500" dirty="0"/>
          </a:p>
        </p:txBody>
      </p:sp>
      <p:sp>
        <p:nvSpPr>
          <p:cNvPr id="9" name="card"/>
          <p:cNvSpPr/>
          <p:nvPr/>
        </p:nvSpPr>
        <p:spPr>
          <a:xfrm>
            <a:off x="548640" y="2331720"/>
            <a:ext cx="11064240" cy="822960"/>
          </a:xfrm>
          <a:prstGeom prst="roundRect">
            <a:avLst>
              <a:gd name="adj" fmla="val 11111"/>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0" name="badge"/>
          <p:cNvSpPr/>
          <p:nvPr/>
        </p:nvSpPr>
        <p:spPr>
          <a:xfrm>
            <a:off x="731520" y="2514600"/>
            <a:ext cx="457200" cy="457200"/>
          </a:xfrm>
          <a:prstGeom prst="ellipse">
            <a:avLst/>
          </a:prstGeom>
          <a:solidFill>
            <a:srgbClr val="3CC8FF"/>
          </a:solidFill>
          <a:ln w="12700">
            <a:solidFill>
              <a:srgbClr val="3CC8FF"/>
            </a:solidFill>
            <a:prstDash val="solid"/>
          </a:ln>
        </p:spPr>
      </p:sp>
      <p:sp>
        <p:nvSpPr>
          <p:cNvPr id="11" name="Text 8"/>
          <p:cNvSpPr txBox="1"/>
          <p:nvPr/>
        </p:nvSpPr>
        <p:spPr>
          <a:xfrm>
            <a:off x="731520" y="2514600"/>
            <a:ext cx="457200" cy="457200"/>
          </a:xfrm>
          <a:prstGeom prst="rect">
            <a:avLst/>
          </a:prstGeom>
          <a:noFill/>
          <a:ln/>
        </p:spPr>
        <p:txBody>
          <a:bodyPr wrap="square" lIns="0" tIns="0" rIns="0" bIns="0" rtlCol="0" anchor="ctr"/>
          <a:lstStyle/>
          <a:p>
            <a:pPr algn="ctr" indent="0" marL="0">
              <a:buNone/>
            </a:pPr>
            <a:r>
              <a:rPr lang="en-US" sz="1600" b="1" dirty="0">
                <a:solidFill>
                  <a:srgbClr val="0A101D"/>
                </a:solidFill>
                <a:latin typeface="Calibri" pitchFamily="34" charset="0"/>
                <a:ea typeface="Calibri" pitchFamily="34" charset="-122"/>
                <a:cs typeface="Calibri" pitchFamily="34" charset="-120"/>
              </a:rPr>
              <a:t>2</a:t>
            </a:r>
            <a:endParaRPr lang="en-US" sz="1600" dirty="0"/>
          </a:p>
        </p:txBody>
      </p:sp>
      <p:sp>
        <p:nvSpPr>
          <p:cNvPr id="12" name="Text 9"/>
          <p:cNvSpPr txBox="1"/>
          <p:nvPr/>
        </p:nvSpPr>
        <p:spPr>
          <a:xfrm>
            <a:off x="1463040" y="2331720"/>
            <a:ext cx="3291840" cy="8229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Static files &amp; manual reports</a:t>
            </a:r>
            <a:endParaRPr lang="en-US" sz="1800" dirty="0"/>
          </a:p>
        </p:txBody>
      </p:sp>
      <p:sp>
        <p:nvSpPr>
          <p:cNvPr id="13" name="Text 10"/>
          <p:cNvSpPr txBox="1"/>
          <p:nvPr/>
        </p:nvSpPr>
        <p:spPr>
          <a:xfrm>
            <a:off x="4846320" y="2331720"/>
            <a:ext cx="6583680" cy="822960"/>
          </a:xfrm>
          <a:prstGeom prst="rect">
            <a:avLst/>
          </a:prstGeom>
          <a:noFill/>
          <a:ln/>
        </p:spPr>
        <p:txBody>
          <a:bodyPr wrap="square" lIns="0" tIns="0" rIns="0" bIns="0" rtlCol="0" anchor="ctr"/>
          <a:lstStyle/>
          <a:p>
            <a:pPr indent="0" marL="0">
              <a:buNone/>
            </a:pPr>
            <a:r>
              <a:rPr lang="en-US" sz="1500" dirty="0">
                <a:solidFill>
                  <a:srgbClr val="8DA0C2"/>
                </a:solidFill>
                <a:latin typeface="Calibri" pitchFamily="34" charset="0"/>
                <a:ea typeface="Calibri" pitchFamily="34" charset="-122"/>
                <a:cs typeface="Calibri" pitchFamily="34" charset="-120"/>
              </a:rPr>
              <a:t>Spreadsheets and paper reports make centralised management and analysis difficult.</a:t>
            </a:r>
            <a:endParaRPr lang="en-US" sz="1500" dirty="0"/>
          </a:p>
        </p:txBody>
      </p:sp>
      <p:sp>
        <p:nvSpPr>
          <p:cNvPr id="14" name="card"/>
          <p:cNvSpPr/>
          <p:nvPr/>
        </p:nvSpPr>
        <p:spPr>
          <a:xfrm>
            <a:off x="548640" y="3291840"/>
            <a:ext cx="11064240" cy="822960"/>
          </a:xfrm>
          <a:prstGeom prst="roundRect">
            <a:avLst>
              <a:gd name="adj" fmla="val 11111"/>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5" name="badge"/>
          <p:cNvSpPr/>
          <p:nvPr/>
        </p:nvSpPr>
        <p:spPr>
          <a:xfrm>
            <a:off x="731520" y="3474720"/>
            <a:ext cx="457200" cy="457200"/>
          </a:xfrm>
          <a:prstGeom prst="ellipse">
            <a:avLst/>
          </a:prstGeom>
          <a:solidFill>
            <a:srgbClr val="3CC8FF"/>
          </a:solidFill>
          <a:ln w="12700">
            <a:solidFill>
              <a:srgbClr val="3CC8FF"/>
            </a:solidFill>
            <a:prstDash val="solid"/>
          </a:ln>
        </p:spPr>
      </p:sp>
      <p:sp>
        <p:nvSpPr>
          <p:cNvPr id="16" name="Text 13"/>
          <p:cNvSpPr txBox="1"/>
          <p:nvPr/>
        </p:nvSpPr>
        <p:spPr>
          <a:xfrm>
            <a:off x="731520" y="3474720"/>
            <a:ext cx="457200" cy="457200"/>
          </a:xfrm>
          <a:prstGeom prst="rect">
            <a:avLst/>
          </a:prstGeom>
          <a:noFill/>
          <a:ln/>
        </p:spPr>
        <p:txBody>
          <a:bodyPr wrap="square" lIns="0" tIns="0" rIns="0" bIns="0" rtlCol="0" anchor="ctr"/>
          <a:lstStyle/>
          <a:p>
            <a:pPr algn="ctr" indent="0" marL="0">
              <a:buNone/>
            </a:pPr>
            <a:r>
              <a:rPr lang="en-US" sz="1600" b="1" dirty="0">
                <a:solidFill>
                  <a:srgbClr val="0A101D"/>
                </a:solidFill>
                <a:latin typeface="Calibri" pitchFamily="34" charset="0"/>
                <a:ea typeface="Calibri" pitchFamily="34" charset="-122"/>
                <a:cs typeface="Calibri" pitchFamily="34" charset="-120"/>
              </a:rPr>
              <a:t>3</a:t>
            </a:r>
            <a:endParaRPr lang="en-US" sz="1600" dirty="0"/>
          </a:p>
        </p:txBody>
      </p:sp>
      <p:sp>
        <p:nvSpPr>
          <p:cNvPr id="17" name="Text 14"/>
          <p:cNvSpPr txBox="1"/>
          <p:nvPr/>
        </p:nvSpPr>
        <p:spPr>
          <a:xfrm>
            <a:off x="1463040" y="3291840"/>
            <a:ext cx="3291840" cy="8229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Limited analytical insight</a:t>
            </a:r>
            <a:endParaRPr lang="en-US" sz="1800" dirty="0"/>
          </a:p>
        </p:txBody>
      </p:sp>
      <p:sp>
        <p:nvSpPr>
          <p:cNvPr id="18" name="Text 15"/>
          <p:cNvSpPr txBox="1"/>
          <p:nvPr/>
        </p:nvSpPr>
        <p:spPr>
          <a:xfrm>
            <a:off x="4846320" y="3291840"/>
            <a:ext cx="6583680" cy="822960"/>
          </a:xfrm>
          <a:prstGeom prst="rect">
            <a:avLst/>
          </a:prstGeom>
          <a:noFill/>
          <a:ln/>
        </p:spPr>
        <p:txBody>
          <a:bodyPr wrap="square" lIns="0" tIns="0" rIns="0" bIns="0" rtlCol="0" anchor="ctr"/>
          <a:lstStyle/>
          <a:p>
            <a:pPr indent="0" marL="0">
              <a:buNone/>
            </a:pPr>
            <a:r>
              <a:rPr lang="en-US" sz="1500" dirty="0">
                <a:solidFill>
                  <a:srgbClr val="8DA0C2"/>
                </a:solidFill>
                <a:latin typeface="Calibri" pitchFamily="34" charset="0"/>
                <a:ea typeface="Calibri" pitchFamily="34" charset="-122"/>
                <a:cs typeface="Calibri" pitchFamily="34" charset="-120"/>
              </a:rPr>
              <a:t>Little region-wise, time-based or severity-based risk analytics.</a:t>
            </a:r>
            <a:endParaRPr lang="en-US" sz="1500" dirty="0"/>
          </a:p>
        </p:txBody>
      </p:sp>
      <p:sp>
        <p:nvSpPr>
          <p:cNvPr id="19" name="card"/>
          <p:cNvSpPr/>
          <p:nvPr/>
        </p:nvSpPr>
        <p:spPr>
          <a:xfrm>
            <a:off x="548640" y="4251960"/>
            <a:ext cx="11064240" cy="822960"/>
          </a:xfrm>
          <a:prstGeom prst="roundRect">
            <a:avLst>
              <a:gd name="adj" fmla="val 11111"/>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0" name="badge"/>
          <p:cNvSpPr/>
          <p:nvPr/>
        </p:nvSpPr>
        <p:spPr>
          <a:xfrm>
            <a:off x="731520" y="4434840"/>
            <a:ext cx="457200" cy="457200"/>
          </a:xfrm>
          <a:prstGeom prst="ellipse">
            <a:avLst/>
          </a:prstGeom>
          <a:solidFill>
            <a:srgbClr val="3CC8FF"/>
          </a:solidFill>
          <a:ln w="12700">
            <a:solidFill>
              <a:srgbClr val="3CC8FF"/>
            </a:solidFill>
            <a:prstDash val="solid"/>
          </a:ln>
        </p:spPr>
      </p:sp>
      <p:sp>
        <p:nvSpPr>
          <p:cNvPr id="21" name="Text 18"/>
          <p:cNvSpPr txBox="1"/>
          <p:nvPr/>
        </p:nvSpPr>
        <p:spPr>
          <a:xfrm>
            <a:off x="731520" y="4434840"/>
            <a:ext cx="457200" cy="457200"/>
          </a:xfrm>
          <a:prstGeom prst="rect">
            <a:avLst/>
          </a:prstGeom>
          <a:noFill/>
          <a:ln/>
        </p:spPr>
        <p:txBody>
          <a:bodyPr wrap="square" lIns="0" tIns="0" rIns="0" bIns="0" rtlCol="0" anchor="ctr"/>
          <a:lstStyle/>
          <a:p>
            <a:pPr algn="ctr" indent="0" marL="0">
              <a:buNone/>
            </a:pPr>
            <a:r>
              <a:rPr lang="en-US" sz="1600" b="1" dirty="0">
                <a:solidFill>
                  <a:srgbClr val="0A101D"/>
                </a:solidFill>
                <a:latin typeface="Calibri" pitchFamily="34" charset="0"/>
                <a:ea typeface="Calibri" pitchFamily="34" charset="-122"/>
                <a:cs typeface="Calibri" pitchFamily="34" charset="-120"/>
              </a:rPr>
              <a:t>4</a:t>
            </a:r>
            <a:endParaRPr lang="en-US" sz="1600" dirty="0"/>
          </a:p>
        </p:txBody>
      </p:sp>
      <p:sp>
        <p:nvSpPr>
          <p:cNvPr id="22" name="Text 19"/>
          <p:cNvSpPr txBox="1"/>
          <p:nvPr/>
        </p:nvSpPr>
        <p:spPr>
          <a:xfrm>
            <a:off x="1463040" y="4251960"/>
            <a:ext cx="3291840" cy="8229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Anomalies go unnoticed</a:t>
            </a:r>
            <a:endParaRPr lang="en-US" sz="1800" dirty="0"/>
          </a:p>
        </p:txBody>
      </p:sp>
      <p:sp>
        <p:nvSpPr>
          <p:cNvPr id="23" name="Text 20"/>
          <p:cNvSpPr txBox="1"/>
          <p:nvPr/>
        </p:nvSpPr>
        <p:spPr>
          <a:xfrm>
            <a:off x="4846320" y="4251960"/>
            <a:ext cx="6583680" cy="822960"/>
          </a:xfrm>
          <a:prstGeom prst="rect">
            <a:avLst/>
          </a:prstGeom>
          <a:noFill/>
          <a:ln/>
        </p:spPr>
        <p:txBody>
          <a:bodyPr wrap="square" lIns="0" tIns="0" rIns="0" bIns="0" rtlCol="0" anchor="ctr"/>
          <a:lstStyle/>
          <a:p>
            <a:pPr indent="0" marL="0">
              <a:buNone/>
            </a:pPr>
            <a:r>
              <a:rPr lang="en-US" sz="1500" dirty="0">
                <a:solidFill>
                  <a:srgbClr val="8DA0C2"/>
                </a:solidFill>
                <a:latin typeface="Calibri" pitchFamily="34" charset="0"/>
                <a:ea typeface="Calibri" pitchFamily="34" charset="-122"/>
                <a:cs typeface="Calibri" pitchFamily="34" charset="-120"/>
              </a:rPr>
              <a:t>Rainfall spikes and rapidly rising rivers are hard to detect without a database built for analytical queries.</a:t>
            </a:r>
            <a:endParaRPr lang="en-US" sz="1500" dirty="0"/>
          </a:p>
        </p:txBody>
      </p:sp>
      <p:sp>
        <p:nvSpPr>
          <p:cNvPr id="24" name="card"/>
          <p:cNvSpPr/>
          <p:nvPr/>
        </p:nvSpPr>
        <p:spPr>
          <a:xfrm>
            <a:off x="548640" y="5212080"/>
            <a:ext cx="11064240" cy="822960"/>
          </a:xfrm>
          <a:prstGeom prst="roundRect">
            <a:avLst>
              <a:gd name="adj" fmla="val 11111"/>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5" name="badge"/>
          <p:cNvSpPr/>
          <p:nvPr/>
        </p:nvSpPr>
        <p:spPr>
          <a:xfrm>
            <a:off x="731520" y="5394960"/>
            <a:ext cx="457200" cy="457200"/>
          </a:xfrm>
          <a:prstGeom prst="ellipse">
            <a:avLst/>
          </a:prstGeom>
          <a:solidFill>
            <a:srgbClr val="3CC8FF"/>
          </a:solidFill>
          <a:ln w="12700">
            <a:solidFill>
              <a:srgbClr val="3CC8FF"/>
            </a:solidFill>
            <a:prstDash val="solid"/>
          </a:ln>
        </p:spPr>
      </p:sp>
      <p:sp>
        <p:nvSpPr>
          <p:cNvPr id="26" name="Text 23"/>
          <p:cNvSpPr txBox="1"/>
          <p:nvPr/>
        </p:nvSpPr>
        <p:spPr>
          <a:xfrm>
            <a:off x="731520" y="5394960"/>
            <a:ext cx="457200" cy="457200"/>
          </a:xfrm>
          <a:prstGeom prst="rect">
            <a:avLst/>
          </a:prstGeom>
          <a:noFill/>
          <a:ln/>
        </p:spPr>
        <p:txBody>
          <a:bodyPr wrap="square" lIns="0" tIns="0" rIns="0" bIns="0" rtlCol="0" anchor="ctr"/>
          <a:lstStyle/>
          <a:p>
            <a:pPr algn="ctr" indent="0" marL="0">
              <a:buNone/>
            </a:pPr>
            <a:r>
              <a:rPr lang="en-US" sz="1600" b="1" dirty="0">
                <a:solidFill>
                  <a:srgbClr val="0A101D"/>
                </a:solidFill>
                <a:latin typeface="Calibri" pitchFamily="34" charset="0"/>
                <a:ea typeface="Calibri" pitchFamily="34" charset="-122"/>
                <a:cs typeface="Calibri" pitchFamily="34" charset="-120"/>
              </a:rPr>
              <a:t>5</a:t>
            </a:r>
            <a:endParaRPr lang="en-US" sz="1600" dirty="0"/>
          </a:p>
        </p:txBody>
      </p:sp>
      <p:sp>
        <p:nvSpPr>
          <p:cNvPr id="27" name="Text 24"/>
          <p:cNvSpPr txBox="1"/>
          <p:nvPr/>
        </p:nvSpPr>
        <p:spPr>
          <a:xfrm>
            <a:off x="1463040" y="5212080"/>
            <a:ext cx="3291840" cy="8229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No interactive exploration</a:t>
            </a:r>
            <a:endParaRPr lang="en-US" sz="1800" dirty="0"/>
          </a:p>
        </p:txBody>
      </p:sp>
      <p:sp>
        <p:nvSpPr>
          <p:cNvPr id="28" name="Text 25"/>
          <p:cNvSpPr txBox="1"/>
          <p:nvPr/>
        </p:nvSpPr>
        <p:spPr>
          <a:xfrm>
            <a:off x="4846320" y="5212080"/>
            <a:ext cx="6583680" cy="822960"/>
          </a:xfrm>
          <a:prstGeom prst="rect">
            <a:avLst/>
          </a:prstGeom>
          <a:noFill/>
          <a:ln/>
        </p:spPr>
        <p:txBody>
          <a:bodyPr wrap="square" lIns="0" tIns="0" rIns="0" bIns="0" rtlCol="0" anchor="ctr"/>
          <a:lstStyle/>
          <a:p>
            <a:pPr indent="0" marL="0">
              <a:buNone/>
            </a:pPr>
            <a:r>
              <a:rPr lang="en-US" sz="1500" dirty="0">
                <a:solidFill>
                  <a:srgbClr val="8DA0C2"/>
                </a:solidFill>
                <a:latin typeface="Calibri" pitchFamily="34" charset="0"/>
                <a:ea typeface="Calibri" pitchFamily="34" charset="-122"/>
                <a:cs typeface="Calibri" pitchFamily="34" charset="-120"/>
              </a:rPr>
              <a:t>Users cannot drill into location-specific risk statistics on demand.</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Objectives</a:t>
            </a:r>
            <a:endParaRPr lang="en-US" dirty="0"/>
          </a:p>
        </p:txBody>
      </p:sp>
      <p:sp>
        <p:nvSpPr>
          <p:cNvPr id="4" name="card"/>
          <p:cNvSpPr/>
          <p:nvPr/>
        </p:nvSpPr>
        <p:spPr>
          <a:xfrm>
            <a:off x="54864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dot"/>
          <p:cNvSpPr/>
          <p:nvPr/>
        </p:nvSpPr>
        <p:spPr>
          <a:xfrm>
            <a:off x="777240" y="1600200"/>
            <a:ext cx="201168" cy="201168"/>
          </a:xfrm>
          <a:prstGeom prst="ellipse">
            <a:avLst/>
          </a:prstGeom>
          <a:solidFill>
            <a:srgbClr val="3CC8FF"/>
          </a:solidFill>
          <a:ln w="12700">
            <a:solidFill>
              <a:srgbClr val="3CC8FF"/>
            </a:solidFill>
            <a:prstDash val="solid"/>
          </a:ln>
        </p:spPr>
      </p:sp>
      <p:sp>
        <p:nvSpPr>
          <p:cNvPr id="6" name="Text 3"/>
          <p:cNvSpPr txBox="1"/>
          <p:nvPr/>
        </p:nvSpPr>
        <p:spPr>
          <a:xfrm>
            <a:off x="1097280" y="1517904"/>
            <a:ext cx="2834640" cy="365760"/>
          </a:xfrm>
          <a:prstGeom prst="rect">
            <a:avLst/>
          </a:prstGeom>
          <a:noFill/>
          <a:ln/>
        </p:spPr>
        <p:txBody>
          <a:bodyPr wrap="square" lIns="0" tIns="0" rIns="0" bIns="0" rtlCol="0" anchor="ctr"/>
          <a:lstStyle/>
          <a:p>
            <a:pPr indent="0" marL="0">
              <a:buNone/>
            </a:pPr>
            <a:r>
              <a:rPr lang="en-US" sz="2000" b="1" dirty="0">
                <a:solidFill>
                  <a:srgbClr val="E8EEFB"/>
                </a:solidFill>
                <a:latin typeface="Calibri" pitchFamily="34" charset="0"/>
                <a:ea typeface="Calibri" pitchFamily="34" charset="-122"/>
                <a:cs typeface="Calibri" pitchFamily="34" charset="-120"/>
              </a:rPr>
              <a:t>Store at scale</a:t>
            </a:r>
            <a:endParaRPr lang="en-US" sz="2000" dirty="0"/>
          </a:p>
        </p:txBody>
      </p:sp>
      <p:sp>
        <p:nvSpPr>
          <p:cNvPr id="7" name="Text 4"/>
          <p:cNvSpPr txBox="1"/>
          <p:nvPr/>
        </p:nvSpPr>
        <p:spPr>
          <a:xfrm>
            <a:off x="777240" y="1965960"/>
            <a:ext cx="3108960" cy="1554480"/>
          </a:xfrm>
          <a:prstGeom prst="rect">
            <a:avLst/>
          </a:prstGeom>
          <a:noFill/>
          <a:ln/>
        </p:spPr>
        <p:txBody>
          <a:bodyPr wrap="square" lIns="0" tIns="0" rIns="0" bIns="0" rtlCol="0" anchor="t"/>
          <a:lstStyle/>
          <a:p>
            <a:pPr indent="0" marL="0">
              <a:spcAft>
                <a:spcPts val="400"/>
              </a:spcAft>
              <a:buNone/>
            </a:pPr>
            <a:r>
              <a:rPr lang="en-US" sz="1600" dirty="0">
                <a:solidFill>
                  <a:srgbClr val="8DA0C2"/>
                </a:solidFill>
                <a:latin typeface="Calibri" pitchFamily="34" charset="0"/>
                <a:ea typeface="Calibri" pitchFamily="34" charset="-122"/>
                <a:cs typeface="Calibri" pitchFamily="34" charset="-120"/>
              </a:rPr>
              <a:t>Rainfall, river-level, weather and risk-zone data in MongoDB</a:t>
            </a:r>
            <a:endParaRPr lang="en-US" sz="1600" dirty="0"/>
          </a:p>
        </p:txBody>
      </p:sp>
      <p:sp>
        <p:nvSpPr>
          <p:cNvPr id="8" name="card"/>
          <p:cNvSpPr/>
          <p:nvPr/>
        </p:nvSpPr>
        <p:spPr>
          <a:xfrm>
            <a:off x="429768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9" name="dot"/>
          <p:cNvSpPr/>
          <p:nvPr/>
        </p:nvSpPr>
        <p:spPr>
          <a:xfrm>
            <a:off x="4526280" y="1600200"/>
            <a:ext cx="201168" cy="201168"/>
          </a:xfrm>
          <a:prstGeom prst="ellipse">
            <a:avLst/>
          </a:prstGeom>
          <a:solidFill>
            <a:srgbClr val="B18CFF"/>
          </a:solidFill>
          <a:ln w="12700">
            <a:solidFill>
              <a:srgbClr val="B18CFF"/>
            </a:solidFill>
            <a:prstDash val="solid"/>
          </a:ln>
        </p:spPr>
      </p:sp>
      <p:sp>
        <p:nvSpPr>
          <p:cNvPr id="10" name="Text 7"/>
          <p:cNvSpPr txBox="1"/>
          <p:nvPr/>
        </p:nvSpPr>
        <p:spPr>
          <a:xfrm>
            <a:off x="4846320" y="1517904"/>
            <a:ext cx="2834640" cy="365760"/>
          </a:xfrm>
          <a:prstGeom prst="rect">
            <a:avLst/>
          </a:prstGeom>
          <a:noFill/>
          <a:ln/>
        </p:spPr>
        <p:txBody>
          <a:bodyPr wrap="square" lIns="0" tIns="0" rIns="0" bIns="0" rtlCol="0" anchor="ctr"/>
          <a:lstStyle/>
          <a:p>
            <a:pPr indent="0" marL="0">
              <a:buNone/>
            </a:pPr>
            <a:r>
              <a:rPr lang="en-US" sz="2000" b="1" dirty="0">
                <a:solidFill>
                  <a:srgbClr val="E8EEFB"/>
                </a:solidFill>
                <a:latin typeface="Calibri" pitchFamily="34" charset="0"/>
                <a:ea typeface="Calibri" pitchFamily="34" charset="-122"/>
                <a:cs typeface="Calibri" pitchFamily="34" charset="-120"/>
              </a:rPr>
              <a:t>Process with pipelines</a:t>
            </a:r>
            <a:endParaRPr lang="en-US" sz="2000" dirty="0"/>
          </a:p>
        </p:txBody>
      </p:sp>
      <p:sp>
        <p:nvSpPr>
          <p:cNvPr id="11" name="Text 8"/>
          <p:cNvSpPr txBox="1"/>
          <p:nvPr/>
        </p:nvSpPr>
        <p:spPr>
          <a:xfrm>
            <a:off x="4526280" y="1965960"/>
            <a:ext cx="3108960" cy="1554480"/>
          </a:xfrm>
          <a:prstGeom prst="rect">
            <a:avLst/>
          </a:prstGeom>
          <a:noFill/>
          <a:ln/>
        </p:spPr>
        <p:txBody>
          <a:bodyPr wrap="square" lIns="0" tIns="0" rIns="0" bIns="0" rtlCol="0" anchor="t"/>
          <a:lstStyle/>
          <a:p>
            <a:pPr indent="0" marL="0">
              <a:spcAft>
                <a:spcPts val="400"/>
              </a:spcAft>
              <a:buNone/>
            </a:pPr>
            <a:r>
              <a:rPr lang="en-US" sz="1600" dirty="0">
                <a:solidFill>
                  <a:srgbClr val="8DA0C2"/>
                </a:solidFill>
                <a:latin typeface="Calibri" pitchFamily="34" charset="0"/>
                <a:ea typeface="Calibri" pitchFamily="34" charset="-122"/>
                <a:cs typeface="Calibri" pitchFamily="34" charset="-120"/>
              </a:rPr>
              <a:t>MongoDB queries and aggregation pipelines instead of static files</a:t>
            </a:r>
            <a:endParaRPr lang="en-US" sz="1600" dirty="0"/>
          </a:p>
        </p:txBody>
      </p:sp>
      <p:sp>
        <p:nvSpPr>
          <p:cNvPr id="12" name="card"/>
          <p:cNvSpPr/>
          <p:nvPr/>
        </p:nvSpPr>
        <p:spPr>
          <a:xfrm>
            <a:off x="804672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3" name="dot"/>
          <p:cNvSpPr/>
          <p:nvPr/>
        </p:nvSpPr>
        <p:spPr>
          <a:xfrm>
            <a:off x="8275320" y="1600200"/>
            <a:ext cx="201168" cy="201168"/>
          </a:xfrm>
          <a:prstGeom prst="ellipse">
            <a:avLst/>
          </a:prstGeom>
          <a:solidFill>
            <a:srgbClr val="3DDC97"/>
          </a:solidFill>
          <a:ln w="12700">
            <a:solidFill>
              <a:srgbClr val="3DDC97"/>
            </a:solidFill>
            <a:prstDash val="solid"/>
          </a:ln>
        </p:spPr>
      </p:sp>
      <p:sp>
        <p:nvSpPr>
          <p:cNvPr id="14" name="Text 11"/>
          <p:cNvSpPr txBox="1"/>
          <p:nvPr/>
        </p:nvSpPr>
        <p:spPr>
          <a:xfrm>
            <a:off x="8595360" y="1517904"/>
            <a:ext cx="2834640" cy="365760"/>
          </a:xfrm>
          <a:prstGeom prst="rect">
            <a:avLst/>
          </a:prstGeom>
          <a:noFill/>
          <a:ln/>
        </p:spPr>
        <p:txBody>
          <a:bodyPr wrap="square" lIns="0" tIns="0" rIns="0" bIns="0" rtlCol="0" anchor="ctr"/>
          <a:lstStyle/>
          <a:p>
            <a:pPr indent="0" marL="0">
              <a:buNone/>
            </a:pPr>
            <a:r>
              <a:rPr lang="en-US" sz="2000" b="1" dirty="0">
                <a:solidFill>
                  <a:srgbClr val="E8EEFB"/>
                </a:solidFill>
                <a:latin typeface="Calibri" pitchFamily="34" charset="0"/>
                <a:ea typeface="Calibri" pitchFamily="34" charset="-122"/>
                <a:cs typeface="Calibri" pitchFamily="34" charset="-120"/>
              </a:rPr>
              <a:t>Analyse history + live</a:t>
            </a:r>
            <a:endParaRPr lang="en-US" sz="2000" dirty="0"/>
          </a:p>
        </p:txBody>
      </p:sp>
      <p:sp>
        <p:nvSpPr>
          <p:cNvPr id="15" name="Text 12"/>
          <p:cNvSpPr txBox="1"/>
          <p:nvPr/>
        </p:nvSpPr>
        <p:spPr>
          <a:xfrm>
            <a:off x="8275320" y="1965960"/>
            <a:ext cx="3108960" cy="1554480"/>
          </a:xfrm>
          <a:prstGeom prst="rect">
            <a:avLst/>
          </a:prstGeom>
          <a:noFill/>
          <a:ln/>
        </p:spPr>
        <p:txBody>
          <a:bodyPr wrap="square" lIns="0" tIns="0" rIns="0" bIns="0" rtlCol="0" anchor="t"/>
          <a:lstStyle/>
          <a:p>
            <a:pPr indent="0" marL="0">
              <a:spcAft>
                <a:spcPts val="400"/>
              </a:spcAft>
              <a:buNone/>
            </a:pPr>
            <a:r>
              <a:rPr lang="en-US" sz="1600" dirty="0">
                <a:solidFill>
                  <a:srgbClr val="8DA0C2"/>
                </a:solidFill>
                <a:latin typeface="Calibri" pitchFamily="34" charset="0"/>
                <a:ea typeface="Calibri" pitchFamily="34" charset="-122"/>
                <a:cs typeface="Calibri" pitchFamily="34" charset="-120"/>
              </a:rPr>
              <a:t>Understand regional weather and river-level patterns</a:t>
            </a:r>
            <a:endParaRPr lang="en-US" sz="1600" dirty="0"/>
          </a:p>
        </p:txBody>
      </p:sp>
      <p:sp>
        <p:nvSpPr>
          <p:cNvPr id="16" name="card"/>
          <p:cNvSpPr/>
          <p:nvPr/>
        </p:nvSpPr>
        <p:spPr>
          <a:xfrm>
            <a:off x="54864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7" name="dot"/>
          <p:cNvSpPr/>
          <p:nvPr/>
        </p:nvSpPr>
        <p:spPr>
          <a:xfrm>
            <a:off x="777240" y="4069080"/>
            <a:ext cx="201168" cy="201168"/>
          </a:xfrm>
          <a:prstGeom prst="ellipse">
            <a:avLst/>
          </a:prstGeom>
          <a:solidFill>
            <a:srgbClr val="FF8A3D"/>
          </a:solidFill>
          <a:ln w="12700">
            <a:solidFill>
              <a:srgbClr val="FF8A3D"/>
            </a:solidFill>
            <a:prstDash val="solid"/>
          </a:ln>
        </p:spPr>
      </p:sp>
      <p:sp>
        <p:nvSpPr>
          <p:cNvPr id="18" name="Text 15"/>
          <p:cNvSpPr txBox="1"/>
          <p:nvPr/>
        </p:nvSpPr>
        <p:spPr>
          <a:xfrm>
            <a:off x="1097280" y="3986784"/>
            <a:ext cx="2834640" cy="365760"/>
          </a:xfrm>
          <a:prstGeom prst="rect">
            <a:avLst/>
          </a:prstGeom>
          <a:noFill/>
          <a:ln/>
        </p:spPr>
        <p:txBody>
          <a:bodyPr wrap="square" lIns="0" tIns="0" rIns="0" bIns="0" rtlCol="0" anchor="ctr"/>
          <a:lstStyle/>
          <a:p>
            <a:pPr indent="0" marL="0">
              <a:buNone/>
            </a:pPr>
            <a:r>
              <a:rPr lang="en-US" sz="2000" b="1" dirty="0">
                <a:solidFill>
                  <a:srgbClr val="E8EEFB"/>
                </a:solidFill>
                <a:latin typeface="Calibri" pitchFamily="34" charset="0"/>
                <a:ea typeface="Calibri" pitchFamily="34" charset="-122"/>
                <a:cs typeface="Calibri" pitchFamily="34" charset="-120"/>
              </a:rPr>
              <a:t>Map high-risk areas</a:t>
            </a:r>
            <a:endParaRPr lang="en-US" sz="2000" dirty="0"/>
          </a:p>
        </p:txBody>
      </p:sp>
      <p:sp>
        <p:nvSpPr>
          <p:cNvPr id="19" name="Text 16"/>
          <p:cNvSpPr txBox="1"/>
          <p:nvPr/>
        </p:nvSpPr>
        <p:spPr>
          <a:xfrm>
            <a:off x="777240" y="4434840"/>
            <a:ext cx="3108960" cy="1554480"/>
          </a:xfrm>
          <a:prstGeom prst="rect">
            <a:avLst/>
          </a:prstGeom>
          <a:noFill/>
          <a:ln/>
        </p:spPr>
        <p:txBody>
          <a:bodyPr wrap="square" lIns="0" tIns="0" rIns="0" bIns="0" rtlCol="0" anchor="t"/>
          <a:lstStyle/>
          <a:p>
            <a:pPr indent="0" marL="0">
              <a:spcAft>
                <a:spcPts val="400"/>
              </a:spcAft>
              <a:buNone/>
            </a:pPr>
            <a:r>
              <a:rPr lang="en-US" sz="1600" dirty="0">
                <a:solidFill>
                  <a:srgbClr val="8DA0C2"/>
                </a:solidFill>
                <a:latin typeface="Calibri" pitchFamily="34" charset="0"/>
                <a:ea typeface="Calibri" pitchFamily="34" charset="-122"/>
                <a:cs typeface="Calibri" pitchFamily="34" charset="-120"/>
              </a:rPr>
              <a:t>Location-based data on an interactive risk map</a:t>
            </a:r>
            <a:endParaRPr lang="en-US" sz="1600" dirty="0"/>
          </a:p>
        </p:txBody>
      </p:sp>
      <p:sp>
        <p:nvSpPr>
          <p:cNvPr id="20" name="card"/>
          <p:cNvSpPr/>
          <p:nvPr/>
        </p:nvSpPr>
        <p:spPr>
          <a:xfrm>
            <a:off x="429768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1" name="dot"/>
          <p:cNvSpPr/>
          <p:nvPr/>
        </p:nvSpPr>
        <p:spPr>
          <a:xfrm>
            <a:off x="4526280" y="4069080"/>
            <a:ext cx="201168" cy="201168"/>
          </a:xfrm>
          <a:prstGeom prst="ellipse">
            <a:avLst/>
          </a:prstGeom>
          <a:solidFill>
            <a:srgbClr val="FF3B5C"/>
          </a:solidFill>
          <a:ln w="12700">
            <a:solidFill>
              <a:srgbClr val="FF3B5C"/>
            </a:solidFill>
            <a:prstDash val="solid"/>
          </a:ln>
        </p:spPr>
      </p:sp>
      <p:sp>
        <p:nvSpPr>
          <p:cNvPr id="22" name="Text 19"/>
          <p:cNvSpPr txBox="1"/>
          <p:nvPr/>
        </p:nvSpPr>
        <p:spPr>
          <a:xfrm>
            <a:off x="4846320" y="3986784"/>
            <a:ext cx="2834640" cy="365760"/>
          </a:xfrm>
          <a:prstGeom prst="rect">
            <a:avLst/>
          </a:prstGeom>
          <a:noFill/>
          <a:ln/>
        </p:spPr>
        <p:txBody>
          <a:bodyPr wrap="square" lIns="0" tIns="0" rIns="0" bIns="0" rtlCol="0" anchor="ctr"/>
          <a:lstStyle/>
          <a:p>
            <a:pPr indent="0" marL="0">
              <a:buNone/>
            </a:pPr>
            <a:r>
              <a:rPr lang="en-US" sz="2000" b="1" dirty="0">
                <a:solidFill>
                  <a:srgbClr val="E8EEFB"/>
                </a:solidFill>
                <a:latin typeface="Calibri" pitchFamily="34" charset="0"/>
                <a:ea typeface="Calibri" pitchFamily="34" charset="-122"/>
                <a:cs typeface="Calibri" pitchFamily="34" charset="-120"/>
              </a:rPr>
              <a:t>Detect anomalies</a:t>
            </a:r>
            <a:endParaRPr lang="en-US" sz="2000" dirty="0"/>
          </a:p>
        </p:txBody>
      </p:sp>
      <p:sp>
        <p:nvSpPr>
          <p:cNvPr id="23" name="Text 20"/>
          <p:cNvSpPr txBox="1"/>
          <p:nvPr/>
        </p:nvSpPr>
        <p:spPr>
          <a:xfrm>
            <a:off x="4526280" y="4434840"/>
            <a:ext cx="3108960" cy="1554480"/>
          </a:xfrm>
          <a:prstGeom prst="rect">
            <a:avLst/>
          </a:prstGeom>
          <a:noFill/>
          <a:ln/>
        </p:spPr>
        <p:txBody>
          <a:bodyPr wrap="square" lIns="0" tIns="0" rIns="0" bIns="0" rtlCol="0" anchor="t"/>
          <a:lstStyle/>
          <a:p>
            <a:pPr indent="0" marL="0">
              <a:spcAft>
                <a:spcPts val="400"/>
              </a:spcAft>
              <a:buNone/>
            </a:pPr>
            <a:r>
              <a:rPr lang="en-US" sz="1600" dirty="0">
                <a:solidFill>
                  <a:srgbClr val="8DA0C2"/>
                </a:solidFill>
                <a:latin typeface="Calibri" pitchFamily="34" charset="0"/>
                <a:ea typeface="Calibri" pitchFamily="34" charset="-122"/>
                <a:cs typeface="Calibri" pitchFamily="34" charset="-120"/>
              </a:rPr>
              <a:t>Unusual rainfall, river and weather changes flagged early</a:t>
            </a:r>
            <a:endParaRPr lang="en-US" sz="1600" dirty="0"/>
          </a:p>
        </p:txBody>
      </p:sp>
      <p:sp>
        <p:nvSpPr>
          <p:cNvPr id="24" name="card"/>
          <p:cNvSpPr/>
          <p:nvPr/>
        </p:nvSpPr>
        <p:spPr>
          <a:xfrm>
            <a:off x="804672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5" name="dot"/>
          <p:cNvSpPr/>
          <p:nvPr/>
        </p:nvSpPr>
        <p:spPr>
          <a:xfrm>
            <a:off x="8275320" y="4069080"/>
            <a:ext cx="201168" cy="201168"/>
          </a:xfrm>
          <a:prstGeom prst="ellipse">
            <a:avLst/>
          </a:prstGeom>
          <a:solidFill>
            <a:srgbClr val="FFD23F"/>
          </a:solidFill>
          <a:ln w="12700">
            <a:solidFill>
              <a:srgbClr val="FFD23F"/>
            </a:solidFill>
            <a:prstDash val="solid"/>
          </a:ln>
        </p:spPr>
      </p:sp>
      <p:sp>
        <p:nvSpPr>
          <p:cNvPr id="26" name="Text 23"/>
          <p:cNvSpPr txBox="1"/>
          <p:nvPr/>
        </p:nvSpPr>
        <p:spPr>
          <a:xfrm>
            <a:off x="8595360" y="3986784"/>
            <a:ext cx="2834640" cy="365760"/>
          </a:xfrm>
          <a:prstGeom prst="rect">
            <a:avLst/>
          </a:prstGeom>
          <a:noFill/>
          <a:ln/>
        </p:spPr>
        <p:txBody>
          <a:bodyPr wrap="square" lIns="0" tIns="0" rIns="0" bIns="0" rtlCol="0" anchor="ctr"/>
          <a:lstStyle/>
          <a:p>
            <a:pPr indent="0" marL="0">
              <a:buNone/>
            </a:pPr>
            <a:r>
              <a:rPr lang="en-US" sz="2000" b="1" dirty="0">
                <a:solidFill>
                  <a:srgbClr val="E8EEFB"/>
                </a:solidFill>
                <a:latin typeface="Calibri" pitchFamily="34" charset="0"/>
                <a:ea typeface="Calibri" pitchFamily="34" charset="-122"/>
                <a:cs typeface="Calibri" pitchFamily="34" charset="-120"/>
              </a:rPr>
              <a:t>Support decisions</a:t>
            </a:r>
            <a:endParaRPr lang="en-US" sz="2000" dirty="0"/>
          </a:p>
        </p:txBody>
      </p:sp>
      <p:sp>
        <p:nvSpPr>
          <p:cNvPr id="27" name="Text 24"/>
          <p:cNvSpPr txBox="1"/>
          <p:nvPr/>
        </p:nvSpPr>
        <p:spPr>
          <a:xfrm>
            <a:off x="8275320" y="4434840"/>
            <a:ext cx="3108960" cy="1554480"/>
          </a:xfrm>
          <a:prstGeom prst="rect">
            <a:avLst/>
          </a:prstGeom>
          <a:noFill/>
          <a:ln/>
        </p:spPr>
        <p:txBody>
          <a:bodyPr wrap="square" lIns="0" tIns="0" rIns="0" bIns="0" rtlCol="0" anchor="t"/>
          <a:lstStyle/>
          <a:p>
            <a:pPr indent="0" marL="0">
              <a:spcAft>
                <a:spcPts val="400"/>
              </a:spcAft>
              <a:buNone/>
            </a:pPr>
            <a:r>
              <a:rPr lang="en-US" sz="1600" dirty="0">
                <a:solidFill>
                  <a:srgbClr val="8DA0C2"/>
                </a:solidFill>
                <a:latin typeface="Calibri" pitchFamily="34" charset="0"/>
                <a:ea typeface="Calibri" pitchFamily="34" charset="-122"/>
                <a:cs typeface="Calibri" pitchFamily="34" charset="-120"/>
              </a:rPr>
              <a:t>Dashboards, reports and insights for faster response</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The solution: DRISHTI command centre</a:t>
            </a:r>
            <a:endParaRPr lang="en-US" dirty="0"/>
          </a:p>
        </p:txBody>
      </p:sp>
      <p:sp>
        <p:nvSpPr>
          <p:cNvPr id="4" name="Text 1"/>
          <p:cNvSpPr txBox="1"/>
          <p:nvPr/>
        </p:nvSpPr>
        <p:spPr>
          <a:xfrm>
            <a:off x="548640" y="1417320"/>
            <a:ext cx="3840480" cy="475488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World map of 138 river gauges in 29 countries</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Risk score 0-100 per gauge, recomputed every live tick</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Anomaly flags against each gauge's own baseline</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Live alert feed that escalates and resolves</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Drill-down hydrographs, weather and history</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One-click situation reports</a:t>
            </a:r>
            <a:endParaRPr lang="en-US" sz="1600" dirty="0"/>
          </a:p>
        </p:txBody>
      </p:sp>
      <p:sp>
        <p:nvSpPr>
          <p:cNvPr id="5" name="frame"/>
          <p:cNvSpPr/>
          <p:nvPr/>
        </p:nvSpPr>
        <p:spPr>
          <a:xfrm>
            <a:off x="4654296" y="1316736"/>
            <a:ext cx="7013448" cy="3691033"/>
          </a:xfrm>
          <a:prstGeom prst="roundRect">
            <a:avLst>
              <a:gd name="adj" fmla="val 1486"/>
            </a:avLst>
          </a:prstGeom>
          <a:solidFill>
            <a:srgbClr val="111B2F"/>
          </a:solidFill>
          <a:ln w="12700">
            <a:solidFill>
              <a:srgbClr val="22314F"/>
            </a:solidFill>
            <a:prstDash val="solid"/>
          </a:ln>
          <a:effectLst>
            <a:outerShdw sx="100000" sy="100000" kx="0" ky="0" algn="bl" rotWithShape="0" blurRad="152400" dist="38100" dir="5400000">
              <a:srgbClr val="000000">
                <a:alpha val="35000"/>
              </a:srgbClr>
            </a:outerShdw>
          </a:effectLst>
        </p:spPr>
      </p:sp>
      <p:pic>
        <p:nvPicPr>
          <p:cNvPr id="6" name="screenshot" descr="DRISHTI dashboard screenshot">    </p:cNvPr>
          <p:cNvPicPr>
            <a:picLocks noChangeAspect="1"/>
          </p:cNvPicPr>
          <p:nvPr/>
        </p:nvPicPr>
        <p:blipFill>
          <a:blip r:embed="rId1"/>
          <a:stretch>
            <a:fillRect/>
          </a:stretch>
        </p:blipFill>
        <p:spPr>
          <a:xfrm>
            <a:off x="4709160" y="1371600"/>
            <a:ext cx="6903720" cy="3581305"/>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System architecture</a:t>
            </a:r>
            <a:endParaRPr lang="en-US" dirty="0"/>
          </a:p>
        </p:txBody>
      </p:sp>
      <p:sp>
        <p:nvSpPr>
          <p:cNvPr id="4" name="card"/>
          <p:cNvSpPr/>
          <p:nvPr/>
        </p:nvSpPr>
        <p:spPr>
          <a:xfrm>
            <a:off x="548640" y="1554480"/>
            <a:ext cx="1691640" cy="3383280"/>
          </a:xfrm>
          <a:prstGeom prst="roundRect">
            <a:avLst>
              <a:gd name="adj" fmla="val 5405"/>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head"/>
          <p:cNvSpPr/>
          <p:nvPr/>
        </p:nvSpPr>
        <p:spPr>
          <a:xfrm>
            <a:off x="685800" y="1691640"/>
            <a:ext cx="1417320" cy="457200"/>
          </a:xfrm>
          <a:prstGeom prst="roundRect">
            <a:avLst>
              <a:gd name="adj" fmla="val 16000"/>
            </a:avLst>
          </a:prstGeom>
          <a:solidFill>
            <a:srgbClr val="B18CFF"/>
          </a:solidFill>
          <a:ln w="12700">
            <a:solidFill>
              <a:srgbClr val="B18CFF"/>
            </a:solidFill>
            <a:prstDash val="solid"/>
          </a:ln>
        </p:spPr>
      </p:sp>
      <p:sp>
        <p:nvSpPr>
          <p:cNvPr id="6" name="Text 3"/>
          <p:cNvSpPr txBox="1"/>
          <p:nvPr/>
        </p:nvSpPr>
        <p:spPr>
          <a:xfrm>
            <a:off x="685800" y="1691640"/>
            <a:ext cx="1417320" cy="457200"/>
          </a:xfrm>
          <a:prstGeom prst="rect">
            <a:avLst/>
          </a:prstGeom>
          <a:noFill/>
          <a:ln/>
        </p:spPr>
        <p:txBody>
          <a:bodyPr wrap="square" lIns="0" tIns="0" rIns="0" bIns="0" rtlCol="0" anchor="ctr"/>
          <a:lstStyle/>
          <a:p>
            <a:pPr algn="ctr" indent="0" marL="0">
              <a:buNone/>
            </a:pPr>
            <a:r>
              <a:rPr lang="en-US" sz="1400" b="1" dirty="0">
                <a:solidFill>
                  <a:srgbClr val="0A101D"/>
                </a:solidFill>
                <a:latin typeface="Calibri" pitchFamily="34" charset="0"/>
                <a:ea typeface="Calibri" pitchFamily="34" charset="-122"/>
                <a:cs typeface="Calibri" pitchFamily="34" charset="-120"/>
              </a:rPr>
              <a:t>Data sources</a:t>
            </a:r>
            <a:endParaRPr lang="en-US" sz="1400" dirty="0"/>
          </a:p>
        </p:txBody>
      </p:sp>
      <p:sp>
        <p:nvSpPr>
          <p:cNvPr id="7" name="Text 4"/>
          <p:cNvSpPr txBox="1"/>
          <p:nvPr/>
        </p:nvSpPr>
        <p:spPr>
          <a:xfrm>
            <a:off x="731520" y="2331720"/>
            <a:ext cx="1325880" cy="2468880"/>
          </a:xfrm>
          <a:prstGeom prst="rect">
            <a:avLst/>
          </a:prstGeom>
          <a:noFill/>
          <a:ln/>
        </p:spPr>
        <p:txBody>
          <a:bodyPr wrap="square" lIns="0" tIns="0" rIns="0" bIns="0" rtlCol="0" anchor="t"/>
          <a:lstStyle/>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Rainfall gauges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River levels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Weather stations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Risk-zone polygons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Historical events</a:t>
            </a:r>
            <a:endParaRPr lang="en-US" sz="1400" dirty="0"/>
          </a:p>
        </p:txBody>
      </p:sp>
      <p:sp>
        <p:nvSpPr>
          <p:cNvPr id="8" name="Text 5"/>
          <p:cNvSpPr txBox="1"/>
          <p:nvPr/>
        </p:nvSpPr>
        <p:spPr>
          <a:xfrm>
            <a:off x="2221992" y="3063240"/>
            <a:ext cx="219456" cy="365760"/>
          </a:xfrm>
          <a:prstGeom prst="rect">
            <a:avLst/>
          </a:prstGeom>
          <a:noFill/>
          <a:ln/>
        </p:spPr>
        <p:txBody>
          <a:bodyPr wrap="square" lIns="0" tIns="0" rIns="0" bIns="0" rtlCol="0" anchor="ctr"/>
          <a:lstStyle/>
          <a:p>
            <a:pPr algn="ctr" indent="0" marL="0">
              <a:buNone/>
            </a:pPr>
            <a:r>
              <a:rPr lang="en-US" sz="1200" dirty="0">
                <a:solidFill>
                  <a:srgbClr val="8DA0C2"/>
                </a:solidFill>
                <a:latin typeface="Calibri" pitchFamily="34" charset="0"/>
                <a:ea typeface="Calibri" pitchFamily="34" charset="-122"/>
                <a:cs typeface="Calibri" pitchFamily="34" charset="-120"/>
              </a:rPr>
              <a:t>▶</a:t>
            </a:r>
            <a:endParaRPr lang="en-US" sz="1200" dirty="0"/>
          </a:p>
        </p:txBody>
      </p:sp>
      <p:sp>
        <p:nvSpPr>
          <p:cNvPr id="9" name="card"/>
          <p:cNvSpPr/>
          <p:nvPr/>
        </p:nvSpPr>
        <p:spPr>
          <a:xfrm>
            <a:off x="2423160" y="1554480"/>
            <a:ext cx="1691640" cy="3383280"/>
          </a:xfrm>
          <a:prstGeom prst="roundRect">
            <a:avLst>
              <a:gd name="adj" fmla="val 5405"/>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0" name="head"/>
          <p:cNvSpPr/>
          <p:nvPr/>
        </p:nvSpPr>
        <p:spPr>
          <a:xfrm>
            <a:off x="2560320" y="1691640"/>
            <a:ext cx="1417320" cy="457200"/>
          </a:xfrm>
          <a:prstGeom prst="roundRect">
            <a:avLst>
              <a:gd name="adj" fmla="val 16000"/>
            </a:avLst>
          </a:prstGeom>
          <a:solidFill>
            <a:srgbClr val="3DDC97"/>
          </a:solidFill>
          <a:ln w="12700">
            <a:solidFill>
              <a:srgbClr val="3DDC97"/>
            </a:solidFill>
            <a:prstDash val="solid"/>
          </a:ln>
        </p:spPr>
      </p:sp>
      <p:sp>
        <p:nvSpPr>
          <p:cNvPr id="11" name="Text 8"/>
          <p:cNvSpPr txBox="1"/>
          <p:nvPr/>
        </p:nvSpPr>
        <p:spPr>
          <a:xfrm>
            <a:off x="2560320" y="1691640"/>
            <a:ext cx="1417320" cy="457200"/>
          </a:xfrm>
          <a:prstGeom prst="rect">
            <a:avLst/>
          </a:prstGeom>
          <a:noFill/>
          <a:ln/>
        </p:spPr>
        <p:txBody>
          <a:bodyPr wrap="square" lIns="0" tIns="0" rIns="0" bIns="0" rtlCol="0" anchor="ctr"/>
          <a:lstStyle/>
          <a:p>
            <a:pPr algn="ctr" indent="0" marL="0">
              <a:buNone/>
            </a:pPr>
            <a:r>
              <a:rPr lang="en-US" sz="1400" b="1" dirty="0">
                <a:solidFill>
                  <a:srgbClr val="0A101D"/>
                </a:solidFill>
                <a:latin typeface="Calibri" pitchFamily="34" charset="0"/>
                <a:ea typeface="Calibri" pitchFamily="34" charset="-122"/>
                <a:cs typeface="Calibri" pitchFamily="34" charset="-120"/>
              </a:rPr>
              <a:t>Ingestion</a:t>
            </a:r>
            <a:endParaRPr lang="en-US" sz="1400" dirty="0"/>
          </a:p>
        </p:txBody>
      </p:sp>
      <p:sp>
        <p:nvSpPr>
          <p:cNvPr id="12" name="Text 9"/>
          <p:cNvSpPr txBox="1"/>
          <p:nvPr/>
        </p:nvSpPr>
        <p:spPr>
          <a:xfrm>
            <a:off x="2606040" y="2331720"/>
            <a:ext cx="1325880" cy="2468880"/>
          </a:xfrm>
          <a:prstGeom prst="rect">
            <a:avLst/>
          </a:prstGeom>
          <a:noFill/>
          <a:ln/>
        </p:spPr>
        <p:txBody>
          <a:bodyPr wrap="square" lIns="0" tIns="0" rIns="0" bIns="0" rtlCol="0" anchor="t"/>
          <a:lstStyle/>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Validate &amp; clean</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Normalise units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Synthetic sensor generator</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Enrich with location</a:t>
            </a:r>
            <a:endParaRPr lang="en-US" sz="1400" dirty="0"/>
          </a:p>
        </p:txBody>
      </p:sp>
      <p:sp>
        <p:nvSpPr>
          <p:cNvPr id="13" name="Text 10"/>
          <p:cNvSpPr txBox="1"/>
          <p:nvPr/>
        </p:nvSpPr>
        <p:spPr>
          <a:xfrm>
            <a:off x="4096512" y="3063240"/>
            <a:ext cx="219456" cy="365760"/>
          </a:xfrm>
          <a:prstGeom prst="rect">
            <a:avLst/>
          </a:prstGeom>
          <a:noFill/>
          <a:ln/>
        </p:spPr>
        <p:txBody>
          <a:bodyPr wrap="square" lIns="0" tIns="0" rIns="0" bIns="0" rtlCol="0" anchor="ctr"/>
          <a:lstStyle/>
          <a:p>
            <a:pPr algn="ctr" indent="0" marL="0">
              <a:buNone/>
            </a:pPr>
            <a:r>
              <a:rPr lang="en-US" sz="1200" dirty="0">
                <a:solidFill>
                  <a:srgbClr val="8DA0C2"/>
                </a:solidFill>
                <a:latin typeface="Calibri" pitchFamily="34" charset="0"/>
                <a:ea typeface="Calibri" pitchFamily="34" charset="-122"/>
                <a:cs typeface="Calibri" pitchFamily="34" charset="-120"/>
              </a:rPr>
              <a:t>▶</a:t>
            </a:r>
            <a:endParaRPr lang="en-US" sz="1200" dirty="0"/>
          </a:p>
        </p:txBody>
      </p:sp>
      <p:sp>
        <p:nvSpPr>
          <p:cNvPr id="14" name="card"/>
          <p:cNvSpPr/>
          <p:nvPr/>
        </p:nvSpPr>
        <p:spPr>
          <a:xfrm>
            <a:off x="4297680" y="1554480"/>
            <a:ext cx="1691640" cy="3383280"/>
          </a:xfrm>
          <a:prstGeom prst="roundRect">
            <a:avLst>
              <a:gd name="adj" fmla="val 5405"/>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5" name="head"/>
          <p:cNvSpPr/>
          <p:nvPr/>
        </p:nvSpPr>
        <p:spPr>
          <a:xfrm>
            <a:off x="4434840" y="1691640"/>
            <a:ext cx="1417320" cy="457200"/>
          </a:xfrm>
          <a:prstGeom prst="roundRect">
            <a:avLst>
              <a:gd name="adj" fmla="val 16000"/>
            </a:avLst>
          </a:prstGeom>
          <a:solidFill>
            <a:srgbClr val="3CC8FF"/>
          </a:solidFill>
          <a:ln w="12700">
            <a:solidFill>
              <a:srgbClr val="3CC8FF"/>
            </a:solidFill>
            <a:prstDash val="solid"/>
          </a:ln>
        </p:spPr>
      </p:sp>
      <p:sp>
        <p:nvSpPr>
          <p:cNvPr id="16" name="Text 13"/>
          <p:cNvSpPr txBox="1"/>
          <p:nvPr/>
        </p:nvSpPr>
        <p:spPr>
          <a:xfrm>
            <a:off x="4434840" y="1691640"/>
            <a:ext cx="1417320" cy="457200"/>
          </a:xfrm>
          <a:prstGeom prst="rect">
            <a:avLst/>
          </a:prstGeom>
          <a:noFill/>
          <a:ln/>
        </p:spPr>
        <p:txBody>
          <a:bodyPr wrap="square" lIns="0" tIns="0" rIns="0" bIns="0" rtlCol="0" anchor="ctr"/>
          <a:lstStyle/>
          <a:p>
            <a:pPr algn="ctr" indent="0" marL="0">
              <a:buNone/>
            </a:pPr>
            <a:r>
              <a:rPr lang="en-US" sz="1400" b="1" dirty="0">
                <a:solidFill>
                  <a:srgbClr val="0A101D"/>
                </a:solidFill>
                <a:latin typeface="Calibri" pitchFamily="34" charset="0"/>
                <a:ea typeface="Calibri" pitchFamily="34" charset="-122"/>
                <a:cs typeface="Calibri" pitchFamily="34" charset="-120"/>
              </a:rPr>
              <a:t>MongoDB</a:t>
            </a:r>
            <a:endParaRPr lang="en-US" sz="1400" dirty="0"/>
          </a:p>
        </p:txBody>
      </p:sp>
      <p:sp>
        <p:nvSpPr>
          <p:cNvPr id="17" name="Text 14"/>
          <p:cNvSpPr txBox="1"/>
          <p:nvPr/>
        </p:nvSpPr>
        <p:spPr>
          <a:xfrm>
            <a:off x="4480560" y="2331720"/>
            <a:ext cx="1325880" cy="2468880"/>
          </a:xfrm>
          <a:prstGeom prst="rect">
            <a:avLst/>
          </a:prstGeom>
          <a:noFill/>
          <a:ln/>
        </p:spPr>
        <p:txBody>
          <a:bodyPr wrap="square" lIns="0" tIns="0" rIns="0" bIns="0" rtlCol="0" anchor="t"/>
          <a:lstStyle/>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Time-series collections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2dsphere indexes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Flexible documents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Baselines via $merge</a:t>
            </a:r>
            <a:endParaRPr lang="en-US" sz="1400" dirty="0"/>
          </a:p>
        </p:txBody>
      </p:sp>
      <p:sp>
        <p:nvSpPr>
          <p:cNvPr id="18" name="Text 15"/>
          <p:cNvSpPr txBox="1"/>
          <p:nvPr/>
        </p:nvSpPr>
        <p:spPr>
          <a:xfrm>
            <a:off x="5971032" y="3063240"/>
            <a:ext cx="219456" cy="365760"/>
          </a:xfrm>
          <a:prstGeom prst="rect">
            <a:avLst/>
          </a:prstGeom>
          <a:noFill/>
          <a:ln/>
        </p:spPr>
        <p:txBody>
          <a:bodyPr wrap="square" lIns="0" tIns="0" rIns="0" bIns="0" rtlCol="0" anchor="ctr"/>
          <a:lstStyle/>
          <a:p>
            <a:pPr algn="ctr" indent="0" marL="0">
              <a:buNone/>
            </a:pPr>
            <a:r>
              <a:rPr lang="en-US" sz="1200" dirty="0">
                <a:solidFill>
                  <a:srgbClr val="8DA0C2"/>
                </a:solidFill>
                <a:latin typeface="Calibri" pitchFamily="34" charset="0"/>
                <a:ea typeface="Calibri" pitchFamily="34" charset="-122"/>
                <a:cs typeface="Calibri" pitchFamily="34" charset="-120"/>
              </a:rPr>
              <a:t>▶</a:t>
            </a:r>
            <a:endParaRPr lang="en-US" sz="1200" dirty="0"/>
          </a:p>
        </p:txBody>
      </p:sp>
      <p:sp>
        <p:nvSpPr>
          <p:cNvPr id="19" name="card"/>
          <p:cNvSpPr/>
          <p:nvPr/>
        </p:nvSpPr>
        <p:spPr>
          <a:xfrm>
            <a:off x="6172200" y="1554480"/>
            <a:ext cx="1691640" cy="3383280"/>
          </a:xfrm>
          <a:prstGeom prst="roundRect">
            <a:avLst>
              <a:gd name="adj" fmla="val 5405"/>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0" name="head"/>
          <p:cNvSpPr/>
          <p:nvPr/>
        </p:nvSpPr>
        <p:spPr>
          <a:xfrm>
            <a:off x="6309360" y="1691640"/>
            <a:ext cx="1417320" cy="457200"/>
          </a:xfrm>
          <a:prstGeom prst="roundRect">
            <a:avLst>
              <a:gd name="adj" fmla="val 16000"/>
            </a:avLst>
          </a:prstGeom>
          <a:solidFill>
            <a:srgbClr val="FF8A3D"/>
          </a:solidFill>
          <a:ln w="12700">
            <a:solidFill>
              <a:srgbClr val="FF8A3D"/>
            </a:solidFill>
            <a:prstDash val="solid"/>
          </a:ln>
        </p:spPr>
      </p:sp>
      <p:sp>
        <p:nvSpPr>
          <p:cNvPr id="21" name="Text 18"/>
          <p:cNvSpPr txBox="1"/>
          <p:nvPr/>
        </p:nvSpPr>
        <p:spPr>
          <a:xfrm>
            <a:off x="6309360" y="1691640"/>
            <a:ext cx="1417320" cy="457200"/>
          </a:xfrm>
          <a:prstGeom prst="rect">
            <a:avLst/>
          </a:prstGeom>
          <a:noFill/>
          <a:ln/>
        </p:spPr>
        <p:txBody>
          <a:bodyPr wrap="square" lIns="0" tIns="0" rIns="0" bIns="0" rtlCol="0" anchor="ctr"/>
          <a:lstStyle/>
          <a:p>
            <a:pPr algn="ctr" indent="0" marL="0">
              <a:buNone/>
            </a:pPr>
            <a:r>
              <a:rPr lang="en-US" sz="1400" b="1" dirty="0">
                <a:solidFill>
                  <a:srgbClr val="0A101D"/>
                </a:solidFill>
                <a:latin typeface="Calibri" pitchFamily="34" charset="0"/>
                <a:ea typeface="Calibri" pitchFamily="34" charset="-122"/>
                <a:cs typeface="Calibri" pitchFamily="34" charset="-120"/>
              </a:rPr>
              <a:t>Aggregation</a:t>
            </a:r>
            <a:endParaRPr lang="en-US" sz="1400" dirty="0"/>
          </a:p>
        </p:txBody>
      </p:sp>
      <p:sp>
        <p:nvSpPr>
          <p:cNvPr id="22" name="Text 19"/>
          <p:cNvSpPr txBox="1"/>
          <p:nvPr/>
        </p:nvSpPr>
        <p:spPr>
          <a:xfrm>
            <a:off x="6355080" y="2331720"/>
            <a:ext cx="1325880" cy="2468880"/>
          </a:xfrm>
          <a:prstGeom prst="rect">
            <a:avLst/>
          </a:prstGeom>
          <a:noFill/>
          <a:ln/>
        </p:spPr>
        <p:txBody>
          <a:bodyPr wrap="square" lIns="0" tIns="0" rIns="0" bIns="0" rtlCol="0" anchor="t"/>
          <a:lstStyle/>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Risk scoring</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Anomaly detection</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Trends &amp; rankings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Window functions</a:t>
            </a:r>
            <a:endParaRPr lang="en-US" sz="1400" dirty="0"/>
          </a:p>
        </p:txBody>
      </p:sp>
      <p:sp>
        <p:nvSpPr>
          <p:cNvPr id="23" name="Text 20"/>
          <p:cNvSpPr txBox="1"/>
          <p:nvPr/>
        </p:nvSpPr>
        <p:spPr>
          <a:xfrm>
            <a:off x="7845552" y="3063240"/>
            <a:ext cx="219456" cy="365760"/>
          </a:xfrm>
          <a:prstGeom prst="rect">
            <a:avLst/>
          </a:prstGeom>
          <a:noFill/>
          <a:ln/>
        </p:spPr>
        <p:txBody>
          <a:bodyPr wrap="square" lIns="0" tIns="0" rIns="0" bIns="0" rtlCol="0" anchor="ctr"/>
          <a:lstStyle/>
          <a:p>
            <a:pPr algn="ctr" indent="0" marL="0">
              <a:buNone/>
            </a:pPr>
            <a:r>
              <a:rPr lang="en-US" sz="1200" dirty="0">
                <a:solidFill>
                  <a:srgbClr val="8DA0C2"/>
                </a:solidFill>
                <a:latin typeface="Calibri" pitchFamily="34" charset="0"/>
                <a:ea typeface="Calibri" pitchFamily="34" charset="-122"/>
                <a:cs typeface="Calibri" pitchFamily="34" charset="-120"/>
              </a:rPr>
              <a:t>▶</a:t>
            </a:r>
            <a:endParaRPr lang="en-US" sz="1200" dirty="0"/>
          </a:p>
        </p:txBody>
      </p:sp>
      <p:sp>
        <p:nvSpPr>
          <p:cNvPr id="24" name="card"/>
          <p:cNvSpPr/>
          <p:nvPr/>
        </p:nvSpPr>
        <p:spPr>
          <a:xfrm>
            <a:off x="8046720" y="1554480"/>
            <a:ext cx="1691640" cy="3383280"/>
          </a:xfrm>
          <a:prstGeom prst="roundRect">
            <a:avLst>
              <a:gd name="adj" fmla="val 5405"/>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5" name="head"/>
          <p:cNvSpPr/>
          <p:nvPr/>
        </p:nvSpPr>
        <p:spPr>
          <a:xfrm>
            <a:off x="8183880" y="1691640"/>
            <a:ext cx="1417320" cy="457200"/>
          </a:xfrm>
          <a:prstGeom prst="roundRect">
            <a:avLst>
              <a:gd name="adj" fmla="val 16000"/>
            </a:avLst>
          </a:prstGeom>
          <a:solidFill>
            <a:srgbClr val="FFD23F"/>
          </a:solidFill>
          <a:ln w="12700">
            <a:solidFill>
              <a:srgbClr val="FFD23F"/>
            </a:solidFill>
            <a:prstDash val="solid"/>
          </a:ln>
        </p:spPr>
      </p:sp>
      <p:sp>
        <p:nvSpPr>
          <p:cNvPr id="26" name="Text 23"/>
          <p:cNvSpPr txBox="1"/>
          <p:nvPr/>
        </p:nvSpPr>
        <p:spPr>
          <a:xfrm>
            <a:off x="8183880" y="1691640"/>
            <a:ext cx="1417320" cy="457200"/>
          </a:xfrm>
          <a:prstGeom prst="rect">
            <a:avLst/>
          </a:prstGeom>
          <a:noFill/>
          <a:ln/>
        </p:spPr>
        <p:txBody>
          <a:bodyPr wrap="square" lIns="0" tIns="0" rIns="0" bIns="0" rtlCol="0" anchor="ctr"/>
          <a:lstStyle/>
          <a:p>
            <a:pPr algn="ctr" indent="0" marL="0">
              <a:buNone/>
            </a:pPr>
            <a:r>
              <a:rPr lang="en-US" sz="1400" b="1" dirty="0">
                <a:solidFill>
                  <a:srgbClr val="0A101D"/>
                </a:solidFill>
                <a:latin typeface="Calibri" pitchFamily="34" charset="0"/>
                <a:ea typeface="Calibri" pitchFamily="34" charset="-122"/>
                <a:cs typeface="Calibri" pitchFamily="34" charset="-120"/>
              </a:rPr>
              <a:t>Express API</a:t>
            </a:r>
            <a:endParaRPr lang="en-US" sz="1400" dirty="0"/>
          </a:p>
        </p:txBody>
      </p:sp>
      <p:sp>
        <p:nvSpPr>
          <p:cNvPr id="27" name="Text 24"/>
          <p:cNvSpPr txBox="1"/>
          <p:nvPr/>
        </p:nvSpPr>
        <p:spPr>
          <a:xfrm>
            <a:off x="8229600" y="2331720"/>
            <a:ext cx="1325880" cy="2468880"/>
          </a:xfrm>
          <a:prstGeom prst="rect">
            <a:avLst/>
          </a:prstGeom>
          <a:noFill/>
          <a:ln/>
        </p:spPr>
        <p:txBody>
          <a:bodyPr wrap="square" lIns="0" tIns="0" rIns="0" bIns="0" rtlCol="0" anchor="t"/>
          <a:lstStyle/>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REST endpoints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Caching per tick</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Alert lifecycle</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Report generation</a:t>
            </a:r>
            <a:endParaRPr lang="en-US" sz="1400" dirty="0"/>
          </a:p>
        </p:txBody>
      </p:sp>
      <p:sp>
        <p:nvSpPr>
          <p:cNvPr id="28" name="Text 25"/>
          <p:cNvSpPr txBox="1"/>
          <p:nvPr/>
        </p:nvSpPr>
        <p:spPr>
          <a:xfrm>
            <a:off x="9720072" y="3063240"/>
            <a:ext cx="219456" cy="365760"/>
          </a:xfrm>
          <a:prstGeom prst="rect">
            <a:avLst/>
          </a:prstGeom>
          <a:noFill/>
          <a:ln/>
        </p:spPr>
        <p:txBody>
          <a:bodyPr wrap="square" lIns="0" tIns="0" rIns="0" bIns="0" rtlCol="0" anchor="ctr"/>
          <a:lstStyle/>
          <a:p>
            <a:pPr algn="ctr" indent="0" marL="0">
              <a:buNone/>
            </a:pPr>
            <a:r>
              <a:rPr lang="en-US" sz="1200" dirty="0">
                <a:solidFill>
                  <a:srgbClr val="8DA0C2"/>
                </a:solidFill>
                <a:latin typeface="Calibri" pitchFamily="34" charset="0"/>
                <a:ea typeface="Calibri" pitchFamily="34" charset="-122"/>
                <a:cs typeface="Calibri" pitchFamily="34" charset="-120"/>
              </a:rPr>
              <a:t>▶</a:t>
            </a:r>
            <a:endParaRPr lang="en-US" sz="1200" dirty="0"/>
          </a:p>
        </p:txBody>
      </p:sp>
      <p:sp>
        <p:nvSpPr>
          <p:cNvPr id="29" name="card"/>
          <p:cNvSpPr/>
          <p:nvPr/>
        </p:nvSpPr>
        <p:spPr>
          <a:xfrm>
            <a:off x="9921240" y="1554480"/>
            <a:ext cx="1691640" cy="3383280"/>
          </a:xfrm>
          <a:prstGeom prst="roundRect">
            <a:avLst>
              <a:gd name="adj" fmla="val 5405"/>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30" name="head"/>
          <p:cNvSpPr/>
          <p:nvPr/>
        </p:nvSpPr>
        <p:spPr>
          <a:xfrm>
            <a:off x="10058400" y="1691640"/>
            <a:ext cx="1417320" cy="457200"/>
          </a:xfrm>
          <a:prstGeom prst="roundRect">
            <a:avLst>
              <a:gd name="adj" fmla="val 16000"/>
            </a:avLst>
          </a:prstGeom>
          <a:solidFill>
            <a:srgbClr val="FF3B5C"/>
          </a:solidFill>
          <a:ln w="12700">
            <a:solidFill>
              <a:srgbClr val="FF3B5C"/>
            </a:solidFill>
            <a:prstDash val="solid"/>
          </a:ln>
        </p:spPr>
      </p:sp>
      <p:sp>
        <p:nvSpPr>
          <p:cNvPr id="31" name="Text 28"/>
          <p:cNvSpPr txBox="1"/>
          <p:nvPr/>
        </p:nvSpPr>
        <p:spPr>
          <a:xfrm>
            <a:off x="10058400" y="1691640"/>
            <a:ext cx="1417320" cy="457200"/>
          </a:xfrm>
          <a:prstGeom prst="rect">
            <a:avLst/>
          </a:prstGeom>
          <a:noFill/>
          <a:ln/>
        </p:spPr>
        <p:txBody>
          <a:bodyPr wrap="square" lIns="0" tIns="0" rIns="0" bIns="0" rtlCol="0" anchor="ctr"/>
          <a:lstStyle/>
          <a:p>
            <a:pPr algn="ctr" indent="0" marL="0">
              <a:buNone/>
            </a:pPr>
            <a:r>
              <a:rPr lang="en-US" sz="1400" b="1" dirty="0">
                <a:solidFill>
                  <a:srgbClr val="0A101D"/>
                </a:solidFill>
                <a:latin typeface="Calibri" pitchFamily="34" charset="0"/>
                <a:ea typeface="Calibri" pitchFamily="34" charset="-122"/>
                <a:cs typeface="Calibri" pitchFamily="34" charset="-120"/>
              </a:rPr>
              <a:t>React dashboard</a:t>
            </a:r>
            <a:endParaRPr lang="en-US" sz="1400" dirty="0"/>
          </a:p>
        </p:txBody>
      </p:sp>
      <p:sp>
        <p:nvSpPr>
          <p:cNvPr id="32" name="Text 29"/>
          <p:cNvSpPr txBox="1"/>
          <p:nvPr/>
        </p:nvSpPr>
        <p:spPr>
          <a:xfrm>
            <a:off x="10104120" y="2331720"/>
            <a:ext cx="1325880" cy="2468880"/>
          </a:xfrm>
          <a:prstGeom prst="rect">
            <a:avLst/>
          </a:prstGeom>
          <a:noFill/>
          <a:ln/>
        </p:spPr>
        <p:txBody>
          <a:bodyPr wrap="square" lIns="0" tIns="0" rIns="0" bIns="0" rtlCol="0" anchor="t"/>
          <a:lstStyle/>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Risk map &amp; heatmap</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Charts &amp; KPIs</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Alert feed</a:t>
            </a:r>
            <a:endParaRPr lang="en-US" sz="1400" dirty="0"/>
          </a:p>
          <a:p>
            <a:pPr indent="0" marL="0">
              <a:spcAft>
                <a:spcPts val="600"/>
              </a:spcAft>
              <a:buNone/>
            </a:pPr>
            <a:r>
              <a:rPr lang="en-US" sz="1400" dirty="0">
                <a:solidFill>
                  <a:srgbClr val="E8EEFB"/>
                </a:solidFill>
                <a:latin typeface="Calibri" pitchFamily="34" charset="0"/>
                <a:ea typeface="Calibri" pitchFamily="34" charset="-122"/>
                <a:cs typeface="Calibri" pitchFamily="34" charset="-120"/>
              </a:rPr>
              <a:t>Reports</a:t>
            </a:r>
            <a:endParaRPr lang="en-US" sz="1400" dirty="0"/>
          </a:p>
        </p:txBody>
      </p:sp>
      <p:sp>
        <p:nvSpPr>
          <p:cNvPr id="33" name="Text 30"/>
          <p:cNvSpPr txBox="1"/>
          <p:nvPr/>
        </p:nvSpPr>
        <p:spPr>
          <a:xfrm>
            <a:off x="548640" y="5257800"/>
            <a:ext cx="11064240" cy="457200"/>
          </a:xfrm>
          <a:prstGeom prst="rect">
            <a:avLst/>
          </a:prstGeom>
          <a:noFill/>
          <a:ln/>
        </p:spPr>
        <p:txBody>
          <a:bodyPr wrap="square" lIns="0" tIns="0" rIns="0" bIns="0" rtlCol="0" anchor="ctr"/>
          <a:lstStyle/>
          <a:p>
            <a:pPr algn="ctr" indent="0" marL="0">
              <a:buNone/>
            </a:pPr>
            <a:r>
              <a:rPr lang="en-US" sz="1600" dirty="0">
                <a:solidFill>
                  <a:srgbClr val="8DA0C2"/>
                </a:solidFill>
                <a:latin typeface="Calibri" pitchFamily="34" charset="0"/>
                <a:ea typeface="Calibri" pitchFamily="34" charset="-122"/>
                <a:cs typeface="Calibri" pitchFamily="34" charset="-120"/>
              </a:rPr>
              <a:t>Client-server architecture: React.js frontend  ·  Node.js + Express.js backend  ·  MongoDB database  (as proposed in the synopsis)</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MongoDB data model: 11 collections</a:t>
            </a:r>
            <a:endParaRPr lang="en-US"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1371600"/>
                <a:gridCol w="4114800"/>
                <a:gridCol w="2560320"/>
              </a:tblGrid>
              <a:tr h="457200">
                <a:tc>
                  <a:txBody>
                    <a:bodyPr/>
                    <a:lstStyle/>
                    <a:p>
                      <a:pPr indent="0" marL="0">
                        <a:buNone/>
                      </a:pPr>
                      <a:r>
                        <a:rPr lang="en-US" sz="1400" b="1" dirty="0">
                          <a:solidFill>
                            <a:srgbClr val="3CC8FF"/>
                          </a:solidFill>
                          <a:latin typeface="Calibri" pitchFamily="34" charset="0"/>
                          <a:ea typeface="Calibri" pitchFamily="34" charset="-122"/>
                          <a:cs typeface="Calibri" pitchFamily="34" charset="-120"/>
                        </a:rPr>
                        <a:t>Collection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6223A"/>
                    </a:solidFill>
                  </a:tcPr>
                </a:tc>
                <a:tc>
                  <a:txBody>
                    <a:bodyPr/>
                    <a:lstStyle/>
                    <a:p>
                      <a:pPr indent="0" marL="0">
                        <a:buNone/>
                      </a:pPr>
                      <a:r>
                        <a:rPr lang="en-US" sz="1400" b="1" dirty="0">
                          <a:solidFill>
                            <a:srgbClr val="3CC8FF"/>
                          </a:solidFill>
                          <a:latin typeface="Calibri" pitchFamily="34" charset="0"/>
                          <a:ea typeface="Calibri" pitchFamily="34" charset="-122"/>
                          <a:cs typeface="Calibri" pitchFamily="34" charset="-120"/>
                        </a:rPr>
                        <a:t>Kind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6223A"/>
                    </a:solidFill>
                  </a:tcPr>
                </a:tc>
                <a:tc>
                  <a:txBody>
                    <a:bodyPr/>
                    <a:lstStyle/>
                    <a:p>
                      <a:pPr indent="0" marL="0">
                        <a:buNone/>
                      </a:pPr>
                      <a:r>
                        <a:rPr lang="en-US" sz="1400" b="1" dirty="0">
                          <a:solidFill>
                            <a:srgbClr val="3CC8FF"/>
                          </a:solidFill>
                          <a:latin typeface="Calibri" pitchFamily="34" charset="0"/>
                          <a:ea typeface="Calibri" pitchFamily="34" charset="-122"/>
                          <a:cs typeface="Calibri" pitchFamily="34" charset="-120"/>
                        </a:rPr>
                        <a:t>Holds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6223A"/>
                    </a:solidFill>
                  </a:tcPr>
                </a:tc>
                <a:tc>
                  <a:txBody>
                    <a:bodyPr/>
                    <a:lstStyle/>
                    <a:p>
                      <a:pPr indent="0" marL="0">
                        <a:buNone/>
                      </a:pPr>
                      <a:r>
                        <a:rPr lang="en-US" sz="1400" b="1" dirty="0">
                          <a:solidFill>
                            <a:srgbClr val="3CC8FF"/>
                          </a:solidFill>
                          <a:latin typeface="Calibri" pitchFamily="34" charset="0"/>
                          <a:ea typeface="Calibri" pitchFamily="34" charset="-122"/>
                          <a:cs typeface="Calibri" pitchFamily="34" charset="-120"/>
                        </a:rPr>
                        <a:t>Notable index</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6223A"/>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stations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8DA0C2"/>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138 gauges, thresholds, GeoJSON location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2dsphere on location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rainfall_records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3DDC97"/>
                          </a:solidFill>
                          <a:latin typeface="Calibri" pitchFamily="34" charset="0"/>
                          <a:ea typeface="Calibri" pitchFamily="34" charset="-122"/>
                          <a:cs typeface="Calibri" pitchFamily="34" charset="-120"/>
                        </a:rPr>
                        <a:t>time-series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hourly rainfall mm, intensity class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meta stationId + 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river_levels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3DDC97"/>
                          </a:solidFill>
                          <a:latin typeface="Calibri" pitchFamily="34" charset="0"/>
                          <a:ea typeface="Calibri" pitchFamily="34" charset="-122"/>
                          <a:cs typeface="Calibri" pitchFamily="34" charset="-120"/>
                        </a:rPr>
                        <a:t>time-series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level m, discharge, optional tide</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meta stationId + 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weather_data</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3DDC97"/>
                          </a:solidFill>
                          <a:latin typeface="Calibri" pitchFamily="34" charset="0"/>
                          <a:ea typeface="Calibri" pitchFamily="34" charset="-122"/>
                          <a:cs typeface="Calibri" pitchFamily="34" charset="-120"/>
                        </a:rPr>
                        <a:t>time-series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temperature, humidity, wind, pressure</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meta stationId + 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risk_zones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8DA0C2"/>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46 flood-zone polygons + classification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2dsphere on geometry</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disaster_events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8DA0C2"/>
                          </a:solidFill>
                          <a:latin typeface="Calibri" pitchFamily="34" charset="0"/>
                          <a:ea typeface="Calibri" pitchFamily="34" charset="-122"/>
                          <a:cs typeface="Calibri" pitchFamily="34" charset="-120"/>
                        </a:rPr>
                        <a:t>standard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900 historical events with impact</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2dsphere + date</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station_baselines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B18CFF"/>
                          </a:solidFill>
                          <a:latin typeface="Calibri" pitchFamily="34" charset="0"/>
                          <a:ea typeface="Calibri" pitchFamily="34" charset="-122"/>
                          <a:cs typeface="Calibri" pitchFamily="34" charset="-120"/>
                        </a:rPr>
                        <a:t>derived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mean, σ, p95, p99 per gauge ($merge)</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_id = stationId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457200">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risk_snapshots / alerts / reports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B18CFF"/>
                          </a:solidFill>
                          <a:latin typeface="Calibri" pitchFamily="34" charset="0"/>
                          <a:ea typeface="Calibri" pitchFamily="34" charset="-122"/>
                          <a:cs typeface="Calibri" pitchFamily="34" charset="-120"/>
                        </a:rPr>
                        <a:t>derived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risk history, alert lifecycle, situation reports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simTime, status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Built for big data: measured on this system</a:t>
            </a:r>
            <a:endParaRPr lang="en-US" dirty="0"/>
          </a:p>
        </p:txBody>
      </p:sp>
      <p:sp>
        <p:nvSpPr>
          <p:cNvPr id="4" name="card"/>
          <p:cNvSpPr/>
          <p:nvPr/>
        </p:nvSpPr>
        <p:spPr>
          <a:xfrm>
            <a:off x="54864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Text 2"/>
          <p:cNvSpPr txBox="1"/>
          <p:nvPr/>
        </p:nvSpPr>
        <p:spPr>
          <a:xfrm>
            <a:off x="777240" y="1554480"/>
            <a:ext cx="3108960" cy="822960"/>
          </a:xfrm>
          <a:prstGeom prst="rect">
            <a:avLst/>
          </a:prstGeom>
          <a:noFill/>
          <a:ln/>
        </p:spPr>
        <p:txBody>
          <a:bodyPr wrap="square" lIns="0" tIns="0" rIns="0" bIns="0" rtlCol="0" anchor="ctr"/>
          <a:lstStyle/>
          <a:p>
            <a:pPr indent="0" marL="0">
              <a:buNone/>
            </a:pPr>
            <a:r>
              <a:rPr lang="en-US" sz="4400" b="1" dirty="0">
                <a:solidFill>
                  <a:srgbClr val="3CC8FF"/>
                </a:solidFill>
                <a:latin typeface="Calibri" pitchFamily="34" charset="0"/>
                <a:ea typeface="Calibri" pitchFamily="34" charset="-122"/>
                <a:cs typeface="Calibri" pitchFamily="34" charset="-120"/>
              </a:rPr>
              <a:t>3.6 M</a:t>
            </a:r>
            <a:endParaRPr lang="en-US" sz="4400" dirty="0"/>
          </a:p>
        </p:txBody>
      </p:sp>
      <p:sp>
        <p:nvSpPr>
          <p:cNvPr id="6" name="Text 3"/>
          <p:cNvSpPr txBox="1"/>
          <p:nvPr/>
        </p:nvSpPr>
        <p:spPr>
          <a:xfrm>
            <a:off x="777240" y="2377440"/>
            <a:ext cx="310896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sensor documents</a:t>
            </a:r>
            <a:endParaRPr lang="en-US" sz="1600" dirty="0"/>
          </a:p>
        </p:txBody>
      </p:sp>
      <p:sp>
        <p:nvSpPr>
          <p:cNvPr id="7" name="Text 4"/>
          <p:cNvSpPr txBox="1"/>
          <p:nvPr/>
        </p:nvSpPr>
        <p:spPr>
          <a:xfrm>
            <a:off x="777240" y="2743200"/>
            <a:ext cx="3108960" cy="822960"/>
          </a:xfrm>
          <a:prstGeom prst="rect">
            <a:avLst/>
          </a:prstGeom>
          <a:noFill/>
          <a:ln/>
        </p:spPr>
        <p:txBody>
          <a:bodyPr wrap="square" lIns="0" tIns="0" rIns="0" bIns="0" rtlCol="0" anchor="t"/>
          <a:lstStyle/>
          <a:p>
            <a:pPr indent="0" marL="0">
              <a:buNone/>
            </a:pPr>
            <a:r>
              <a:rPr lang="en-US" sz="1400" dirty="0">
                <a:solidFill>
                  <a:srgbClr val="8DA0C2"/>
                </a:solidFill>
                <a:latin typeface="Calibri" pitchFamily="34" charset="0"/>
                <a:ea typeface="Calibri" pitchFamily="34" charset="-122"/>
                <a:cs typeface="Calibri" pitchFamily="34" charset="-120"/>
              </a:rPr>
              <a:t>365 days of hourly rainfall, river and weather readings</a:t>
            </a:r>
            <a:endParaRPr lang="en-US" sz="1400" dirty="0"/>
          </a:p>
        </p:txBody>
      </p:sp>
      <p:sp>
        <p:nvSpPr>
          <p:cNvPr id="8" name="card"/>
          <p:cNvSpPr/>
          <p:nvPr/>
        </p:nvSpPr>
        <p:spPr>
          <a:xfrm>
            <a:off x="429768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9" name="Text 6"/>
          <p:cNvSpPr txBox="1"/>
          <p:nvPr/>
        </p:nvSpPr>
        <p:spPr>
          <a:xfrm>
            <a:off x="4526280" y="1554480"/>
            <a:ext cx="3108960" cy="822960"/>
          </a:xfrm>
          <a:prstGeom prst="rect">
            <a:avLst/>
          </a:prstGeom>
          <a:noFill/>
          <a:ln/>
        </p:spPr>
        <p:txBody>
          <a:bodyPr wrap="square" lIns="0" tIns="0" rIns="0" bIns="0" rtlCol="0" anchor="ctr"/>
          <a:lstStyle/>
          <a:p>
            <a:pPr indent="0" marL="0">
              <a:buNone/>
            </a:pPr>
            <a:r>
              <a:rPr lang="en-US" sz="4400" b="1" dirty="0">
                <a:solidFill>
                  <a:srgbClr val="3DDC97"/>
                </a:solidFill>
                <a:latin typeface="Calibri" pitchFamily="34" charset="0"/>
                <a:ea typeface="Calibri" pitchFamily="34" charset="-122"/>
                <a:cs typeface="Calibri" pitchFamily="34" charset="-120"/>
              </a:rPr>
              <a:t>138</a:t>
            </a:r>
            <a:endParaRPr lang="en-US" sz="4400" dirty="0"/>
          </a:p>
        </p:txBody>
      </p:sp>
      <p:sp>
        <p:nvSpPr>
          <p:cNvPr id="10" name="Text 7"/>
          <p:cNvSpPr txBox="1"/>
          <p:nvPr/>
        </p:nvSpPr>
        <p:spPr>
          <a:xfrm>
            <a:off x="4526280" y="2377440"/>
            <a:ext cx="310896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gauges · 29 countries</a:t>
            </a:r>
            <a:endParaRPr lang="en-US" sz="1600" dirty="0"/>
          </a:p>
        </p:txBody>
      </p:sp>
      <p:sp>
        <p:nvSpPr>
          <p:cNvPr id="11" name="Text 8"/>
          <p:cNvSpPr txBox="1"/>
          <p:nvPr/>
        </p:nvSpPr>
        <p:spPr>
          <a:xfrm>
            <a:off x="4526280" y="2743200"/>
            <a:ext cx="3108960" cy="822960"/>
          </a:xfrm>
          <a:prstGeom prst="rect">
            <a:avLst/>
          </a:prstGeom>
          <a:noFill/>
          <a:ln/>
        </p:spPr>
        <p:txBody>
          <a:bodyPr wrap="square" lIns="0" tIns="0" rIns="0" bIns="0" rtlCol="0" anchor="t"/>
          <a:lstStyle/>
          <a:p>
            <a:pPr indent="0" marL="0">
              <a:buNone/>
            </a:pPr>
            <a:r>
              <a:rPr lang="en-US" sz="1400" dirty="0">
                <a:solidFill>
                  <a:srgbClr val="8DA0C2"/>
                </a:solidFill>
                <a:latin typeface="Calibri" pitchFamily="34" charset="0"/>
                <a:ea typeface="Calibri" pitchFamily="34" charset="-122"/>
                <a:cs typeface="Calibri" pitchFamily="34" charset="-120"/>
              </a:rPr>
              <a:t>Six continents, 46 flood-risk zones</a:t>
            </a:r>
            <a:endParaRPr lang="en-US" sz="1400" dirty="0"/>
          </a:p>
        </p:txBody>
      </p:sp>
      <p:sp>
        <p:nvSpPr>
          <p:cNvPr id="12" name="card"/>
          <p:cNvSpPr/>
          <p:nvPr/>
        </p:nvSpPr>
        <p:spPr>
          <a:xfrm>
            <a:off x="804672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3" name="Text 10"/>
          <p:cNvSpPr txBox="1"/>
          <p:nvPr/>
        </p:nvSpPr>
        <p:spPr>
          <a:xfrm>
            <a:off x="8275320" y="1554480"/>
            <a:ext cx="3108960" cy="822960"/>
          </a:xfrm>
          <a:prstGeom prst="rect">
            <a:avLst/>
          </a:prstGeom>
          <a:noFill/>
          <a:ln/>
        </p:spPr>
        <p:txBody>
          <a:bodyPr wrap="square" lIns="0" tIns="0" rIns="0" bIns="0" rtlCol="0" anchor="ctr"/>
          <a:lstStyle/>
          <a:p>
            <a:pPr indent="0" marL="0">
              <a:buNone/>
            </a:pPr>
            <a:r>
              <a:rPr lang="en-US" sz="4400" b="1" dirty="0">
                <a:solidFill>
                  <a:srgbClr val="B18CFF"/>
                </a:solidFill>
                <a:latin typeface="Calibri" pitchFamily="34" charset="0"/>
                <a:ea typeface="Calibri" pitchFamily="34" charset="-122"/>
                <a:cs typeface="Calibri" pitchFamily="34" charset="-120"/>
              </a:rPr>
              <a:t>~3 s</a:t>
            </a:r>
            <a:endParaRPr lang="en-US" sz="4400" dirty="0"/>
          </a:p>
        </p:txBody>
      </p:sp>
      <p:sp>
        <p:nvSpPr>
          <p:cNvPr id="14" name="Text 11"/>
          <p:cNvSpPr txBox="1"/>
          <p:nvPr/>
        </p:nvSpPr>
        <p:spPr>
          <a:xfrm>
            <a:off x="8275320" y="2377440"/>
            <a:ext cx="310896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one year, 3 M docs</a:t>
            </a:r>
            <a:endParaRPr lang="en-US" sz="1600" dirty="0"/>
          </a:p>
        </p:txBody>
      </p:sp>
      <p:sp>
        <p:nvSpPr>
          <p:cNvPr id="15" name="Text 12"/>
          <p:cNvSpPr txBox="1"/>
          <p:nvPr/>
        </p:nvSpPr>
        <p:spPr>
          <a:xfrm>
            <a:off x="8275320" y="2743200"/>
            <a:ext cx="3108960" cy="822960"/>
          </a:xfrm>
          <a:prstGeom prst="rect">
            <a:avLst/>
          </a:prstGeom>
          <a:noFill/>
          <a:ln/>
        </p:spPr>
        <p:txBody>
          <a:bodyPr wrap="square" lIns="0" tIns="0" rIns="0" bIns="0" rtlCol="0" anchor="t"/>
          <a:lstStyle/>
          <a:p>
            <a:pPr indent="0" marL="0">
              <a:buNone/>
            </a:pPr>
            <a:r>
              <a:rPr lang="en-US" sz="1400" dirty="0">
                <a:solidFill>
                  <a:srgbClr val="8DA0C2"/>
                </a:solidFill>
                <a:latin typeface="Calibri" pitchFamily="34" charset="0"/>
                <a:ea typeface="Calibri" pitchFamily="34" charset="-122"/>
                <a:cs typeface="Calibri" pitchFamily="34" charset="-120"/>
              </a:rPr>
              <a:t>Monthly continent trends via two-level $group + $lookup</a:t>
            </a:r>
            <a:endParaRPr lang="en-US" sz="1400" dirty="0"/>
          </a:p>
        </p:txBody>
      </p:sp>
      <p:sp>
        <p:nvSpPr>
          <p:cNvPr id="16" name="card"/>
          <p:cNvSpPr/>
          <p:nvPr/>
        </p:nvSpPr>
        <p:spPr>
          <a:xfrm>
            <a:off x="54864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7" name="Text 14"/>
          <p:cNvSpPr txBox="1"/>
          <p:nvPr/>
        </p:nvSpPr>
        <p:spPr>
          <a:xfrm>
            <a:off x="777240" y="4023360"/>
            <a:ext cx="3108960" cy="822960"/>
          </a:xfrm>
          <a:prstGeom prst="rect">
            <a:avLst/>
          </a:prstGeom>
          <a:noFill/>
          <a:ln/>
        </p:spPr>
        <p:txBody>
          <a:bodyPr wrap="square" lIns="0" tIns="0" rIns="0" bIns="0" rtlCol="0" anchor="ctr"/>
          <a:lstStyle/>
          <a:p>
            <a:pPr indent="0" marL="0">
              <a:buNone/>
            </a:pPr>
            <a:r>
              <a:rPr lang="en-US" sz="4400" b="1" dirty="0">
                <a:solidFill>
                  <a:srgbClr val="FF8A3D"/>
                </a:solidFill>
                <a:latin typeface="Calibri" pitchFamily="34" charset="0"/>
                <a:ea typeface="Calibri" pitchFamily="34" charset="-122"/>
                <a:cs typeface="Calibri" pitchFamily="34" charset="-120"/>
              </a:rPr>
              <a:t>&lt; 50 ms</a:t>
            </a:r>
            <a:endParaRPr lang="en-US" sz="4400" dirty="0"/>
          </a:p>
        </p:txBody>
      </p:sp>
      <p:sp>
        <p:nvSpPr>
          <p:cNvPr id="18" name="Text 15"/>
          <p:cNvSpPr txBox="1"/>
          <p:nvPr/>
        </p:nvSpPr>
        <p:spPr>
          <a:xfrm>
            <a:off x="777240" y="4846320"/>
            <a:ext cx="310896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historical $facet</a:t>
            </a:r>
            <a:endParaRPr lang="en-US" sz="1600" dirty="0"/>
          </a:p>
        </p:txBody>
      </p:sp>
      <p:sp>
        <p:nvSpPr>
          <p:cNvPr id="19" name="Text 16"/>
          <p:cNvSpPr txBox="1"/>
          <p:nvPr/>
        </p:nvSpPr>
        <p:spPr>
          <a:xfrm>
            <a:off x="777240" y="5212080"/>
            <a:ext cx="3108960" cy="822960"/>
          </a:xfrm>
          <a:prstGeom prst="rect">
            <a:avLst/>
          </a:prstGeom>
          <a:noFill/>
          <a:ln/>
        </p:spPr>
        <p:txBody>
          <a:bodyPr wrap="square" lIns="0" tIns="0" rIns="0" bIns="0" rtlCol="0" anchor="t"/>
          <a:lstStyle/>
          <a:p>
            <a:pPr indent="0" marL="0">
              <a:buNone/>
            </a:pPr>
            <a:r>
              <a:rPr lang="en-US" sz="1400" dirty="0">
                <a:solidFill>
                  <a:srgbClr val="8DA0C2"/>
                </a:solidFill>
                <a:latin typeface="Calibri" pitchFamily="34" charset="0"/>
                <a:ea typeface="Calibri" pitchFamily="34" charset="-122"/>
                <a:cs typeface="Calibri" pitchFamily="34" charset="-120"/>
              </a:rPr>
              <a:t>900 events summarised by year, type, month, continent</a:t>
            </a:r>
            <a:endParaRPr lang="en-US" sz="1400" dirty="0"/>
          </a:p>
        </p:txBody>
      </p:sp>
      <p:sp>
        <p:nvSpPr>
          <p:cNvPr id="20" name="card"/>
          <p:cNvSpPr/>
          <p:nvPr/>
        </p:nvSpPr>
        <p:spPr>
          <a:xfrm>
            <a:off x="429768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1" name="Text 18"/>
          <p:cNvSpPr txBox="1"/>
          <p:nvPr/>
        </p:nvSpPr>
        <p:spPr>
          <a:xfrm>
            <a:off x="4526280" y="4023360"/>
            <a:ext cx="3108960" cy="822960"/>
          </a:xfrm>
          <a:prstGeom prst="rect">
            <a:avLst/>
          </a:prstGeom>
          <a:noFill/>
          <a:ln/>
        </p:spPr>
        <p:txBody>
          <a:bodyPr wrap="square" lIns="0" tIns="0" rIns="0" bIns="0" rtlCol="0" anchor="ctr"/>
          <a:lstStyle/>
          <a:p>
            <a:pPr indent="0" marL="0">
              <a:buNone/>
            </a:pPr>
            <a:r>
              <a:rPr lang="en-US" sz="4400" b="1" dirty="0">
                <a:solidFill>
                  <a:srgbClr val="FFD23F"/>
                </a:solidFill>
                <a:latin typeface="Calibri" pitchFamily="34" charset="0"/>
                <a:ea typeface="Calibri" pitchFamily="34" charset="-122"/>
                <a:cs typeface="Calibri" pitchFamily="34" charset="-120"/>
              </a:rPr>
              <a:t>~3 ms</a:t>
            </a:r>
            <a:endParaRPr lang="en-US" sz="4400" dirty="0"/>
          </a:p>
        </p:txBody>
      </p:sp>
      <p:sp>
        <p:nvSpPr>
          <p:cNvPr id="22" name="Text 19"/>
          <p:cNvSpPr txBox="1"/>
          <p:nvPr/>
        </p:nvSpPr>
        <p:spPr>
          <a:xfrm>
            <a:off x="4526280" y="4846320"/>
            <a:ext cx="310896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$geoNear query</a:t>
            </a:r>
            <a:endParaRPr lang="en-US" sz="1600" dirty="0"/>
          </a:p>
        </p:txBody>
      </p:sp>
      <p:sp>
        <p:nvSpPr>
          <p:cNvPr id="23" name="Text 20"/>
          <p:cNvSpPr txBox="1"/>
          <p:nvPr/>
        </p:nvSpPr>
        <p:spPr>
          <a:xfrm>
            <a:off x="4526280" y="5212080"/>
            <a:ext cx="3108960" cy="822960"/>
          </a:xfrm>
          <a:prstGeom prst="rect">
            <a:avLst/>
          </a:prstGeom>
          <a:noFill/>
          <a:ln/>
        </p:spPr>
        <p:txBody>
          <a:bodyPr wrap="square" lIns="0" tIns="0" rIns="0" bIns="0" rtlCol="0" anchor="t"/>
          <a:lstStyle/>
          <a:p>
            <a:pPr indent="0" marL="0">
              <a:buNone/>
            </a:pPr>
            <a:r>
              <a:rPr lang="en-US" sz="1400" dirty="0">
                <a:solidFill>
                  <a:srgbClr val="8DA0C2"/>
                </a:solidFill>
                <a:latin typeface="Calibri" pitchFamily="34" charset="0"/>
                <a:ea typeface="Calibri" pitchFamily="34" charset="-122"/>
                <a:cs typeface="Calibri" pitchFamily="34" charset="-120"/>
              </a:rPr>
              <a:t>Gauges within 400 km of a point, 2dsphere index</a:t>
            </a:r>
            <a:endParaRPr lang="en-US" sz="1400" dirty="0"/>
          </a:p>
        </p:txBody>
      </p:sp>
      <p:sp>
        <p:nvSpPr>
          <p:cNvPr id="24" name="card"/>
          <p:cNvSpPr/>
          <p:nvPr/>
        </p:nvSpPr>
        <p:spPr>
          <a:xfrm>
            <a:off x="804672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5" name="Text 22"/>
          <p:cNvSpPr txBox="1"/>
          <p:nvPr/>
        </p:nvSpPr>
        <p:spPr>
          <a:xfrm>
            <a:off x="8275320" y="4023360"/>
            <a:ext cx="3108960" cy="822960"/>
          </a:xfrm>
          <a:prstGeom prst="rect">
            <a:avLst/>
          </a:prstGeom>
          <a:noFill/>
          <a:ln/>
        </p:spPr>
        <p:txBody>
          <a:bodyPr wrap="square" lIns="0" tIns="0" rIns="0" bIns="0" rtlCol="0" anchor="ctr"/>
          <a:lstStyle/>
          <a:p>
            <a:pPr indent="0" marL="0">
              <a:buNone/>
            </a:pPr>
            <a:r>
              <a:rPr lang="en-US" sz="4400" b="1" dirty="0">
                <a:solidFill>
                  <a:srgbClr val="FF3B5C"/>
                </a:solidFill>
                <a:latin typeface="Calibri" pitchFamily="34" charset="0"/>
                <a:ea typeface="Calibri" pitchFamily="34" charset="-122"/>
                <a:cs typeface="Calibri" pitchFamily="34" charset="-120"/>
              </a:rPr>
              <a:t>6 s</a:t>
            </a:r>
            <a:endParaRPr lang="en-US" sz="4400" dirty="0"/>
          </a:p>
        </p:txBody>
      </p:sp>
      <p:sp>
        <p:nvSpPr>
          <p:cNvPr id="26" name="Text 23"/>
          <p:cNvSpPr txBox="1"/>
          <p:nvPr/>
        </p:nvSpPr>
        <p:spPr>
          <a:xfrm>
            <a:off x="8275320" y="4846320"/>
            <a:ext cx="310896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live tick</a:t>
            </a:r>
            <a:endParaRPr lang="en-US" sz="1600" dirty="0"/>
          </a:p>
        </p:txBody>
      </p:sp>
      <p:sp>
        <p:nvSpPr>
          <p:cNvPr id="27" name="Text 24"/>
          <p:cNvSpPr txBox="1"/>
          <p:nvPr/>
        </p:nvSpPr>
        <p:spPr>
          <a:xfrm>
            <a:off x="8275320" y="5212080"/>
            <a:ext cx="3108960" cy="822960"/>
          </a:xfrm>
          <a:prstGeom prst="rect">
            <a:avLst/>
          </a:prstGeom>
          <a:noFill/>
          <a:ln/>
        </p:spPr>
        <p:txBody>
          <a:bodyPr wrap="square" lIns="0" tIns="0" rIns="0" bIns="0" rtlCol="0" anchor="t"/>
          <a:lstStyle/>
          <a:p>
            <a:pPr indent="0" marL="0">
              <a:buNone/>
            </a:pPr>
            <a:r>
              <a:rPr lang="en-US" sz="1400" dirty="0">
                <a:solidFill>
                  <a:srgbClr val="8DA0C2"/>
                </a:solidFill>
                <a:latin typeface="Calibri" pitchFamily="34" charset="0"/>
                <a:ea typeface="Calibri" pitchFamily="34" charset="-122"/>
                <a:cs typeface="Calibri" pitchFamily="34" charset="-120"/>
              </a:rPr>
              <a:t>New readings stored, risk re-scored, alerts updated</a:t>
            </a:r>
            <a:endParaRPr lang="en-US" sz="1400" dirty="0"/>
          </a:p>
        </p:txBody>
      </p:sp>
      <p:sp>
        <p:nvSpPr>
          <p:cNvPr id="28" name="Text 25"/>
          <p:cNvSpPr txBox="1"/>
          <p:nvPr/>
        </p:nvSpPr>
        <p:spPr>
          <a:xfrm>
            <a:off x="548640" y="6126480"/>
            <a:ext cx="11064240" cy="274320"/>
          </a:xfrm>
          <a:prstGeom prst="rect">
            <a:avLst/>
          </a:prstGeom>
          <a:noFill/>
          <a:ln/>
        </p:spPr>
        <p:txBody>
          <a:bodyPr wrap="square" lIns="0" tIns="0" rIns="0" bIns="0" rtlCol="0" anchor="ctr"/>
          <a:lstStyle/>
          <a:p>
            <a:pPr indent="0" marL="0">
              <a:buNone/>
            </a:pPr>
            <a:r>
              <a:rPr lang="en-US" sz="1200" i="1" dirty="0">
                <a:solidFill>
                  <a:srgbClr val="8DA0C2"/>
                </a:solidFill>
                <a:latin typeface="Calibri" pitchFamily="34" charset="0"/>
                <a:ea typeface="Calibri" pitchFamily="34" charset="-122"/>
                <a:cs typeface="Calibri" pitchFamily="34" charset="-120"/>
              </a:rPr>
              <a:t>Readings are synthetic (generated by a hydrological-style simulator) as permitted by the synopsis; gauge locations use real flood-prone cities.</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Why MongoDB: capabilities we actually use</a:t>
            </a:r>
            <a:endParaRPr lang="en-US" dirty="0"/>
          </a:p>
        </p:txBody>
      </p:sp>
      <p:sp>
        <p:nvSpPr>
          <p:cNvPr id="4" name="card"/>
          <p:cNvSpPr/>
          <p:nvPr/>
        </p:nvSpPr>
        <p:spPr>
          <a:xfrm>
            <a:off x="54864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dot"/>
          <p:cNvSpPr/>
          <p:nvPr/>
        </p:nvSpPr>
        <p:spPr>
          <a:xfrm>
            <a:off x="777240" y="1600200"/>
            <a:ext cx="201168" cy="201168"/>
          </a:xfrm>
          <a:prstGeom prst="ellipse">
            <a:avLst/>
          </a:prstGeom>
          <a:solidFill>
            <a:srgbClr val="3CC8FF"/>
          </a:solidFill>
          <a:ln w="12700">
            <a:solidFill>
              <a:srgbClr val="3CC8FF"/>
            </a:solidFill>
            <a:prstDash val="solid"/>
          </a:ln>
        </p:spPr>
      </p:sp>
      <p:sp>
        <p:nvSpPr>
          <p:cNvPr id="6" name="Text 3"/>
          <p:cNvSpPr txBox="1"/>
          <p:nvPr/>
        </p:nvSpPr>
        <p:spPr>
          <a:xfrm>
            <a:off x="1097280" y="1517904"/>
            <a:ext cx="283464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Time-series collections</a:t>
            </a:r>
            <a:endParaRPr lang="en-US" sz="1800" dirty="0"/>
          </a:p>
        </p:txBody>
      </p:sp>
      <p:sp>
        <p:nvSpPr>
          <p:cNvPr id="7" name="Text 4"/>
          <p:cNvSpPr txBox="1"/>
          <p:nvPr/>
        </p:nvSpPr>
        <p:spPr>
          <a:xfrm>
            <a:off x="777240" y="19659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8DA0C2"/>
                </a:solidFill>
                <a:latin typeface="Calibri" pitchFamily="34" charset="0"/>
                <a:ea typeface="Calibri" pitchFamily="34" charset="-122"/>
                <a:cs typeface="Calibri" pitchFamily="34" charset="-120"/>
              </a:rPr>
              <a:t>Hourly sensor readings bucketed by station and time for compact storage and fast range scans.</a:t>
            </a:r>
            <a:endParaRPr lang="en-US" sz="1500" dirty="0"/>
          </a:p>
        </p:txBody>
      </p:sp>
      <p:sp>
        <p:nvSpPr>
          <p:cNvPr id="8" name="card"/>
          <p:cNvSpPr/>
          <p:nvPr/>
        </p:nvSpPr>
        <p:spPr>
          <a:xfrm>
            <a:off x="429768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9" name="dot"/>
          <p:cNvSpPr/>
          <p:nvPr/>
        </p:nvSpPr>
        <p:spPr>
          <a:xfrm>
            <a:off x="4526280" y="1600200"/>
            <a:ext cx="201168" cy="201168"/>
          </a:xfrm>
          <a:prstGeom prst="ellipse">
            <a:avLst/>
          </a:prstGeom>
          <a:solidFill>
            <a:srgbClr val="B18CFF"/>
          </a:solidFill>
          <a:ln w="12700">
            <a:solidFill>
              <a:srgbClr val="B18CFF"/>
            </a:solidFill>
            <a:prstDash val="solid"/>
          </a:ln>
        </p:spPr>
      </p:sp>
      <p:sp>
        <p:nvSpPr>
          <p:cNvPr id="10" name="Text 7"/>
          <p:cNvSpPr txBox="1"/>
          <p:nvPr/>
        </p:nvSpPr>
        <p:spPr>
          <a:xfrm>
            <a:off x="4846320" y="1517904"/>
            <a:ext cx="283464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Aggregation framework</a:t>
            </a:r>
            <a:endParaRPr lang="en-US" sz="1800" dirty="0"/>
          </a:p>
        </p:txBody>
      </p:sp>
      <p:sp>
        <p:nvSpPr>
          <p:cNvPr id="11" name="Text 8"/>
          <p:cNvSpPr txBox="1"/>
          <p:nvPr/>
        </p:nvSpPr>
        <p:spPr>
          <a:xfrm>
            <a:off x="4526280" y="19659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8DA0C2"/>
                </a:solidFill>
                <a:latin typeface="Calibri" pitchFamily="34" charset="0"/>
                <a:ea typeface="Calibri" pitchFamily="34" charset="-122"/>
                <a:cs typeface="Calibri" pitchFamily="34" charset="-120"/>
              </a:rPr>
              <a:t>$group, $lookup, $facet, $dateTrunc and $merge run the analytics inside the database.</a:t>
            </a:r>
            <a:endParaRPr lang="en-US" sz="1500" dirty="0"/>
          </a:p>
        </p:txBody>
      </p:sp>
      <p:sp>
        <p:nvSpPr>
          <p:cNvPr id="12" name="card"/>
          <p:cNvSpPr/>
          <p:nvPr/>
        </p:nvSpPr>
        <p:spPr>
          <a:xfrm>
            <a:off x="8046720" y="137160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3" name="dot"/>
          <p:cNvSpPr/>
          <p:nvPr/>
        </p:nvSpPr>
        <p:spPr>
          <a:xfrm>
            <a:off x="8275320" y="1600200"/>
            <a:ext cx="201168" cy="201168"/>
          </a:xfrm>
          <a:prstGeom prst="ellipse">
            <a:avLst/>
          </a:prstGeom>
          <a:solidFill>
            <a:srgbClr val="FF8A3D"/>
          </a:solidFill>
          <a:ln w="12700">
            <a:solidFill>
              <a:srgbClr val="FF8A3D"/>
            </a:solidFill>
            <a:prstDash val="solid"/>
          </a:ln>
        </p:spPr>
      </p:sp>
      <p:sp>
        <p:nvSpPr>
          <p:cNvPr id="14" name="Text 11"/>
          <p:cNvSpPr txBox="1"/>
          <p:nvPr/>
        </p:nvSpPr>
        <p:spPr>
          <a:xfrm>
            <a:off x="8595360" y="1517904"/>
            <a:ext cx="283464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Window functions</a:t>
            </a:r>
            <a:endParaRPr lang="en-US" sz="1800" dirty="0"/>
          </a:p>
        </p:txBody>
      </p:sp>
      <p:sp>
        <p:nvSpPr>
          <p:cNvPr id="15" name="Text 12"/>
          <p:cNvSpPr txBox="1"/>
          <p:nvPr/>
        </p:nvSpPr>
        <p:spPr>
          <a:xfrm>
            <a:off x="8275320" y="196596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8DA0C2"/>
                </a:solidFill>
                <a:latin typeface="Calibri" pitchFamily="34" charset="0"/>
                <a:ea typeface="Calibri" pitchFamily="34" charset="-122"/>
                <a:cs typeface="Calibri" pitchFamily="34" charset="-120"/>
              </a:rPr>
              <a:t>$setWindowFields with $derivative gives river rate-of-rise over a sliding 3-hour range.</a:t>
            </a:r>
            <a:endParaRPr lang="en-US" sz="1500" dirty="0"/>
          </a:p>
        </p:txBody>
      </p:sp>
      <p:sp>
        <p:nvSpPr>
          <p:cNvPr id="16" name="card"/>
          <p:cNvSpPr/>
          <p:nvPr/>
        </p:nvSpPr>
        <p:spPr>
          <a:xfrm>
            <a:off x="54864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7" name="dot"/>
          <p:cNvSpPr/>
          <p:nvPr/>
        </p:nvSpPr>
        <p:spPr>
          <a:xfrm>
            <a:off x="777240" y="4069080"/>
            <a:ext cx="201168" cy="201168"/>
          </a:xfrm>
          <a:prstGeom prst="ellipse">
            <a:avLst/>
          </a:prstGeom>
          <a:solidFill>
            <a:srgbClr val="3DDC97"/>
          </a:solidFill>
          <a:ln w="12700">
            <a:solidFill>
              <a:srgbClr val="3DDC97"/>
            </a:solidFill>
            <a:prstDash val="solid"/>
          </a:ln>
        </p:spPr>
      </p:sp>
      <p:sp>
        <p:nvSpPr>
          <p:cNvPr id="18" name="Text 15"/>
          <p:cNvSpPr txBox="1"/>
          <p:nvPr/>
        </p:nvSpPr>
        <p:spPr>
          <a:xfrm>
            <a:off x="1097280" y="3986784"/>
            <a:ext cx="283464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Geospatial queries</a:t>
            </a:r>
            <a:endParaRPr lang="en-US" sz="1800" dirty="0"/>
          </a:p>
        </p:txBody>
      </p:sp>
      <p:sp>
        <p:nvSpPr>
          <p:cNvPr id="19" name="Text 16"/>
          <p:cNvSpPr txBox="1"/>
          <p:nvPr/>
        </p:nvSpPr>
        <p:spPr>
          <a:xfrm>
            <a:off x="777240" y="443484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8DA0C2"/>
                </a:solidFill>
                <a:latin typeface="Calibri" pitchFamily="34" charset="0"/>
                <a:ea typeface="Calibri" pitchFamily="34" charset="-122"/>
                <a:cs typeface="Calibri" pitchFamily="34" charset="-120"/>
              </a:rPr>
              <a:t>2dsphere indexes with $geoNear and $geoWithin for nearest gauges and zone membership.</a:t>
            </a:r>
            <a:endParaRPr lang="en-US" sz="1500" dirty="0"/>
          </a:p>
        </p:txBody>
      </p:sp>
      <p:sp>
        <p:nvSpPr>
          <p:cNvPr id="20" name="card"/>
          <p:cNvSpPr/>
          <p:nvPr/>
        </p:nvSpPr>
        <p:spPr>
          <a:xfrm>
            <a:off x="429768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1" name="dot"/>
          <p:cNvSpPr/>
          <p:nvPr/>
        </p:nvSpPr>
        <p:spPr>
          <a:xfrm>
            <a:off x="4526280" y="4069080"/>
            <a:ext cx="201168" cy="201168"/>
          </a:xfrm>
          <a:prstGeom prst="ellipse">
            <a:avLst/>
          </a:prstGeom>
          <a:solidFill>
            <a:srgbClr val="FFD23F"/>
          </a:solidFill>
          <a:ln w="12700">
            <a:solidFill>
              <a:srgbClr val="FFD23F"/>
            </a:solidFill>
            <a:prstDash val="solid"/>
          </a:ln>
        </p:spPr>
      </p:sp>
      <p:sp>
        <p:nvSpPr>
          <p:cNvPr id="22" name="Text 19"/>
          <p:cNvSpPr txBox="1"/>
          <p:nvPr/>
        </p:nvSpPr>
        <p:spPr>
          <a:xfrm>
            <a:off x="4846320" y="3986784"/>
            <a:ext cx="283464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Statistical accumulators</a:t>
            </a:r>
            <a:endParaRPr lang="en-US" sz="1800" dirty="0"/>
          </a:p>
        </p:txBody>
      </p:sp>
      <p:sp>
        <p:nvSpPr>
          <p:cNvPr id="23" name="Text 20"/>
          <p:cNvSpPr txBox="1"/>
          <p:nvPr/>
        </p:nvSpPr>
        <p:spPr>
          <a:xfrm>
            <a:off x="4526280" y="443484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8DA0C2"/>
                </a:solidFill>
                <a:latin typeface="Calibri" pitchFamily="34" charset="0"/>
                <a:ea typeface="Calibri" pitchFamily="34" charset="-122"/>
                <a:cs typeface="Calibri" pitchFamily="34" charset="-120"/>
              </a:rPr>
              <a:t>$stdDevPop and $percentile build per-gauge baselines of normal conditions.</a:t>
            </a:r>
            <a:endParaRPr lang="en-US" sz="1500" dirty="0"/>
          </a:p>
        </p:txBody>
      </p:sp>
      <p:sp>
        <p:nvSpPr>
          <p:cNvPr id="24" name="card"/>
          <p:cNvSpPr/>
          <p:nvPr/>
        </p:nvSpPr>
        <p:spPr>
          <a:xfrm>
            <a:off x="8046720" y="3840480"/>
            <a:ext cx="3566160" cy="2286000"/>
          </a:xfrm>
          <a:prstGeom prst="roundRect">
            <a:avLst>
              <a:gd name="adj" fmla="val 4000"/>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25" name="dot"/>
          <p:cNvSpPr/>
          <p:nvPr/>
        </p:nvSpPr>
        <p:spPr>
          <a:xfrm>
            <a:off x="8275320" y="4069080"/>
            <a:ext cx="201168" cy="201168"/>
          </a:xfrm>
          <a:prstGeom prst="ellipse">
            <a:avLst/>
          </a:prstGeom>
          <a:solidFill>
            <a:srgbClr val="FF3B5C"/>
          </a:solidFill>
          <a:ln w="12700">
            <a:solidFill>
              <a:srgbClr val="FF3B5C"/>
            </a:solidFill>
            <a:prstDash val="solid"/>
          </a:ln>
        </p:spPr>
      </p:sp>
      <p:sp>
        <p:nvSpPr>
          <p:cNvPr id="26" name="Text 23"/>
          <p:cNvSpPr txBox="1"/>
          <p:nvPr/>
        </p:nvSpPr>
        <p:spPr>
          <a:xfrm>
            <a:off x="8595360" y="3986784"/>
            <a:ext cx="283464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Flexible schema</a:t>
            </a:r>
            <a:endParaRPr lang="en-US" sz="1800" dirty="0"/>
          </a:p>
        </p:txBody>
      </p:sp>
      <p:sp>
        <p:nvSpPr>
          <p:cNvPr id="27" name="Text 24"/>
          <p:cNvSpPr txBox="1"/>
          <p:nvPr/>
        </p:nvSpPr>
        <p:spPr>
          <a:xfrm>
            <a:off x="8275320" y="4434840"/>
            <a:ext cx="3108960" cy="1554480"/>
          </a:xfrm>
          <a:prstGeom prst="rect">
            <a:avLst/>
          </a:prstGeom>
          <a:noFill/>
          <a:ln/>
        </p:spPr>
        <p:txBody>
          <a:bodyPr wrap="square" lIns="0" tIns="0" rIns="0" bIns="0" rtlCol="0" anchor="t"/>
          <a:lstStyle/>
          <a:p>
            <a:pPr indent="0" marL="0">
              <a:spcAft>
                <a:spcPts val="400"/>
              </a:spcAft>
              <a:buNone/>
            </a:pPr>
            <a:r>
              <a:rPr lang="en-US" sz="1500" dirty="0">
                <a:solidFill>
                  <a:srgbClr val="8DA0C2"/>
                </a:solidFill>
                <a:latin typeface="Calibri" pitchFamily="34" charset="0"/>
                <a:ea typeface="Calibri" pitchFamily="34" charset="-122"/>
                <a:cs typeface="Calibri" pitchFamily="34" charset="-120"/>
              </a:rPr>
              <a:t>Coastal gauges add tide height without any migration; documents vary by sensor type.</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Risk scoring and anomaly detection</a:t>
            </a:r>
            <a:endParaRPr lang="en-US" dirty="0"/>
          </a:p>
        </p:txBody>
      </p:sp>
      <p:sp>
        <p:nvSpPr>
          <p:cNvPr id="4" name="card"/>
          <p:cNvSpPr/>
          <p:nvPr/>
        </p:nvSpPr>
        <p:spPr>
          <a:xfrm>
            <a:off x="548640" y="1371600"/>
            <a:ext cx="11064240" cy="1234440"/>
          </a:xfrm>
          <a:prstGeom prst="roundRect">
            <a:avLst>
              <a:gd name="adj" fmla="val 7407"/>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Text 2"/>
          <p:cNvSpPr txBox="1"/>
          <p:nvPr/>
        </p:nvSpPr>
        <p:spPr>
          <a:xfrm>
            <a:off x="731520" y="1417320"/>
            <a:ext cx="10698480" cy="685800"/>
          </a:xfrm>
          <a:prstGeom prst="rect">
            <a:avLst/>
          </a:prstGeom>
          <a:noFill/>
          <a:ln/>
        </p:spPr>
        <p:txBody>
          <a:bodyPr wrap="square" lIns="0" tIns="0" rIns="0" bIns="0" rtlCol="0" anchor="ctr"/>
          <a:lstStyle/>
          <a:p>
            <a:pPr indent="0" marL="0">
              <a:buNone/>
            </a:pPr>
            <a:r>
              <a:rPr lang="en-US" sz="2000" b="1" dirty="0">
                <a:solidFill>
                  <a:srgbClr val="3CC8FF"/>
                </a:solidFill>
                <a:latin typeface="Courier New" pitchFamily="34" charset="0"/>
                <a:ea typeface="Courier New" pitchFamily="34" charset="-122"/>
                <a:cs typeface="Courier New" pitchFamily="34" charset="-120"/>
              </a:rPr>
              <a:t>score = 100 × ( 0.5 · level%  +  0.3 · rain z  +  0.2 · rise rate )</a:t>
            </a:r>
            <a:endParaRPr lang="en-US" sz="2000" dirty="0"/>
          </a:p>
        </p:txBody>
      </p:sp>
      <p:sp>
        <p:nvSpPr>
          <p:cNvPr id="6" name="Text 3"/>
          <p:cNvSpPr txBox="1"/>
          <p:nvPr/>
        </p:nvSpPr>
        <p:spPr>
          <a:xfrm>
            <a:off x="731520" y="2057400"/>
            <a:ext cx="10698480" cy="411480"/>
          </a:xfrm>
          <a:prstGeom prst="rect">
            <a:avLst/>
          </a:prstGeom>
          <a:noFill/>
          <a:ln/>
        </p:spPr>
        <p:txBody>
          <a:bodyPr wrap="square" lIns="0" tIns="0" rIns="0" bIns="0" rtlCol="0" anchor="ctr"/>
          <a:lstStyle/>
          <a:p>
            <a:pPr indent="0" marL="0">
              <a:buNone/>
            </a:pPr>
            <a:r>
              <a:rPr lang="en-US" sz="1400" dirty="0">
                <a:solidFill>
                  <a:srgbClr val="8DA0C2"/>
                </a:solidFill>
                <a:latin typeface="Calibri" pitchFamily="34" charset="0"/>
                <a:ea typeface="Calibri" pitchFamily="34" charset="-122"/>
                <a:cs typeface="Calibri" pitchFamily="34" charset="-120"/>
              </a:rPr>
              <a:t>level% = (level − base) / (danger − base)  ·  rain z = (6 h mean − μ) / σ ÷ 6  ·  rise = (m/h) ÷ 0.4  — each term capped to 0-1</a:t>
            </a:r>
            <a:endParaRPr lang="en-US" sz="1400" dirty="0"/>
          </a:p>
        </p:txBody>
      </p:sp>
      <p:sp>
        <p:nvSpPr>
          <p:cNvPr id="7" name="band"/>
          <p:cNvSpPr/>
          <p:nvPr/>
        </p:nvSpPr>
        <p:spPr>
          <a:xfrm>
            <a:off x="548640" y="2834640"/>
            <a:ext cx="2651760" cy="914400"/>
          </a:xfrm>
          <a:prstGeom prst="roundRect">
            <a:avLst>
              <a:gd name="adj" fmla="val 10000"/>
            </a:avLst>
          </a:prstGeom>
          <a:solidFill>
            <a:srgbClr val="FF3B5C"/>
          </a:solidFill>
          <a:ln w="12700">
            <a:solidFill>
              <a:srgbClr val="FF3B5C"/>
            </a:solidFill>
            <a:prstDash val="solid"/>
          </a:ln>
        </p:spPr>
      </p:sp>
      <p:sp>
        <p:nvSpPr>
          <p:cNvPr id="8" name="Text 5"/>
          <p:cNvSpPr txBox="1"/>
          <p:nvPr/>
        </p:nvSpPr>
        <p:spPr>
          <a:xfrm>
            <a:off x="548640" y="2834640"/>
            <a:ext cx="2651760" cy="91440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CRITICAL</a:t>
            </a:r>
            <a:endParaRPr lang="en-US" sz="2000" dirty="0"/>
          </a:p>
          <a:p>
            <a:pPr algn="ctr" indent="0" marL="0">
              <a:buNone/>
            </a:pPr>
            <a:r>
              <a:rPr lang="en-US" sz="1400" dirty="0">
                <a:solidFill>
                  <a:srgbClr val="FFFFFF"/>
                </a:solidFill>
                <a:latin typeface="Calibri" pitchFamily="34" charset="0"/>
                <a:ea typeface="Calibri" pitchFamily="34" charset="-122"/>
                <a:cs typeface="Calibri" pitchFamily="34" charset="-120"/>
              </a:rPr>
              <a:t>score ≥ 70</a:t>
            </a:r>
            <a:endParaRPr lang="en-US" sz="2000" dirty="0"/>
          </a:p>
        </p:txBody>
      </p:sp>
      <p:sp>
        <p:nvSpPr>
          <p:cNvPr id="9" name="band"/>
          <p:cNvSpPr/>
          <p:nvPr/>
        </p:nvSpPr>
        <p:spPr>
          <a:xfrm>
            <a:off x="3360420" y="2834640"/>
            <a:ext cx="2651760" cy="914400"/>
          </a:xfrm>
          <a:prstGeom prst="roundRect">
            <a:avLst>
              <a:gd name="adj" fmla="val 10000"/>
            </a:avLst>
          </a:prstGeom>
          <a:solidFill>
            <a:srgbClr val="FF8A3D"/>
          </a:solidFill>
          <a:ln w="12700">
            <a:solidFill>
              <a:srgbClr val="FF8A3D"/>
            </a:solidFill>
            <a:prstDash val="solid"/>
          </a:ln>
        </p:spPr>
      </p:sp>
      <p:sp>
        <p:nvSpPr>
          <p:cNvPr id="10" name="Text 7"/>
          <p:cNvSpPr txBox="1"/>
          <p:nvPr/>
        </p:nvSpPr>
        <p:spPr>
          <a:xfrm>
            <a:off x="3360420" y="2834640"/>
            <a:ext cx="2651760" cy="914400"/>
          </a:xfrm>
          <a:prstGeom prst="rect">
            <a:avLst/>
          </a:prstGeom>
          <a:noFill/>
          <a:ln/>
        </p:spPr>
        <p:txBody>
          <a:bodyPr wrap="square" lIns="0" tIns="0" rIns="0" bIns="0" rtlCol="0" anchor="ctr"/>
          <a:lstStyle/>
          <a:p>
            <a:pPr algn="ctr" indent="0" marL="0">
              <a:buNone/>
            </a:pPr>
            <a:r>
              <a:rPr lang="en-US" sz="2000" b="1" dirty="0">
                <a:solidFill>
                  <a:srgbClr val="0A101D"/>
                </a:solidFill>
                <a:latin typeface="Calibri" pitchFamily="34" charset="0"/>
                <a:ea typeface="Calibri" pitchFamily="34" charset="-122"/>
                <a:cs typeface="Calibri" pitchFamily="34" charset="-120"/>
              </a:rPr>
              <a:t>HIGH</a:t>
            </a:r>
            <a:endParaRPr lang="en-US" sz="2000" dirty="0"/>
          </a:p>
          <a:p>
            <a:pPr algn="ctr" indent="0" marL="0">
              <a:buNone/>
            </a:pPr>
            <a:r>
              <a:rPr lang="en-US" sz="1400" dirty="0">
                <a:solidFill>
                  <a:srgbClr val="0A101D"/>
                </a:solidFill>
                <a:latin typeface="Calibri" pitchFamily="34" charset="0"/>
                <a:ea typeface="Calibri" pitchFamily="34" charset="-122"/>
                <a:cs typeface="Calibri" pitchFamily="34" charset="-120"/>
              </a:rPr>
              <a:t>score 50 - 70</a:t>
            </a:r>
            <a:endParaRPr lang="en-US" sz="2000" dirty="0"/>
          </a:p>
        </p:txBody>
      </p:sp>
      <p:sp>
        <p:nvSpPr>
          <p:cNvPr id="11" name="band"/>
          <p:cNvSpPr/>
          <p:nvPr/>
        </p:nvSpPr>
        <p:spPr>
          <a:xfrm>
            <a:off x="6172200" y="2834640"/>
            <a:ext cx="2651760" cy="914400"/>
          </a:xfrm>
          <a:prstGeom prst="roundRect">
            <a:avLst>
              <a:gd name="adj" fmla="val 10000"/>
            </a:avLst>
          </a:prstGeom>
          <a:solidFill>
            <a:srgbClr val="FFD23F"/>
          </a:solidFill>
          <a:ln w="12700">
            <a:solidFill>
              <a:srgbClr val="FFD23F"/>
            </a:solidFill>
            <a:prstDash val="solid"/>
          </a:ln>
        </p:spPr>
      </p:sp>
      <p:sp>
        <p:nvSpPr>
          <p:cNvPr id="12" name="Text 9"/>
          <p:cNvSpPr txBox="1"/>
          <p:nvPr/>
        </p:nvSpPr>
        <p:spPr>
          <a:xfrm>
            <a:off x="6172200" y="2834640"/>
            <a:ext cx="2651760" cy="914400"/>
          </a:xfrm>
          <a:prstGeom prst="rect">
            <a:avLst/>
          </a:prstGeom>
          <a:noFill/>
          <a:ln/>
        </p:spPr>
        <p:txBody>
          <a:bodyPr wrap="square" lIns="0" tIns="0" rIns="0" bIns="0" rtlCol="0" anchor="ctr"/>
          <a:lstStyle/>
          <a:p>
            <a:pPr algn="ctr" indent="0" marL="0">
              <a:buNone/>
            </a:pPr>
            <a:r>
              <a:rPr lang="en-US" sz="2000" b="1" dirty="0">
                <a:solidFill>
                  <a:srgbClr val="0A101D"/>
                </a:solidFill>
                <a:latin typeface="Calibri" pitchFamily="34" charset="0"/>
                <a:ea typeface="Calibri" pitchFamily="34" charset="-122"/>
                <a:cs typeface="Calibri" pitchFamily="34" charset="-120"/>
              </a:rPr>
              <a:t>ELEVATED</a:t>
            </a:r>
            <a:endParaRPr lang="en-US" sz="2000" dirty="0"/>
          </a:p>
          <a:p>
            <a:pPr algn="ctr" indent="0" marL="0">
              <a:buNone/>
            </a:pPr>
            <a:r>
              <a:rPr lang="en-US" sz="1400" dirty="0">
                <a:solidFill>
                  <a:srgbClr val="0A101D"/>
                </a:solidFill>
                <a:latin typeface="Calibri" pitchFamily="34" charset="0"/>
                <a:ea typeface="Calibri" pitchFamily="34" charset="-122"/>
                <a:cs typeface="Calibri" pitchFamily="34" charset="-120"/>
              </a:rPr>
              <a:t>score 30 - 50</a:t>
            </a:r>
            <a:endParaRPr lang="en-US" sz="2000" dirty="0"/>
          </a:p>
        </p:txBody>
      </p:sp>
      <p:sp>
        <p:nvSpPr>
          <p:cNvPr id="13" name="band"/>
          <p:cNvSpPr/>
          <p:nvPr/>
        </p:nvSpPr>
        <p:spPr>
          <a:xfrm>
            <a:off x="8983980" y="2834640"/>
            <a:ext cx="2651760" cy="914400"/>
          </a:xfrm>
          <a:prstGeom prst="roundRect">
            <a:avLst>
              <a:gd name="adj" fmla="val 10000"/>
            </a:avLst>
          </a:prstGeom>
          <a:solidFill>
            <a:srgbClr val="3DDC97"/>
          </a:solidFill>
          <a:ln w="12700">
            <a:solidFill>
              <a:srgbClr val="3DDC97"/>
            </a:solidFill>
            <a:prstDash val="solid"/>
          </a:ln>
        </p:spPr>
      </p:sp>
      <p:sp>
        <p:nvSpPr>
          <p:cNvPr id="14" name="Text 11"/>
          <p:cNvSpPr txBox="1"/>
          <p:nvPr/>
        </p:nvSpPr>
        <p:spPr>
          <a:xfrm>
            <a:off x="8983980" y="2834640"/>
            <a:ext cx="2651760" cy="914400"/>
          </a:xfrm>
          <a:prstGeom prst="rect">
            <a:avLst/>
          </a:prstGeom>
          <a:noFill/>
          <a:ln/>
        </p:spPr>
        <p:txBody>
          <a:bodyPr wrap="square" lIns="0" tIns="0" rIns="0" bIns="0" rtlCol="0" anchor="ctr"/>
          <a:lstStyle/>
          <a:p>
            <a:pPr algn="ctr" indent="0" marL="0">
              <a:buNone/>
            </a:pPr>
            <a:r>
              <a:rPr lang="en-US" sz="2000" b="1" dirty="0">
                <a:solidFill>
                  <a:srgbClr val="0A101D"/>
                </a:solidFill>
                <a:latin typeface="Calibri" pitchFamily="34" charset="0"/>
                <a:ea typeface="Calibri" pitchFamily="34" charset="-122"/>
                <a:cs typeface="Calibri" pitchFamily="34" charset="-120"/>
              </a:rPr>
              <a:t>NORMAL</a:t>
            </a:r>
            <a:endParaRPr lang="en-US" sz="2000" dirty="0"/>
          </a:p>
          <a:p>
            <a:pPr algn="ctr" indent="0" marL="0">
              <a:buNone/>
            </a:pPr>
            <a:r>
              <a:rPr lang="en-US" sz="1400" dirty="0">
                <a:solidFill>
                  <a:srgbClr val="0A101D"/>
                </a:solidFill>
                <a:latin typeface="Calibri" pitchFamily="34" charset="0"/>
                <a:ea typeface="Calibri" pitchFamily="34" charset="-122"/>
                <a:cs typeface="Calibri" pitchFamily="34" charset="-120"/>
              </a:rPr>
              <a:t>score &lt; 30</a:t>
            </a:r>
            <a:endParaRPr lang="en-US" sz="2000" dirty="0"/>
          </a:p>
        </p:txBody>
      </p:sp>
      <p:sp>
        <p:nvSpPr>
          <p:cNvPr id="15" name="card"/>
          <p:cNvSpPr/>
          <p:nvPr/>
        </p:nvSpPr>
        <p:spPr>
          <a:xfrm>
            <a:off x="548640" y="4023360"/>
            <a:ext cx="5394960" cy="2103120"/>
          </a:xfrm>
          <a:prstGeom prst="roundRect">
            <a:avLst>
              <a:gd name="adj" fmla="val 4348"/>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6" name="Text 13"/>
          <p:cNvSpPr txBox="1"/>
          <p:nvPr/>
        </p:nvSpPr>
        <p:spPr>
          <a:xfrm>
            <a:off x="777240" y="4114800"/>
            <a:ext cx="493776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Anomaly flag</a:t>
            </a:r>
            <a:endParaRPr lang="en-US" sz="1800" dirty="0"/>
          </a:p>
        </p:txBody>
      </p:sp>
      <p:sp>
        <p:nvSpPr>
          <p:cNvPr id="17" name="Text 14"/>
          <p:cNvSpPr txBox="1"/>
          <p:nvPr/>
        </p:nvSpPr>
        <p:spPr>
          <a:xfrm>
            <a:off x="777240" y="4572000"/>
            <a:ext cx="4937760" cy="146304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Rainfall z ≥ 3σ above the gauge's normal</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River-level z ≥ 3σ above its mean</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River rising ≥ 0.25 m per hour</a:t>
            </a:r>
            <a:endParaRPr lang="en-US" sz="1500" dirty="0"/>
          </a:p>
        </p:txBody>
      </p:sp>
      <p:sp>
        <p:nvSpPr>
          <p:cNvPr id="18" name="card"/>
          <p:cNvSpPr/>
          <p:nvPr/>
        </p:nvSpPr>
        <p:spPr>
          <a:xfrm>
            <a:off x="6217920" y="4023360"/>
            <a:ext cx="5394960" cy="2103120"/>
          </a:xfrm>
          <a:prstGeom prst="roundRect">
            <a:avLst>
              <a:gd name="adj" fmla="val 4348"/>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9" name="Text 16"/>
          <p:cNvSpPr txBox="1"/>
          <p:nvPr/>
        </p:nvSpPr>
        <p:spPr>
          <a:xfrm>
            <a:off x="6446520" y="4114800"/>
            <a:ext cx="493776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Pipeline stages (one query)</a:t>
            </a:r>
            <a:endParaRPr lang="en-US" sz="1800" dirty="0"/>
          </a:p>
        </p:txBody>
      </p:sp>
      <p:sp>
        <p:nvSpPr>
          <p:cNvPr id="20" name="Text 17"/>
          <p:cNvSpPr txBox="1"/>
          <p:nvPr/>
        </p:nvSpPr>
        <p:spPr>
          <a:xfrm>
            <a:off x="6446520" y="4572000"/>
            <a:ext cx="4937760" cy="1371600"/>
          </a:xfrm>
          <a:prstGeom prst="rect">
            <a:avLst/>
          </a:prstGeom>
          <a:noFill/>
          <a:ln/>
        </p:spPr>
        <p:txBody>
          <a:bodyPr wrap="square" lIns="0" tIns="0" rIns="0" bIns="0" rtlCol="0" anchor="t"/>
          <a:lstStyle/>
          <a:p>
            <a:pPr indent="0" marL="0">
              <a:buNone/>
            </a:pPr>
            <a:r>
              <a:rPr lang="en-US" sz="1400" dirty="0">
                <a:solidFill>
                  <a:srgbClr val="3CC8FF"/>
                </a:solidFill>
                <a:latin typeface="Courier New" pitchFamily="34" charset="0"/>
                <a:ea typeface="Courier New" pitchFamily="34" charset="-122"/>
                <a:cs typeface="Courier New" pitchFamily="34" charset="-120"/>
              </a:rPr>
              <a:t>$match → $group → $lookup(river window)</a:t>
            </a:r>
            <a:endParaRPr lang="en-US" sz="1400" dirty="0"/>
          </a:p>
          <a:p>
            <a:pPr indent="0" marL="0">
              <a:buNone/>
            </a:pPr>
            <a:r>
              <a:rPr lang="en-US" sz="1400" dirty="0">
                <a:solidFill>
                  <a:srgbClr val="3CC8FF"/>
                </a:solidFill>
                <a:latin typeface="Courier New" pitchFamily="34" charset="0"/>
                <a:ea typeface="Courier New" pitchFamily="34" charset="-122"/>
                <a:cs typeface="Courier New" pitchFamily="34" charset="-120"/>
              </a:rPr>
              <a:t>→ $lookup(baseline) → $lookup(station)</a:t>
            </a:r>
            <a:endParaRPr lang="en-US" sz="1400" dirty="0"/>
          </a:p>
          <a:p>
            <a:pPr indent="0" marL="0">
              <a:buNone/>
            </a:pPr>
            <a:r>
              <a:rPr lang="en-US" sz="1400" dirty="0">
                <a:solidFill>
                  <a:srgbClr val="3CC8FF"/>
                </a:solidFill>
                <a:latin typeface="Courier New" pitchFamily="34" charset="0"/>
                <a:ea typeface="Courier New" pitchFamily="34" charset="-122"/>
                <a:cs typeface="Courier New" pitchFamily="34" charset="-120"/>
              </a:rPr>
              <a:t>→ $set(z-scores, score, severity) → $sort</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Live demo: interactive risk map and heatmap</a:t>
            </a:r>
            <a:endParaRPr lang="en-US" dirty="0"/>
          </a:p>
        </p:txBody>
      </p:sp>
      <p:sp>
        <p:nvSpPr>
          <p:cNvPr id="4" name="Text 1"/>
          <p:cNvSpPr txBox="1"/>
          <p:nvPr/>
        </p:nvSpPr>
        <p:spPr>
          <a:xfrm>
            <a:off x="548640" y="1417320"/>
            <a:ext cx="3566160" cy="4572000"/>
          </a:xfrm>
          <a:prstGeom prst="rect">
            <a:avLst/>
          </a:prstGeom>
          <a:noFill/>
          <a:ln/>
        </p:spPr>
        <p:txBody>
          <a:bodyPr wrap="square" lIns="0" tIns="0" rIns="0" bIns="0" rtlCol="0" anchor="t"/>
          <a:lstStyle/>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Hover for rainfall, river level and risk status</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Click a gauge for full statistics</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Zones coloured by worst gauge inside</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Heatmap shows risk intensity across regions</a:t>
            </a:r>
            <a:endParaRPr lang="en-US" sz="1600" dirty="0"/>
          </a:p>
          <a:p>
            <a:pPr marL="228600" indent="-228600">
              <a:spcAft>
                <a:spcPts val="1000"/>
              </a:spcAft>
              <a:buSzPct val="100000"/>
              <a:buChar char="•"/>
            </a:pPr>
            <a:r>
              <a:rPr lang="en-US" sz="1600" dirty="0">
                <a:solidFill>
                  <a:srgbClr val="E8EEFB"/>
                </a:solidFill>
                <a:latin typeface="Calibri" pitchFamily="34" charset="0"/>
                <a:ea typeface="Calibri" pitchFamily="34" charset="-122"/>
                <a:cs typeface="Calibri" pitchFamily="34" charset="-120"/>
              </a:rPr>
              <a:t>Filter by severity, continent or name</a:t>
            </a:r>
            <a:endParaRPr lang="en-US" sz="1600" dirty="0"/>
          </a:p>
        </p:txBody>
      </p:sp>
      <p:sp>
        <p:nvSpPr>
          <p:cNvPr id="5" name="frame"/>
          <p:cNvSpPr/>
          <p:nvPr/>
        </p:nvSpPr>
        <p:spPr>
          <a:xfrm>
            <a:off x="4334256" y="1316736"/>
            <a:ext cx="7333488" cy="4173093"/>
          </a:xfrm>
          <a:prstGeom prst="roundRect">
            <a:avLst>
              <a:gd name="adj" fmla="val 1315"/>
            </a:avLst>
          </a:prstGeom>
          <a:solidFill>
            <a:srgbClr val="111B2F"/>
          </a:solidFill>
          <a:ln w="12700">
            <a:solidFill>
              <a:srgbClr val="22314F"/>
            </a:solidFill>
            <a:prstDash val="solid"/>
          </a:ln>
          <a:effectLst>
            <a:outerShdw sx="100000" sy="100000" kx="0" ky="0" algn="bl" rotWithShape="0" blurRad="152400" dist="38100" dir="5400000">
              <a:srgbClr val="000000">
                <a:alpha val="35000"/>
              </a:srgbClr>
            </a:outerShdw>
          </a:effectLst>
        </p:spPr>
      </p:sp>
      <p:pic>
        <p:nvPicPr>
          <p:cNvPr id="6" name="screenshot" descr="DRISHTI dashboard screenshot">    </p:cNvPr>
          <p:cNvPicPr>
            <a:picLocks noChangeAspect="1"/>
          </p:cNvPicPr>
          <p:nvPr/>
        </p:nvPicPr>
        <p:blipFill>
          <a:blip r:embed="rId1"/>
          <a:stretch>
            <a:fillRect/>
          </a:stretch>
        </p:blipFill>
        <p:spPr>
          <a:xfrm>
            <a:off x="4389120" y="1371600"/>
            <a:ext cx="7223760" cy="4063365"/>
          </a:xfrm>
          <a:prstGeom prst="rect">
            <a:avLst/>
          </a:prstGeom>
        </p:spPr>
      </p:pic>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Station drill-down: from alert to evidence</a:t>
            </a:r>
            <a:endParaRPr lang="en-US" dirty="0"/>
          </a:p>
        </p:txBody>
      </p:sp>
      <p:sp>
        <p:nvSpPr>
          <p:cNvPr id="4" name="frame"/>
          <p:cNvSpPr/>
          <p:nvPr/>
        </p:nvSpPr>
        <p:spPr>
          <a:xfrm>
            <a:off x="493776" y="1316736"/>
            <a:ext cx="7333488" cy="4624578"/>
          </a:xfrm>
          <a:prstGeom prst="roundRect">
            <a:avLst>
              <a:gd name="adj" fmla="val 1186"/>
            </a:avLst>
          </a:prstGeom>
          <a:solidFill>
            <a:srgbClr val="111B2F"/>
          </a:solidFill>
          <a:ln w="12700">
            <a:solidFill>
              <a:srgbClr val="22314F"/>
            </a:solidFill>
            <a:prstDash val="solid"/>
          </a:ln>
          <a:effectLst>
            <a:outerShdw sx="100000" sy="100000" kx="0" ky="0" algn="bl" rotWithShape="0" blurRad="152400" dist="38100" dir="5400000">
              <a:srgbClr val="000000">
                <a:alpha val="35000"/>
              </a:srgbClr>
            </a:outerShdw>
          </a:effectLst>
        </p:spPr>
      </p:sp>
      <p:pic>
        <p:nvPicPr>
          <p:cNvPr id="5" name="screenshot" descr="DRISHTI dashboard screenshot">    </p:cNvPr>
          <p:cNvPicPr>
            <a:picLocks noChangeAspect="1"/>
          </p:cNvPicPr>
          <p:nvPr/>
        </p:nvPicPr>
        <p:blipFill>
          <a:blip r:embed="rId1"/>
          <a:stretch>
            <a:fillRect/>
          </a:stretch>
        </p:blipFill>
        <p:spPr>
          <a:xfrm>
            <a:off x="548640" y="1371600"/>
            <a:ext cx="7223760" cy="4514850"/>
          </a:xfrm>
          <a:prstGeom prst="rect">
            <a:avLst/>
          </a:prstGeom>
        </p:spPr>
      </p:pic>
      <p:sp>
        <p:nvSpPr>
          <p:cNvPr id="6" name="card"/>
          <p:cNvSpPr/>
          <p:nvPr/>
        </p:nvSpPr>
        <p:spPr>
          <a:xfrm>
            <a:off x="8092440" y="1371600"/>
            <a:ext cx="3520440" cy="1737360"/>
          </a:xfrm>
          <a:prstGeom prst="roundRect">
            <a:avLst>
              <a:gd name="adj" fmla="val 5263"/>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7" name="dot"/>
          <p:cNvSpPr/>
          <p:nvPr/>
        </p:nvSpPr>
        <p:spPr>
          <a:xfrm>
            <a:off x="8321040" y="1600200"/>
            <a:ext cx="201168" cy="201168"/>
          </a:xfrm>
          <a:prstGeom prst="ellipse">
            <a:avLst/>
          </a:prstGeom>
          <a:solidFill>
            <a:srgbClr val="FF3B5C"/>
          </a:solidFill>
          <a:ln w="12700">
            <a:solidFill>
              <a:srgbClr val="FF3B5C"/>
            </a:solidFill>
            <a:prstDash val="solid"/>
          </a:ln>
        </p:spPr>
      </p:sp>
      <p:sp>
        <p:nvSpPr>
          <p:cNvPr id="8" name="Text 4"/>
          <p:cNvSpPr txBox="1"/>
          <p:nvPr/>
        </p:nvSpPr>
        <p:spPr>
          <a:xfrm>
            <a:off x="8641080" y="1517904"/>
            <a:ext cx="278892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Why this gauge?</a:t>
            </a:r>
            <a:endParaRPr lang="en-US" sz="1800" dirty="0"/>
          </a:p>
        </p:txBody>
      </p:sp>
      <p:sp>
        <p:nvSpPr>
          <p:cNvPr id="9" name="Text 5"/>
          <p:cNvSpPr txBox="1"/>
          <p:nvPr/>
        </p:nvSpPr>
        <p:spPr>
          <a:xfrm>
            <a:off x="8321040" y="1965960"/>
            <a:ext cx="3063240" cy="1005840"/>
          </a:xfrm>
          <a:prstGeom prst="rect">
            <a:avLst/>
          </a:prstGeom>
          <a:noFill/>
          <a:ln/>
        </p:spPr>
        <p:txBody>
          <a:bodyPr wrap="square" lIns="0" tIns="0" rIns="0" bIns="0" rtlCol="0" anchor="t"/>
          <a:lstStyle/>
          <a:p>
            <a:pPr indent="0" marL="0">
              <a:spcAft>
                <a:spcPts val="400"/>
              </a:spcAft>
              <a:buNone/>
            </a:pPr>
            <a:r>
              <a:rPr lang="en-US" sz="1400" dirty="0">
                <a:solidFill>
                  <a:srgbClr val="8DA0C2"/>
                </a:solidFill>
                <a:latin typeface="Calibri" pitchFamily="34" charset="0"/>
                <a:ea typeface="Calibri" pitchFamily="34" charset="-122"/>
                <a:cs typeface="Calibri" pitchFamily="34" charset="-120"/>
              </a:rPr>
              <a:t>Plain-language reasons: % of danger level, rise rate, rainfall σ.</a:t>
            </a:r>
            <a:endParaRPr lang="en-US" sz="1400" dirty="0"/>
          </a:p>
        </p:txBody>
      </p:sp>
      <p:sp>
        <p:nvSpPr>
          <p:cNvPr id="10" name="card"/>
          <p:cNvSpPr/>
          <p:nvPr/>
        </p:nvSpPr>
        <p:spPr>
          <a:xfrm>
            <a:off x="8092440" y="3291840"/>
            <a:ext cx="3520440" cy="1737360"/>
          </a:xfrm>
          <a:prstGeom prst="roundRect">
            <a:avLst>
              <a:gd name="adj" fmla="val 5263"/>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1" name="dot"/>
          <p:cNvSpPr/>
          <p:nvPr/>
        </p:nvSpPr>
        <p:spPr>
          <a:xfrm>
            <a:off x="8321040" y="3520440"/>
            <a:ext cx="201168" cy="201168"/>
          </a:xfrm>
          <a:prstGeom prst="ellipse">
            <a:avLst/>
          </a:prstGeom>
          <a:solidFill>
            <a:srgbClr val="3CC8FF"/>
          </a:solidFill>
          <a:ln w="12700">
            <a:solidFill>
              <a:srgbClr val="3CC8FF"/>
            </a:solidFill>
            <a:prstDash val="solid"/>
          </a:ln>
        </p:spPr>
      </p:sp>
      <p:sp>
        <p:nvSpPr>
          <p:cNvPr id="12" name="Text 8"/>
          <p:cNvSpPr txBox="1"/>
          <p:nvPr/>
        </p:nvSpPr>
        <p:spPr>
          <a:xfrm>
            <a:off x="8641080" y="3438144"/>
            <a:ext cx="2788920" cy="365760"/>
          </a:xfrm>
          <a:prstGeom prst="rect">
            <a:avLst/>
          </a:prstGeom>
          <a:noFill/>
          <a:ln/>
        </p:spPr>
        <p:txBody>
          <a:bodyPr wrap="square" lIns="0" tIns="0" rIns="0" bIns="0" rtlCol="0" anchor="ctr"/>
          <a:lstStyle/>
          <a:p>
            <a:pPr indent="0" marL="0">
              <a:buNone/>
            </a:pPr>
            <a:r>
              <a:rPr lang="en-US" sz="1800" b="1" dirty="0">
                <a:solidFill>
                  <a:srgbClr val="E8EEFB"/>
                </a:solidFill>
                <a:latin typeface="Calibri" pitchFamily="34" charset="0"/>
                <a:ea typeface="Calibri" pitchFamily="34" charset="-122"/>
                <a:cs typeface="Calibri" pitchFamily="34" charset="-120"/>
              </a:rPr>
              <a:t>Hydrograph</a:t>
            </a:r>
            <a:endParaRPr lang="en-US" sz="1800" dirty="0"/>
          </a:p>
        </p:txBody>
      </p:sp>
      <p:sp>
        <p:nvSpPr>
          <p:cNvPr id="13" name="Text 9"/>
          <p:cNvSpPr txBox="1"/>
          <p:nvPr/>
        </p:nvSpPr>
        <p:spPr>
          <a:xfrm>
            <a:off x="8321040" y="3886200"/>
            <a:ext cx="3063240" cy="1005840"/>
          </a:xfrm>
          <a:prstGeom prst="rect">
            <a:avLst/>
          </a:prstGeom>
          <a:noFill/>
          <a:ln/>
        </p:spPr>
        <p:txBody>
          <a:bodyPr wrap="square" lIns="0" tIns="0" rIns="0" bIns="0" rtlCol="0" anchor="t"/>
          <a:lstStyle/>
          <a:p>
            <a:pPr indent="0" marL="0">
              <a:spcAft>
                <a:spcPts val="400"/>
              </a:spcAft>
              <a:buNone/>
            </a:pPr>
            <a:r>
              <a:rPr lang="en-US" sz="1400" dirty="0">
                <a:solidFill>
                  <a:srgbClr val="8DA0C2"/>
                </a:solidFill>
                <a:latin typeface="Calibri" pitchFamily="34" charset="0"/>
                <a:ea typeface="Calibri" pitchFamily="34" charset="-122"/>
                <a:cs typeface="Calibri" pitchFamily="34" charset="-120"/>
              </a:rPr>
              <a:t>Rainfall bars with river level against warning and danger thresholds.</a:t>
            </a:r>
            <a:endParaRPr lang="en-US" sz="1400" dirty="0"/>
          </a:p>
        </p:txBody>
      </p:sp>
      <p:sp>
        <p:nvSpPr>
          <p:cNvPr id="14" name="card"/>
          <p:cNvSpPr/>
          <p:nvPr/>
        </p:nvSpPr>
        <p:spPr>
          <a:xfrm>
            <a:off x="8092440" y="5212080"/>
            <a:ext cx="3520440" cy="1097280"/>
          </a:xfrm>
          <a:prstGeom prst="roundRect">
            <a:avLst>
              <a:gd name="adj" fmla="val 8333"/>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15" name="dot"/>
          <p:cNvSpPr/>
          <p:nvPr/>
        </p:nvSpPr>
        <p:spPr>
          <a:xfrm>
            <a:off x="8321040" y="5440680"/>
            <a:ext cx="201168" cy="201168"/>
          </a:xfrm>
          <a:prstGeom prst="ellipse">
            <a:avLst/>
          </a:prstGeom>
          <a:solidFill>
            <a:srgbClr val="B18CFF"/>
          </a:solidFill>
          <a:ln w="12700">
            <a:solidFill>
              <a:srgbClr val="B18CFF"/>
            </a:solidFill>
            <a:prstDash val="solid"/>
          </a:ln>
        </p:spPr>
      </p:sp>
      <p:sp>
        <p:nvSpPr>
          <p:cNvPr id="16" name="Text 12"/>
          <p:cNvSpPr txBox="1"/>
          <p:nvPr/>
        </p:nvSpPr>
        <p:spPr>
          <a:xfrm>
            <a:off x="8641080" y="5358384"/>
            <a:ext cx="2788920" cy="365760"/>
          </a:xfrm>
          <a:prstGeom prst="rect">
            <a:avLst/>
          </a:prstGeom>
          <a:noFill/>
          <a:ln/>
        </p:spPr>
        <p:txBody>
          <a:bodyPr wrap="square" lIns="0" tIns="0" rIns="0" bIns="0" rtlCol="0" anchor="ctr"/>
          <a:lstStyle/>
          <a:p>
            <a:pPr indent="0" marL="0">
              <a:buNone/>
            </a:pPr>
            <a:r>
              <a:rPr lang="en-US" sz="1600" b="1" dirty="0">
                <a:solidFill>
                  <a:srgbClr val="E8EEFB"/>
                </a:solidFill>
                <a:latin typeface="Calibri" pitchFamily="34" charset="0"/>
                <a:ea typeface="Calibri" pitchFamily="34" charset="-122"/>
                <a:cs typeface="Calibri" pitchFamily="34" charset="-120"/>
              </a:rPr>
              <a:t>Local history</a:t>
            </a:r>
            <a:endParaRPr lang="en-US" sz="1600" dirty="0"/>
          </a:p>
        </p:txBody>
      </p:sp>
      <p:sp>
        <p:nvSpPr>
          <p:cNvPr id="17" name="Text 13"/>
          <p:cNvSpPr txBox="1"/>
          <p:nvPr/>
        </p:nvSpPr>
        <p:spPr>
          <a:xfrm>
            <a:off x="8321040" y="5806440"/>
            <a:ext cx="3063240" cy="365760"/>
          </a:xfrm>
          <a:prstGeom prst="rect">
            <a:avLst/>
          </a:prstGeom>
          <a:noFill/>
          <a:ln/>
        </p:spPr>
        <p:txBody>
          <a:bodyPr wrap="square" lIns="0" tIns="0" rIns="0" bIns="0" rtlCol="0" anchor="t"/>
          <a:lstStyle/>
          <a:p>
            <a:pPr indent="0" marL="0">
              <a:spcAft>
                <a:spcPts val="400"/>
              </a:spcAft>
              <a:buNone/>
            </a:pPr>
            <a:r>
              <a:rPr lang="en-US" sz="1400" dirty="0">
                <a:solidFill>
                  <a:srgbClr val="8DA0C2"/>
                </a:solidFill>
                <a:latin typeface="Calibri" pitchFamily="34" charset="0"/>
                <a:ea typeface="Calibri" pitchFamily="34" charset="-122"/>
                <a:cs typeface="Calibri" pitchFamily="34" charset="-120"/>
              </a:rPr>
              <a:t>Past events within 250 km via $geoNear.</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Analytics: trends, rankings and anomalies</a:t>
            </a:r>
            <a:endParaRPr lang="en-US" dirty="0"/>
          </a:p>
        </p:txBody>
      </p:sp>
      <p:sp>
        <p:nvSpPr>
          <p:cNvPr id="4" name="frame"/>
          <p:cNvSpPr/>
          <p:nvPr/>
        </p:nvSpPr>
        <p:spPr>
          <a:xfrm>
            <a:off x="493776" y="1271016"/>
            <a:ext cx="7699248" cy="4616006"/>
          </a:xfrm>
          <a:prstGeom prst="roundRect">
            <a:avLst>
              <a:gd name="adj" fmla="val 1189"/>
            </a:avLst>
          </a:prstGeom>
          <a:solidFill>
            <a:srgbClr val="111B2F"/>
          </a:solidFill>
          <a:ln w="12700">
            <a:solidFill>
              <a:srgbClr val="22314F"/>
            </a:solidFill>
            <a:prstDash val="solid"/>
          </a:ln>
          <a:effectLst>
            <a:outerShdw sx="100000" sy="100000" kx="0" ky="0" algn="bl" rotWithShape="0" blurRad="152400" dist="38100" dir="5400000">
              <a:srgbClr val="000000">
                <a:alpha val="35000"/>
              </a:srgbClr>
            </a:outerShdw>
          </a:effectLst>
        </p:spPr>
      </p:sp>
      <p:pic>
        <p:nvPicPr>
          <p:cNvPr id="5" name="screenshot" descr="DRISHTI dashboard screenshot">    </p:cNvPr>
          <p:cNvPicPr>
            <a:picLocks noChangeAspect="1"/>
          </p:cNvPicPr>
          <p:nvPr/>
        </p:nvPicPr>
        <p:blipFill>
          <a:blip r:embed="rId1"/>
          <a:stretch>
            <a:fillRect/>
          </a:stretch>
        </p:blipFill>
        <p:spPr>
          <a:xfrm>
            <a:off x="548640" y="1325880"/>
            <a:ext cx="7589520" cy="4506278"/>
          </a:xfrm>
          <a:prstGeom prst="rect">
            <a:avLst/>
          </a:prstGeom>
        </p:spPr>
      </p:pic>
      <p:sp>
        <p:nvSpPr>
          <p:cNvPr id="6" name="Text 2"/>
          <p:cNvSpPr txBox="1"/>
          <p:nvPr/>
        </p:nvSpPr>
        <p:spPr>
          <a:xfrm>
            <a:off x="8458200" y="1417320"/>
            <a:ext cx="3200400" cy="411480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Hourly, daily and monthly trends by continent</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Regional risk ranking from latest snapshot</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Live anomaly table with z-scores and rise rate</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Historical events: year, type, season</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Pipeline Lab and situation reports</a:t>
            </a:r>
            <a:endParaRPr lang="en-US" dirty="0"/>
          </a:p>
        </p:txBody>
      </p:sp>
      <p:sp>
        <p:nvSpPr>
          <p:cNvPr id="4" name="frame"/>
          <p:cNvSpPr/>
          <p:nvPr/>
        </p:nvSpPr>
        <p:spPr>
          <a:xfrm>
            <a:off x="493776" y="1316736"/>
            <a:ext cx="5550408" cy="3170111"/>
          </a:xfrm>
          <a:prstGeom prst="roundRect">
            <a:avLst>
              <a:gd name="adj" fmla="val 1731"/>
            </a:avLst>
          </a:prstGeom>
          <a:solidFill>
            <a:srgbClr val="111B2F"/>
          </a:solidFill>
          <a:ln w="12700">
            <a:solidFill>
              <a:srgbClr val="22314F"/>
            </a:solidFill>
            <a:prstDash val="solid"/>
          </a:ln>
          <a:effectLst>
            <a:outerShdw sx="100000" sy="100000" kx="0" ky="0" algn="bl" rotWithShape="0" blurRad="152400" dist="38100" dir="5400000">
              <a:srgbClr val="000000">
                <a:alpha val="35000"/>
              </a:srgbClr>
            </a:outerShdw>
          </a:effectLst>
        </p:spPr>
      </p:sp>
      <p:pic>
        <p:nvPicPr>
          <p:cNvPr id="5" name="screenshot" descr="DRISHTI dashboard screenshot">    </p:cNvPr>
          <p:cNvPicPr>
            <a:picLocks noChangeAspect="1"/>
          </p:cNvPicPr>
          <p:nvPr/>
        </p:nvPicPr>
        <p:blipFill>
          <a:blip r:embed="rId1"/>
          <a:stretch>
            <a:fillRect/>
          </a:stretch>
        </p:blipFill>
        <p:spPr>
          <a:xfrm>
            <a:off x="548640" y="1371600"/>
            <a:ext cx="5440680" cy="3060383"/>
          </a:xfrm>
          <a:prstGeom prst="rect">
            <a:avLst/>
          </a:prstGeom>
        </p:spPr>
      </p:pic>
      <p:sp>
        <p:nvSpPr>
          <p:cNvPr id="6" name="frame"/>
          <p:cNvSpPr/>
          <p:nvPr/>
        </p:nvSpPr>
        <p:spPr>
          <a:xfrm>
            <a:off x="6163056" y="1316736"/>
            <a:ext cx="5550408" cy="3170111"/>
          </a:xfrm>
          <a:prstGeom prst="roundRect">
            <a:avLst>
              <a:gd name="adj" fmla="val 1731"/>
            </a:avLst>
          </a:prstGeom>
          <a:solidFill>
            <a:srgbClr val="111B2F"/>
          </a:solidFill>
          <a:ln w="12700">
            <a:solidFill>
              <a:srgbClr val="22314F"/>
            </a:solidFill>
            <a:prstDash val="solid"/>
          </a:ln>
          <a:effectLst>
            <a:outerShdw sx="100000" sy="100000" kx="0" ky="0" algn="bl" rotWithShape="0" blurRad="152400" dist="38100" dir="5400000">
              <a:srgbClr val="000000">
                <a:alpha val="35000"/>
              </a:srgbClr>
            </a:outerShdw>
          </a:effectLst>
        </p:spPr>
      </p:sp>
      <p:pic>
        <p:nvPicPr>
          <p:cNvPr id="7" name="screenshot" descr="DRISHTI dashboard screenshot">    </p:cNvPr>
          <p:cNvPicPr>
            <a:picLocks noChangeAspect="1"/>
          </p:cNvPicPr>
          <p:nvPr/>
        </p:nvPicPr>
        <p:blipFill>
          <a:blip r:embed="rId2"/>
          <a:stretch>
            <a:fillRect/>
          </a:stretch>
        </p:blipFill>
        <p:spPr>
          <a:xfrm>
            <a:off x="6217920" y="1371600"/>
            <a:ext cx="5440680" cy="3060383"/>
          </a:xfrm>
          <a:prstGeom prst="rect">
            <a:avLst/>
          </a:prstGeom>
        </p:spPr>
      </p:pic>
      <p:sp>
        <p:nvSpPr>
          <p:cNvPr id="8" name="Text 3"/>
          <p:cNvSpPr txBox="1"/>
          <p:nvPr/>
        </p:nvSpPr>
        <p:spPr>
          <a:xfrm>
            <a:off x="548640" y="4754880"/>
            <a:ext cx="5440680" cy="731520"/>
          </a:xfrm>
          <a:prstGeom prst="rect">
            <a:avLst/>
          </a:prstGeom>
          <a:noFill/>
          <a:ln/>
        </p:spPr>
        <p:txBody>
          <a:bodyPr wrap="square" lIns="0" tIns="0" rIns="0" bIns="0" rtlCol="0" anchor="t"/>
          <a:lstStyle/>
          <a:p>
            <a:pPr indent="0" marL="0">
              <a:buNone/>
            </a:pPr>
            <a:r>
              <a:rPr lang="en-US" sz="1600" b="1" dirty="0">
                <a:solidFill>
                  <a:srgbClr val="E8EEFB"/>
                </a:solidFill>
                <a:latin typeface="Calibri" pitchFamily="34" charset="0"/>
                <a:ea typeface="Calibri" pitchFamily="34" charset="-122"/>
                <a:cs typeface="Calibri" pitchFamily="34" charset="-120"/>
              </a:rPr>
              <a:t>Pipeline Lab: inspect and run every pipeline with timings</a:t>
            </a:r>
            <a:endParaRPr lang="en-US" sz="1600" dirty="0"/>
          </a:p>
        </p:txBody>
      </p:sp>
      <p:sp>
        <p:nvSpPr>
          <p:cNvPr id="9" name="Text 4"/>
          <p:cNvSpPr txBox="1"/>
          <p:nvPr/>
        </p:nvSpPr>
        <p:spPr>
          <a:xfrm>
            <a:off x="6217920" y="4754880"/>
            <a:ext cx="5440680" cy="731520"/>
          </a:xfrm>
          <a:prstGeom prst="rect">
            <a:avLst/>
          </a:prstGeom>
          <a:noFill/>
          <a:ln/>
        </p:spPr>
        <p:txBody>
          <a:bodyPr wrap="square" lIns="0" tIns="0" rIns="0" bIns="0" rtlCol="0" anchor="t"/>
          <a:lstStyle/>
          <a:p>
            <a:pPr indent="0" marL="0">
              <a:buNone/>
            </a:pPr>
            <a:r>
              <a:rPr lang="en-US" sz="1600" b="1" dirty="0">
                <a:solidFill>
                  <a:srgbClr val="E8EEFB"/>
                </a:solidFill>
                <a:latin typeface="Calibri" pitchFamily="34" charset="0"/>
                <a:ea typeface="Calibri" pitchFamily="34" charset="-122"/>
                <a:cs typeface="Calibri" pitchFamily="34" charset="-120"/>
              </a:rPr>
              <a:t>Situation report: severity summary, top gauges, regions of concern, recommended actions</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Project modules and how they were built</a:t>
            </a:r>
            <a:endParaRPr lang="en-US"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931920"/>
                <a:gridCol w="7132320"/>
              </a:tblGrid>
              <a:tr h="566928">
                <a:tc>
                  <a:txBody>
                    <a:bodyPr/>
                    <a:lstStyle/>
                    <a:p>
                      <a:pPr indent="0" marL="0">
                        <a:buNone/>
                      </a:pPr>
                      <a:r>
                        <a:rPr lang="en-US" sz="1400" b="1" dirty="0">
                          <a:solidFill>
                            <a:srgbClr val="3CC8FF"/>
                          </a:solidFill>
                          <a:latin typeface="Calibri" pitchFamily="34" charset="0"/>
                          <a:ea typeface="Calibri" pitchFamily="34" charset="-122"/>
                          <a:cs typeface="Calibri" pitchFamily="34" charset="-120"/>
                        </a:rPr>
                        <a:t>Synopsis module</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6223A"/>
                    </a:solidFill>
                  </a:tcPr>
                </a:tc>
                <a:tc>
                  <a:txBody>
                    <a:bodyPr/>
                    <a:lstStyle/>
                    <a:p>
                      <a:pPr indent="0" marL="0">
                        <a:buNone/>
                      </a:pPr>
                      <a:r>
                        <a:rPr lang="en-US" sz="1400" b="1" dirty="0">
                          <a:solidFill>
                            <a:srgbClr val="3CC8FF"/>
                          </a:solidFill>
                          <a:latin typeface="Calibri" pitchFamily="34" charset="0"/>
                          <a:ea typeface="Calibri" pitchFamily="34" charset="-122"/>
                          <a:cs typeface="Calibri" pitchFamily="34" charset="-120"/>
                        </a:rPr>
                        <a:t>Implementation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6223A"/>
                    </a:solidFill>
                  </a:tcPr>
                </a:tc>
              </a:tr>
              <a:tr h="566928">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6.1 Data collection &amp; preprocessing</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Seeder + simulator generate and validate station, rainfall, river and weather records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566928">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6.2 MongoDB data storage</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Time-series and standard collections with 2dsphere indexes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566928">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6.3 Processing &amp; aggregation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Pipelines for totals, trends, rankings, rate of change, baselines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566928">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6.4 Risk zone &amp; anomaly detection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Risk score, severity bands, z-score and rise-rate anomaly flags, alerts</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566928">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6.5 Interactive map &amp; dashboard</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React-Leaflet map, heatmap, KPI cards, Recharts, station drill-down</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r h="566928">
                <a:tc>
                  <a:txBody>
                    <a:bodyPr/>
                    <a:lstStyle/>
                    <a:p>
                      <a:pPr indent="0" marL="0">
                        <a:buNone/>
                      </a:pPr>
                      <a:r>
                        <a:rPr lang="en-US" sz="1400" b="1" dirty="0">
                          <a:solidFill>
                            <a:srgbClr val="E8EEFB"/>
                          </a:solidFill>
                          <a:latin typeface="Calibri" pitchFamily="34" charset="0"/>
                          <a:ea typeface="Calibri" pitchFamily="34" charset="-122"/>
                          <a:cs typeface="Calibri" pitchFamily="34" charset="-120"/>
                        </a:rPr>
                        <a:t>6.6 Analytics &amp; reporting</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c>
                  <a:txBody>
                    <a:bodyPr/>
                    <a:lstStyle/>
                    <a:p>
                      <a:pPr indent="0" marL="0">
                        <a:buNone/>
                      </a:pPr>
                      <a:r>
                        <a:rPr lang="en-US" sz="1400" dirty="0">
                          <a:solidFill>
                            <a:srgbClr val="E8EEFB"/>
                          </a:solidFill>
                          <a:latin typeface="Calibri" pitchFamily="34" charset="0"/>
                          <a:ea typeface="Calibri" pitchFamily="34" charset="-122"/>
                          <a:cs typeface="Calibri" pitchFamily="34" charset="-120"/>
                        </a:rPr>
                        <a:t>Analytics page, stored situation reports, printable PDF view</a:t>
                      </a:r>
                      <a:endParaRPr lang="en-US" sz="1400" dirty="0">
                        <a:latin typeface="Calibri" charset="0"/>
                        <a:ea typeface="Calibri" charset="0"/>
                        <a:cs typeface="Calibri" charset="0"/>
                      </a:endParaRPr>
                    </a:p>
                  </a:txBody>
                  <a:tcPr marL="109728" marR="109728" marT="0" marB="0" anchor="ctr">
                    <a:lnL w="9525" cap="flat" cmpd="sng" algn="ctr">
                      <a:solidFill>
                        <a:srgbClr val="22314F"/>
                      </a:solidFill>
                      <a:prstDash val="solid"/>
                      <a:round/>
                      <a:headEnd type="none" w="med" len="med"/>
                      <a:tailEnd type="none" w="med" len="med"/>
                    </a:lnL>
                    <a:lnR w="9525" cap="flat" cmpd="sng" algn="ctr">
                      <a:solidFill>
                        <a:srgbClr val="22314F"/>
                      </a:solidFill>
                      <a:prstDash val="solid"/>
                      <a:round/>
                      <a:headEnd type="none" w="med" len="med"/>
                      <a:tailEnd type="none" w="med" len="med"/>
                    </a:lnR>
                    <a:lnT w="9525" cap="flat" cmpd="sng" algn="ctr">
                      <a:solidFill>
                        <a:srgbClr val="22314F"/>
                      </a:solidFill>
                      <a:prstDash val="solid"/>
                      <a:round/>
                      <a:headEnd type="none" w="med" len="med"/>
                      <a:tailEnd type="none" w="med" len="med"/>
                    </a:lnT>
                    <a:lnB w="9525" cap="flat" cmpd="sng" algn="ctr">
                      <a:solidFill>
                        <a:srgbClr val="22314F"/>
                      </a:solidFill>
                      <a:prstDash val="solid"/>
                      <a:round/>
                      <a:headEnd type="none" w="med" len="med"/>
                      <a:tailEnd type="none" w="med" len="med"/>
                    </a:lnB>
                    <a:solidFill>
                      <a:srgbClr val="111B2F"/>
                    </a:solidFill>
                  </a:tcPr>
                </a:tc>
              </a:tr>
            </a:tbl>
          </a:graphicData>
        </a:graphic>
      </p:graphicFrame>
      <p:sp>
        <p:nvSpPr>
          <p:cNvPr id="5" name="Text 1"/>
          <p:cNvSpPr txBox="1"/>
          <p:nvPr/>
        </p:nvSpPr>
        <p:spPr>
          <a:xfrm>
            <a:off x="548640" y="5669280"/>
            <a:ext cx="11064240" cy="365760"/>
          </a:xfrm>
          <a:prstGeom prst="rect">
            <a:avLst/>
          </a:prstGeom>
          <a:noFill/>
          <a:ln/>
        </p:spPr>
        <p:txBody>
          <a:bodyPr wrap="square" lIns="0" tIns="0" rIns="0" bIns="0" rtlCol="0" anchor="ctr"/>
          <a:lstStyle/>
          <a:p>
            <a:pPr indent="0" marL="0">
              <a:buNone/>
            </a:pPr>
            <a:r>
              <a:rPr lang="en-US" sz="1600" dirty="0">
                <a:solidFill>
                  <a:srgbClr val="8DA0C2"/>
                </a:solidFill>
                <a:latin typeface="Calibri" pitchFamily="34" charset="0"/>
                <a:ea typeface="Calibri" pitchFamily="34" charset="-122"/>
                <a:cs typeface="Calibri" pitchFamily="34" charset="-120"/>
              </a:rPr>
              <a:t>Stack: React 19 + Vite · Recharts · React-Leaflet · Node.js + Express · MongoDB 7</a:t>
            </a:r>
            <a:endParaRPr lang="en-US" sz="16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Historical disaster patterns</a:t>
            </a:r>
            <a:endParaRPr lang="en-US" dirty="0"/>
          </a:p>
        </p:txBody>
      </p:sp>
      <p:graphicFrame>
        <p:nvGraphicFramePr>
          <p:cNvPr id="4" name="Chart 0" descr=""/>
          <p:cNvGraphicFramePr/>
          <p:nvPr/>
        </p:nvGraphicFramePr>
        <p:xfrm>
          <a:off x="548640" y="1371600"/>
          <a:ext cx="5486400" cy="438912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217920" y="1371600"/>
          <a:ext cx="5394960" cy="4389120"/>
        </p:xfrm>
        <a:graphic xmlns:a="http://schemas.openxmlformats.org/drawingml/2006/main">
          <a:graphicData uri="http://schemas.openxmlformats.org/drawingml/2006/chart">
            <c:chart xmlns:c="http://schemas.openxmlformats.org/drawingml/2006/chart" r:id="rId2"/>
          </a:graphicData>
        </a:graphic>
      </p:graphicFrame>
      <p:sp>
        <p:nvSpPr>
          <p:cNvPr id="6" name="Text 1"/>
          <p:cNvSpPr txBox="1"/>
          <p:nvPr/>
        </p:nvSpPr>
        <p:spPr>
          <a:xfrm>
            <a:off x="548640" y="5943600"/>
            <a:ext cx="11064240" cy="365760"/>
          </a:xfrm>
          <a:prstGeom prst="rect">
            <a:avLst/>
          </a:prstGeom>
          <a:noFill/>
          <a:ln/>
        </p:spPr>
        <p:txBody>
          <a:bodyPr wrap="square" lIns="0" tIns="0" rIns="0" bIns="0" rtlCol="0" anchor="ctr"/>
          <a:lstStyle/>
          <a:p>
            <a:pPr indent="0" marL="0">
              <a:buNone/>
            </a:pPr>
            <a:r>
              <a:rPr lang="en-US" sz="1400" dirty="0">
                <a:solidFill>
                  <a:srgbClr val="8DA0C2"/>
                </a:solidFill>
                <a:latin typeface="Calibri" pitchFamily="34" charset="0"/>
                <a:ea typeface="Calibri" pitchFamily="34" charset="-122"/>
                <a:cs typeface="Calibri" pitchFamily="34" charset="-120"/>
              </a:rPr>
              <a:t>900 events · 150,969 lives lost · 509 M people affected · computed in 42 ms with one $facet pass (synthetic data)</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0" y="0"/>
            <a:ext cx="9144000" cy="0"/>
          </a:xfrm>
          <a:prstGeom prst="rect">
            <a:avLst/>
          </a:prstGeom>
          <a:noFill/>
          <a:ln/>
        </p:spPr>
        <p:txBody>
          <a:bodyPr wrap="square" rtlCol="0"/>
          <a:lstStyle/>
          <a:p>
            <a:pPr indent="0" marL="0">
              <a:buNone/>
            </a:pPr>
            <a:r>
              <a:rPr lang="en-US" dirty="0"/>
              <a:t>Outcomes and future scope</a:t>
            </a:r>
            <a:endParaRPr lang="en-US" dirty="0"/>
          </a:p>
        </p:txBody>
      </p:sp>
      <p:sp>
        <p:nvSpPr>
          <p:cNvPr id="4" name="card"/>
          <p:cNvSpPr/>
          <p:nvPr/>
        </p:nvSpPr>
        <p:spPr>
          <a:xfrm>
            <a:off x="548640" y="1371600"/>
            <a:ext cx="5486400" cy="4754880"/>
          </a:xfrm>
          <a:prstGeom prst="roundRect">
            <a:avLst>
              <a:gd name="adj" fmla="val 1923"/>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Text 2"/>
          <p:cNvSpPr txBox="1"/>
          <p:nvPr/>
        </p:nvSpPr>
        <p:spPr>
          <a:xfrm>
            <a:off x="822960" y="1508760"/>
            <a:ext cx="4937760" cy="411480"/>
          </a:xfrm>
          <a:prstGeom prst="rect">
            <a:avLst/>
          </a:prstGeom>
          <a:noFill/>
          <a:ln/>
        </p:spPr>
        <p:txBody>
          <a:bodyPr wrap="square" lIns="0" tIns="0" rIns="0" bIns="0" rtlCol="0" anchor="ctr"/>
          <a:lstStyle/>
          <a:p>
            <a:pPr indent="0" marL="0">
              <a:buNone/>
            </a:pPr>
            <a:r>
              <a:rPr lang="en-US" sz="2200" b="1" dirty="0">
                <a:solidFill>
                  <a:srgbClr val="3DDC97"/>
                </a:solidFill>
                <a:latin typeface="Calibri" pitchFamily="34" charset="0"/>
                <a:ea typeface="Calibri" pitchFamily="34" charset="-122"/>
                <a:cs typeface="Calibri" pitchFamily="34" charset="-120"/>
              </a:rPr>
              <a:t>Delivered</a:t>
            </a:r>
            <a:endParaRPr lang="en-US" sz="2200" dirty="0"/>
          </a:p>
        </p:txBody>
      </p:sp>
      <p:sp>
        <p:nvSpPr>
          <p:cNvPr id="6" name="Text 3"/>
          <p:cNvSpPr txBox="1"/>
          <p:nvPr/>
        </p:nvSpPr>
        <p:spPr>
          <a:xfrm>
            <a:off x="822960" y="2103120"/>
            <a:ext cx="4937760" cy="3931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Centralised MongoDB with 3.6 M records</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Database-driven interactive risk map and heatmap</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Anomaly detection and risk scoring in aggregation pipelines</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Hourly, daily and monthly trends</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KPI dashboard, alerts and stored reports</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Pipeline Lab showing every query</a:t>
            </a:r>
            <a:endParaRPr lang="en-US" sz="1500" dirty="0"/>
          </a:p>
        </p:txBody>
      </p:sp>
      <p:sp>
        <p:nvSpPr>
          <p:cNvPr id="7" name="card"/>
          <p:cNvSpPr/>
          <p:nvPr/>
        </p:nvSpPr>
        <p:spPr>
          <a:xfrm>
            <a:off x="6217920" y="1371600"/>
            <a:ext cx="5394960" cy="4754880"/>
          </a:xfrm>
          <a:prstGeom prst="roundRect">
            <a:avLst>
              <a:gd name="adj" fmla="val 1923"/>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8" name="Text 5"/>
          <p:cNvSpPr txBox="1"/>
          <p:nvPr/>
        </p:nvSpPr>
        <p:spPr>
          <a:xfrm>
            <a:off x="6492240" y="1508760"/>
            <a:ext cx="4846320" cy="411480"/>
          </a:xfrm>
          <a:prstGeom prst="rect">
            <a:avLst/>
          </a:prstGeom>
          <a:noFill/>
          <a:ln/>
        </p:spPr>
        <p:txBody>
          <a:bodyPr wrap="square" lIns="0" tIns="0" rIns="0" bIns="0" rtlCol="0" anchor="ctr"/>
          <a:lstStyle/>
          <a:p>
            <a:pPr indent="0" marL="0">
              <a:buNone/>
            </a:pPr>
            <a:r>
              <a:rPr lang="en-US" sz="2200" b="1" dirty="0">
                <a:solidFill>
                  <a:srgbClr val="3CC8FF"/>
                </a:solidFill>
                <a:latin typeface="Calibri" pitchFamily="34" charset="0"/>
                <a:ea typeface="Calibri" pitchFamily="34" charset="-122"/>
                <a:cs typeface="Calibri" pitchFamily="34" charset="-120"/>
              </a:rPr>
              <a:t>Future scope</a:t>
            </a:r>
            <a:endParaRPr lang="en-US" sz="2200" dirty="0"/>
          </a:p>
        </p:txBody>
      </p:sp>
      <p:sp>
        <p:nvSpPr>
          <p:cNvPr id="9" name="Text 6"/>
          <p:cNvSpPr txBox="1"/>
          <p:nvPr/>
        </p:nvSpPr>
        <p:spPr>
          <a:xfrm>
            <a:off x="6492240" y="2103120"/>
            <a:ext cx="4846320" cy="3931920"/>
          </a:xfrm>
          <a:prstGeom prst="rect">
            <a:avLst/>
          </a:prstGeom>
          <a:noFill/>
          <a:ln/>
        </p:spPr>
        <p:txBody>
          <a:bodyPr wrap="square" lIns="0" tIns="0" rIns="0" bIns="0" rtlCol="0" anchor="t"/>
          <a:lstStyle/>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Real IoT and satellite feeds replacing the simulator</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Predictive flood forecasting with ML</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SMS and push alerting to authorities</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Sharded MongoDB cluster for national scale</a:t>
            </a:r>
            <a:endParaRPr lang="en-US" sz="1500" dirty="0"/>
          </a:p>
          <a:p>
            <a:pPr marL="228600" indent="-228600">
              <a:spcAft>
                <a:spcPts val="1000"/>
              </a:spcAft>
              <a:buSzPct val="100000"/>
              <a:buChar char="•"/>
            </a:pPr>
            <a:r>
              <a:rPr lang="en-US" sz="1500" dirty="0">
                <a:solidFill>
                  <a:srgbClr val="E8EEFB"/>
                </a:solidFill>
                <a:latin typeface="Calibri" pitchFamily="34" charset="0"/>
                <a:ea typeface="Calibri" pitchFamily="34" charset="-122"/>
                <a:cs typeface="Calibri" pitchFamily="34" charset="-120"/>
              </a:rPr>
              <a:t>Integration with emergency-response systems</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8DA0C2"/>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640080" y="1097280"/>
            <a:ext cx="10972800" cy="1097280"/>
          </a:xfrm>
          <a:prstGeom prst="rect">
            <a:avLst/>
          </a:prstGeom>
          <a:noFill/>
          <a:ln/>
        </p:spPr>
        <p:txBody>
          <a:bodyPr wrap="square" lIns="0" tIns="0" rIns="0" bIns="0" rtlCol="0" anchor="ctr"/>
          <a:lstStyle/>
          <a:p>
            <a:pPr indent="0" marL="0">
              <a:buNone/>
            </a:pPr>
            <a:r>
              <a:rPr lang="en-US" sz="6000" b="1" dirty="0">
                <a:solidFill>
                  <a:srgbClr val="E8EEFB"/>
                </a:solidFill>
                <a:latin typeface="Calibri" pitchFamily="34" charset="0"/>
                <a:ea typeface="Calibri" pitchFamily="34" charset="-122"/>
                <a:cs typeface="Calibri" pitchFamily="34" charset="-120"/>
              </a:rPr>
              <a:t>Thank you</a:t>
            </a:r>
            <a:endParaRPr lang="en-US" sz="6000" dirty="0"/>
          </a:p>
        </p:txBody>
      </p:sp>
      <p:sp>
        <p:nvSpPr>
          <p:cNvPr id="3" name="Text 1"/>
          <p:cNvSpPr txBox="1"/>
          <p:nvPr/>
        </p:nvSpPr>
        <p:spPr>
          <a:xfrm>
            <a:off x="640080" y="2194560"/>
            <a:ext cx="10972800" cy="731520"/>
          </a:xfrm>
          <a:prstGeom prst="rect">
            <a:avLst/>
          </a:prstGeom>
          <a:noFill/>
          <a:ln/>
        </p:spPr>
        <p:txBody>
          <a:bodyPr wrap="square" lIns="0" tIns="0" rIns="0" bIns="0" rtlCol="0" anchor="ctr"/>
          <a:lstStyle/>
          <a:p>
            <a:pPr indent="0" marL="0">
              <a:buNone/>
            </a:pPr>
            <a:r>
              <a:rPr lang="en-US" sz="3000" dirty="0">
                <a:solidFill>
                  <a:srgbClr val="3CC8FF"/>
                </a:solidFill>
                <a:latin typeface="Calibri" pitchFamily="34" charset="0"/>
                <a:ea typeface="Calibri" pitchFamily="34" charset="-122"/>
                <a:cs typeface="Calibri" pitchFamily="34" charset="-120"/>
              </a:rPr>
              <a:t>Questions?</a:t>
            </a:r>
            <a:endParaRPr lang="en-US" sz="3000" dirty="0"/>
          </a:p>
        </p:txBody>
      </p:sp>
      <p:sp>
        <p:nvSpPr>
          <p:cNvPr id="4" name="card"/>
          <p:cNvSpPr/>
          <p:nvPr/>
        </p:nvSpPr>
        <p:spPr>
          <a:xfrm>
            <a:off x="640080" y="3474720"/>
            <a:ext cx="7498080" cy="1554480"/>
          </a:xfrm>
          <a:prstGeom prst="roundRect">
            <a:avLst>
              <a:gd name="adj" fmla="val 5882"/>
            </a:avLst>
          </a:prstGeom>
          <a:solidFill>
            <a:srgbClr val="111B2F"/>
          </a:solidFill>
          <a:ln w="9525">
            <a:solidFill>
              <a:srgbClr val="22314F"/>
            </a:solidFill>
            <a:prstDash val="solid"/>
          </a:ln>
          <a:effectLst>
            <a:outerShdw sx="100000" sy="100000" kx="0" ky="0" algn="bl" rotWithShape="0" blurRad="152400" dist="38100" dir="5400000">
              <a:srgbClr val="000000">
                <a:alpha val="35000"/>
              </a:srgbClr>
            </a:outerShdw>
          </a:effectLst>
        </p:spPr>
      </p:sp>
      <p:sp>
        <p:nvSpPr>
          <p:cNvPr id="5" name="Text 3"/>
          <p:cNvSpPr txBox="1"/>
          <p:nvPr/>
        </p:nvSpPr>
        <p:spPr>
          <a:xfrm>
            <a:off x="914400" y="3611880"/>
            <a:ext cx="6949440" cy="365760"/>
          </a:xfrm>
          <a:prstGeom prst="rect">
            <a:avLst/>
          </a:prstGeom>
          <a:noFill/>
          <a:ln/>
        </p:spPr>
        <p:txBody>
          <a:bodyPr wrap="square" lIns="0" tIns="0" rIns="0" bIns="0" rtlCol="0" anchor="ctr"/>
          <a:lstStyle/>
          <a:p>
            <a:pPr indent="0" marL="0">
              <a:buNone/>
            </a:pPr>
            <a:r>
              <a:rPr lang="en-US" sz="1600" dirty="0">
                <a:solidFill>
                  <a:srgbClr val="8DA0C2"/>
                </a:solidFill>
                <a:latin typeface="Calibri" pitchFamily="34" charset="0"/>
                <a:ea typeface="Calibri" pitchFamily="34" charset="-122"/>
                <a:cs typeface="Calibri" pitchFamily="34" charset="-120"/>
              </a:rPr>
              <a:t>Try the live system</a:t>
            </a:r>
            <a:endParaRPr lang="en-US" sz="1600" dirty="0"/>
          </a:p>
        </p:txBody>
      </p:sp>
      <p:sp>
        <p:nvSpPr>
          <p:cNvPr id="6" name="Text 4">
            <a:hlinkClick r:id="rId1" tooltip=""/>
          </p:cNvPr>
          <p:cNvSpPr txBox="1"/>
          <p:nvPr/>
        </p:nvSpPr>
        <p:spPr>
          <a:xfrm>
            <a:off x="914400" y="4023360"/>
            <a:ext cx="6949440" cy="548640"/>
          </a:xfrm>
          <a:prstGeom prst="rect">
            <a:avLst/>
          </a:prstGeom>
          <a:noFill/>
          <a:ln/>
        </p:spPr>
        <p:txBody>
          <a:bodyPr wrap="square" lIns="0" tIns="0" rIns="0" bIns="0" rtlCol="0" anchor="ctr"/>
          <a:lstStyle/>
          <a:p>
            <a:pPr indent="0" marL="0">
              <a:buNone/>
            </a:pPr>
            <a:r>
              <a:rPr lang="en-US" sz="2400" b="1" u="sng" dirty="0">
                <a:solidFill>
                  <a:srgbClr val="3CC8FF"/>
                </a:solidFill>
                <a:latin typeface="Calibri" pitchFamily="34" charset="0"/>
                <a:ea typeface="Calibri" pitchFamily="34" charset="-122"/>
                <a:cs typeface="Calibri" pitchFamily="34" charset="-120"/>
                <a:hlinkClick r:id="rId1" invalidUrl="" action="" tgtFrame="" tooltip="" history="1" highlightClick="0" endSnd="0">
                  <a:extLst>
                    <a:ext uri="{A12FA001-AC4F-418D-AE19-62706E023703}">
                      <ahyp:hlinkClr xmlns:ahyp="http://schemas.microsoft.com/office/drawing/2018/hyperlinkcolor" val="tx"/>
                    </a:ext>
                  </a:extLst>
                </a:hlinkClick>
              </a:rPr>
              <a:t>https://windows.tailb18f6e.ts.net:8443</a:t>
            </a:r>
            <a:endParaRPr lang="en-US" sz="2400" dirty="0"/>
          </a:p>
        </p:txBody>
      </p:sp>
      <p:sp>
        <p:nvSpPr>
          <p:cNvPr id="7" name="Text 5"/>
          <p:cNvSpPr txBox="1"/>
          <p:nvPr/>
        </p:nvSpPr>
        <p:spPr>
          <a:xfrm>
            <a:off x="914400" y="4572000"/>
            <a:ext cx="6949440" cy="320040"/>
          </a:xfrm>
          <a:prstGeom prst="rect">
            <a:avLst/>
          </a:prstGeom>
          <a:noFill/>
          <a:ln/>
        </p:spPr>
        <p:txBody>
          <a:bodyPr wrap="square" lIns="0" tIns="0" rIns="0" bIns="0" rtlCol="0" anchor="ctr"/>
          <a:lstStyle/>
          <a:p>
            <a:pPr indent="0" marL="0">
              <a:buNone/>
            </a:pPr>
            <a:r>
              <a:rPr lang="en-US" sz="1400" dirty="0">
                <a:solidFill>
                  <a:srgbClr val="8DA0C2"/>
                </a:solidFill>
                <a:latin typeface="Calibri" pitchFamily="34" charset="0"/>
                <a:ea typeface="Calibri" pitchFamily="34" charset="-122"/>
                <a:cs typeface="Calibri" pitchFamily="34" charset="-120"/>
              </a:rPr>
              <a:t>Served from the team laptop via Tailscale Funnel</a:t>
            </a:r>
            <a:endParaRPr lang="en-US" sz="1400" dirty="0"/>
          </a:p>
        </p:txBody>
      </p:sp>
      <p:sp>
        <p:nvSpPr>
          <p:cNvPr id="8" name="Text 6"/>
          <p:cNvSpPr txBox="1"/>
          <p:nvPr/>
        </p:nvSpPr>
        <p:spPr>
          <a:xfrm>
            <a:off x="640080" y="6035040"/>
            <a:ext cx="10972800" cy="365760"/>
          </a:xfrm>
          <a:prstGeom prst="rect">
            <a:avLst/>
          </a:prstGeom>
          <a:noFill/>
          <a:ln/>
        </p:spPr>
        <p:txBody>
          <a:bodyPr wrap="square" lIns="0" tIns="0" rIns="0" bIns="0" rtlCol="0" anchor="ctr"/>
          <a:lstStyle/>
          <a:p>
            <a:pPr indent="0" marL="0">
              <a:buNone/>
            </a:pPr>
            <a:r>
              <a:rPr lang="en-US" sz="1400" dirty="0">
                <a:solidFill>
                  <a:srgbClr val="8DA0C2"/>
                </a:solidFill>
                <a:latin typeface="Nirmala UI" pitchFamily="34" charset="0"/>
                <a:ea typeface="Nirmala UI" pitchFamily="34" charset="-122"/>
                <a:cs typeface="Nirmala UI" pitchFamily="34" charset="-120"/>
              </a:rPr>
              <a:t>DRISHTI · दृष्टि  —  Vichitra Attri · Vidhyashree S · Vidya Bai K · Vikram K</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Bangalore Institute of Technology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DRISHTI - Disaster &amp; Emergency Intelligence System</dc:title>
  <dc:subject>PptxGenJS Presentation</dc:subject>
  <dc:creator>Vichitra Attri, Vidhyashree S, Vidya Bai K, Vikram K</dc:creator>
  <cp:lastModifiedBy>Vichitra Attri, Vidhyashree S, Vidya Bai K, Vikram K</cp:lastModifiedBy>
  <cp:revision>1</cp:revision>
  <dcterms:created xsi:type="dcterms:W3CDTF">2026-10-12T17:26:28Z</dcterms:created>
  <dcterms:modified xsi:type="dcterms:W3CDTF">2026-10-12T17:26:28Z</dcterms:modified>
</cp:coreProperties>
</file>